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5143500" cy="9144000"/>
  <p:embeddedFontLst>
    <p:embeddedFont>
      <p:font typeface="Arial Black"/>
      <p:regular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D4AC65A-F673-44A1-84F2-F6B31DA8BB3A}">
  <a:tblStyle styleId="{7D4AC65A-F673-44A1-84F2-F6B31DA8BB3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font" Target="fonts/ArialBlack-regular.fntdata"/><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 name="Google Shape;2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g3d27bbdd237_1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 name="Google Shape;34;g3d27bbdd237_1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 name="Google Shape;35;g3d27bbdd237_1_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g3d27bbdd237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g3d27bbdd237_3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g3d27bbdd237_3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d27bbdd237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0" name="Google Shape;70;g3d27bbdd237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g3d27bbdd237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d27bbdd237_1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d27bbdd237_1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g3d27bbdd237_1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d27bbdd237_4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g3d27bbdd237_4_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g3d27bbdd237_4_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d27bbdd237_4_101:notes"/>
          <p:cNvSpPr/>
          <p:nvPr>
            <p:ph idx="2" type="sldImg"/>
          </p:nvPr>
        </p:nvSpPr>
        <p:spPr>
          <a:xfrm>
            <a:off x="51435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g3d27bbdd237_4_101:notes"/>
          <p:cNvSpPr txBox="1"/>
          <p:nvPr>
            <p:ph idx="1" type="body"/>
          </p:nvPr>
        </p:nvSpPr>
        <p:spPr>
          <a:xfrm>
            <a:off x="514350" y="3300413"/>
            <a:ext cx="4114800" cy="27006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None/>
            </a:pPr>
            <a:r>
              <a:t/>
            </a:r>
            <a:endParaRPr/>
          </a:p>
        </p:txBody>
      </p:sp>
      <p:sp>
        <p:nvSpPr>
          <p:cNvPr id="192" name="Google Shape;192;g3d27bbdd237_4_101:notes"/>
          <p:cNvSpPr txBox="1"/>
          <p:nvPr>
            <p:ph idx="12" type="sldNum"/>
          </p:nvPr>
        </p:nvSpPr>
        <p:spPr>
          <a:xfrm>
            <a:off x="2913460" y="6513910"/>
            <a:ext cx="2229000" cy="344100"/>
          </a:xfrm>
          <a:prstGeom prst="rect">
            <a:avLst/>
          </a:prstGeom>
          <a:noFill/>
          <a:ln>
            <a:noFill/>
          </a:ln>
        </p:spPr>
        <p:txBody>
          <a:bodyPr anchorCtr="0" anchor="b" bIns="34275" lIns="68575" spcFirstLastPara="1" rIns="68575" wrap="square" tIns="342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d27bbdd237_4_139:notes"/>
          <p:cNvSpPr/>
          <p:nvPr>
            <p:ph idx="2" type="sldImg"/>
          </p:nvPr>
        </p:nvSpPr>
        <p:spPr>
          <a:xfrm>
            <a:off x="51435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g3d27bbdd237_4_139:notes"/>
          <p:cNvSpPr txBox="1"/>
          <p:nvPr>
            <p:ph idx="1" type="body"/>
          </p:nvPr>
        </p:nvSpPr>
        <p:spPr>
          <a:xfrm>
            <a:off x="514350" y="3300413"/>
            <a:ext cx="4114800" cy="27006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None/>
            </a:pPr>
            <a:r>
              <a:t/>
            </a:r>
            <a:endParaRPr/>
          </a:p>
        </p:txBody>
      </p:sp>
      <p:sp>
        <p:nvSpPr>
          <p:cNvPr id="231" name="Google Shape;231;g3d27bbdd237_4_139:notes"/>
          <p:cNvSpPr txBox="1"/>
          <p:nvPr>
            <p:ph idx="12" type="sldNum"/>
          </p:nvPr>
        </p:nvSpPr>
        <p:spPr>
          <a:xfrm>
            <a:off x="2913460" y="6513910"/>
            <a:ext cx="2229000" cy="344100"/>
          </a:xfrm>
          <a:prstGeom prst="rect">
            <a:avLst/>
          </a:prstGeom>
          <a:noFill/>
          <a:ln>
            <a:noFill/>
          </a:ln>
        </p:spPr>
        <p:txBody>
          <a:bodyPr anchorCtr="0" anchor="b" bIns="34275" lIns="68575" spcFirstLastPara="1" rIns="68575" wrap="square" tIns="342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d27bbdd237_4_177:notes"/>
          <p:cNvSpPr/>
          <p:nvPr>
            <p:ph idx="2" type="sldImg"/>
          </p:nvPr>
        </p:nvSpPr>
        <p:spPr>
          <a:xfrm>
            <a:off x="51435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g3d27bbdd237_4_177:notes"/>
          <p:cNvSpPr txBox="1"/>
          <p:nvPr>
            <p:ph idx="1" type="body"/>
          </p:nvPr>
        </p:nvSpPr>
        <p:spPr>
          <a:xfrm>
            <a:off x="514350" y="3300413"/>
            <a:ext cx="4114800" cy="27006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None/>
            </a:pPr>
            <a:r>
              <a:t/>
            </a:r>
            <a:endParaRPr/>
          </a:p>
        </p:txBody>
      </p:sp>
      <p:sp>
        <p:nvSpPr>
          <p:cNvPr id="270" name="Google Shape;270;g3d27bbdd237_4_177:notes"/>
          <p:cNvSpPr txBox="1"/>
          <p:nvPr>
            <p:ph idx="12" type="sldNum"/>
          </p:nvPr>
        </p:nvSpPr>
        <p:spPr>
          <a:xfrm>
            <a:off x="2913460" y="6513910"/>
            <a:ext cx="2229000" cy="344100"/>
          </a:xfrm>
          <a:prstGeom prst="rect">
            <a:avLst/>
          </a:prstGeom>
          <a:noFill/>
          <a:ln>
            <a:noFill/>
          </a:ln>
        </p:spPr>
        <p:txBody>
          <a:bodyPr anchorCtr="0" anchor="b" bIns="34275" lIns="68575" spcFirstLastPara="1" rIns="68575" wrap="square" tIns="342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d27bbdd237_4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g3d27bbdd237_4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g3d27bbdd237_4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d27bbdd237_4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g3d27bbdd237_4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g3d27bbdd237_4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d27bbdd237_7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g3d27bbdd237_7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g3d27bbdd237_7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d27bbdd237_7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g3d27bbdd237_7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g3d27bbdd237_7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6.png"/><Relationship Id="rId7"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5.png"/><Relationship Id="rId5"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 name="Shape 15"/>
        <p:cNvGrpSpPr/>
        <p:nvPr/>
      </p:nvGrpSpPr>
      <p:grpSpPr>
        <a:xfrm>
          <a:off x="0" y="0"/>
          <a:ext cx="0" cy="0"/>
          <a:chOff x="0" y="0"/>
          <a:chExt cx="0" cy="0"/>
        </a:xfrm>
      </p:grpSpPr>
      <p:sp>
        <p:nvSpPr>
          <p:cNvPr id="16" name="Google Shape;16;p3"/>
          <p:cNvSpPr/>
          <p:nvPr/>
        </p:nvSpPr>
        <p:spPr>
          <a:xfrm>
            <a:off x="0" y="0"/>
            <a:ext cx="9144000" cy="54864"/>
          </a:xfrm>
          <a:prstGeom prst="rect">
            <a:avLst/>
          </a:prstGeom>
          <a:solidFill>
            <a:srgbClr val="E85D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1468050" y="1715225"/>
            <a:ext cx="6207900" cy="548700"/>
          </a:xfrm>
          <a:prstGeom prst="rect">
            <a:avLst/>
          </a:prstGeom>
          <a:noFill/>
          <a:ln>
            <a:noFill/>
          </a:ln>
          <a:effectLst>
            <a:outerShdw blurRad="57150" rotWithShape="0" algn="bl" dir="5400000" dist="19050">
              <a:srgbClr val="000000">
                <a:alpha val="50000"/>
              </a:srgbClr>
            </a:outerShdw>
          </a:effectLst>
        </p:spPr>
        <p:txBody>
          <a:bodyPr anchorCtr="0" anchor="ctr" bIns="0" lIns="0" spcFirstLastPara="1" rIns="0" wrap="square" tIns="0">
            <a:noAutofit/>
          </a:bodyPr>
          <a:lstStyle/>
          <a:p>
            <a:pPr indent="0" lvl="0" marL="0" rtl="0" algn="l">
              <a:spcBef>
                <a:spcPts val="0"/>
              </a:spcBef>
              <a:spcAft>
                <a:spcPts val="0"/>
              </a:spcAft>
              <a:buClr>
                <a:srgbClr val="64748B"/>
              </a:buClr>
              <a:buSzPts val="1800"/>
              <a:buFont typeface="Calibri"/>
              <a:buNone/>
            </a:pPr>
            <a:r>
              <a:rPr b="1" lang="en-US" sz="5000" u="sng">
                <a:solidFill>
                  <a:srgbClr val="FFFFFF"/>
                </a:solidFill>
                <a:latin typeface="Calibri"/>
                <a:ea typeface="Calibri"/>
                <a:cs typeface="Calibri"/>
                <a:sym typeface="Calibri"/>
              </a:rPr>
              <a:t>Team: Game of Drones</a:t>
            </a:r>
            <a:endParaRPr b="1" sz="5000" u="sng">
              <a:solidFill>
                <a:srgbClr val="FFFFFF"/>
              </a:solidFill>
              <a:latin typeface="Calibri"/>
              <a:ea typeface="Calibri"/>
              <a:cs typeface="Calibri"/>
              <a:sym typeface="Calibri"/>
            </a:endParaRPr>
          </a:p>
          <a:p>
            <a:pPr indent="0" lvl="0" marL="0" marR="0" rtl="0" algn="l">
              <a:spcBef>
                <a:spcPts val="0"/>
              </a:spcBef>
              <a:spcAft>
                <a:spcPts val="0"/>
              </a:spcAft>
              <a:buClr>
                <a:srgbClr val="F4A261"/>
              </a:buClr>
              <a:buSzPts val="2400"/>
              <a:buFont typeface="Trebuchet MS"/>
              <a:buNone/>
            </a:pPr>
            <a:r>
              <a:t/>
            </a:r>
            <a:endParaRPr sz="2400">
              <a:solidFill>
                <a:schemeClr val="dk1"/>
              </a:solidFill>
              <a:latin typeface="Calibri"/>
              <a:ea typeface="Calibri"/>
              <a:cs typeface="Calibri"/>
              <a:sym typeface="Calibri"/>
            </a:endParaRPr>
          </a:p>
        </p:txBody>
      </p:sp>
      <p:sp>
        <p:nvSpPr>
          <p:cNvPr id="18" name="Google Shape;18;p3"/>
          <p:cNvSpPr/>
          <p:nvPr/>
        </p:nvSpPr>
        <p:spPr>
          <a:xfrm>
            <a:off x="731520" y="3108940"/>
            <a:ext cx="2286000" cy="36600"/>
          </a:xfrm>
          <a:prstGeom prst="rect">
            <a:avLst/>
          </a:prstGeom>
          <a:solidFill>
            <a:srgbClr val="E85D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731526" y="3108950"/>
            <a:ext cx="3654000" cy="822900"/>
          </a:xfrm>
          <a:prstGeom prst="rect">
            <a:avLst/>
          </a:prstGeom>
          <a:noFill/>
          <a:ln>
            <a:noFill/>
          </a:ln>
          <a:effectLst>
            <a:reflection blurRad="0" dir="5400000" dist="38100" endA="0" endPos="30000" fadeDir="5400012" kx="0" rotWithShape="0" algn="bl" stPos="0" sy="-100000" ky="0"/>
          </a:effectLst>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US" sz="2000" u="sng">
                <a:solidFill>
                  <a:srgbClr val="FFFFFF"/>
                </a:solidFill>
                <a:latin typeface="Calibri"/>
                <a:ea typeface="Calibri"/>
                <a:cs typeface="Calibri"/>
                <a:sym typeface="Calibri"/>
              </a:rPr>
              <a:t>Galgallo, Adithya, Santosh, Nima</a:t>
            </a:r>
            <a:endParaRPr b="1" sz="2000" u="sng">
              <a:solidFill>
                <a:srgbClr val="FFFFFF"/>
              </a:solidFill>
              <a:latin typeface="Calibri"/>
              <a:ea typeface="Calibri"/>
              <a:cs typeface="Calibri"/>
              <a:sym typeface="Calibri"/>
            </a:endParaRPr>
          </a:p>
          <a:p>
            <a:pPr indent="0" lvl="0" marL="0" marR="0" rtl="0" algn="l">
              <a:spcBef>
                <a:spcPts val="0"/>
              </a:spcBef>
              <a:spcAft>
                <a:spcPts val="0"/>
              </a:spcAft>
              <a:buClr>
                <a:srgbClr val="64748B"/>
              </a:buClr>
              <a:buSzPts val="1100"/>
              <a:buFont typeface="Calibri"/>
              <a:buNone/>
            </a:pPr>
            <a:r>
              <a:t/>
            </a:r>
            <a:endParaRPr>
              <a:solidFill>
                <a:schemeClr val="dk1"/>
              </a:solidFill>
              <a:latin typeface="Calibri"/>
              <a:ea typeface="Calibri"/>
              <a:cs typeface="Calibri"/>
              <a:sym typeface="Calibri"/>
            </a:endParaRPr>
          </a:p>
        </p:txBody>
      </p:sp>
      <p:sp>
        <p:nvSpPr>
          <p:cNvPr id="20" name="Google Shape;20;p3"/>
          <p:cNvSpPr/>
          <p:nvPr/>
        </p:nvSpPr>
        <p:spPr>
          <a:xfrm>
            <a:off x="0" y="4869180"/>
            <a:ext cx="9144000" cy="274320"/>
          </a:xfrm>
          <a:prstGeom prst="rect">
            <a:avLst/>
          </a:prstGeom>
          <a:solidFill>
            <a:srgbClr val="E85D26">
              <a:alpha val="7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B"/>
        </a:solidFill>
      </p:bgPr>
    </p:bg>
    <p:spTree>
      <p:nvGrpSpPr>
        <p:cNvPr id="25" name="Shape 25"/>
        <p:cNvGrpSpPr/>
        <p:nvPr/>
      </p:nvGrpSpPr>
      <p:grpSpPr>
        <a:xfrm>
          <a:off x="0" y="0"/>
          <a:ext cx="0" cy="0"/>
          <a:chOff x="0" y="0"/>
          <a:chExt cx="0" cy="0"/>
        </a:xfrm>
      </p:grpSpPr>
      <p:sp>
        <p:nvSpPr>
          <p:cNvPr id="26" name="Google Shape;26;p4"/>
          <p:cNvSpPr/>
          <p:nvPr/>
        </p:nvSpPr>
        <p:spPr>
          <a:xfrm>
            <a:off x="0" y="0"/>
            <a:ext cx="9144000" cy="822960"/>
          </a:xfrm>
          <a:prstGeom prst="rect">
            <a:avLst/>
          </a:prstGeom>
          <a:solidFill>
            <a:srgbClr val="0F20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a:off x="731520" y="91440"/>
            <a:ext cx="76809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Trebuchet MS"/>
              <a:buNone/>
            </a:pPr>
            <a:r>
              <a:rPr b="1" i="0" lang="en-US" sz="2600" u="none" cap="none" strike="noStrike">
                <a:solidFill>
                  <a:srgbClr val="FFFFFF"/>
                </a:solidFill>
                <a:latin typeface="Trebuchet MS"/>
                <a:ea typeface="Trebuchet MS"/>
                <a:cs typeface="Trebuchet MS"/>
                <a:sym typeface="Trebuchet MS"/>
              </a:rPr>
              <a:t>ThermalGen: Model Overview</a:t>
            </a:r>
            <a:endParaRPr b="0" i="0" sz="2600" u="none" cap="none" strike="noStrike">
              <a:solidFill>
                <a:schemeClr val="dk1"/>
              </a:solidFill>
              <a:latin typeface="Calibri"/>
              <a:ea typeface="Calibri"/>
              <a:cs typeface="Calibri"/>
              <a:sym typeface="Calibri"/>
            </a:endParaRPr>
          </a:p>
        </p:txBody>
      </p:sp>
      <p:sp>
        <p:nvSpPr>
          <p:cNvPr id="28" name="Google Shape;28;p4"/>
          <p:cNvSpPr/>
          <p:nvPr/>
        </p:nvSpPr>
        <p:spPr>
          <a:xfrm>
            <a:off x="548640" y="1097280"/>
            <a:ext cx="4023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D26"/>
              </a:buClr>
              <a:buSzPts val="2000"/>
              <a:buFont typeface="Trebuchet MS"/>
              <a:buNone/>
            </a:pPr>
            <a:r>
              <a:rPr b="1" i="0" lang="en-US" sz="2000" u="none" cap="none" strike="noStrike">
                <a:solidFill>
                  <a:srgbClr val="E85D26"/>
                </a:solidFill>
                <a:latin typeface="Trebuchet MS"/>
                <a:ea typeface="Trebuchet MS"/>
                <a:cs typeface="Trebuchet MS"/>
                <a:sym typeface="Trebuchet MS"/>
              </a:rPr>
              <a:t>Architecture</a:t>
            </a:r>
            <a:endParaRPr b="0" i="0" sz="2000" u="none" cap="none" strike="noStrike">
              <a:solidFill>
                <a:schemeClr val="dk1"/>
              </a:solidFill>
              <a:latin typeface="Calibri"/>
              <a:ea typeface="Calibri"/>
              <a:cs typeface="Calibri"/>
              <a:sym typeface="Calibri"/>
            </a:endParaRPr>
          </a:p>
        </p:txBody>
      </p:sp>
      <p:sp>
        <p:nvSpPr>
          <p:cNvPr id="29" name="Google Shape;29;p4"/>
          <p:cNvSpPr/>
          <p:nvPr/>
        </p:nvSpPr>
        <p:spPr>
          <a:xfrm>
            <a:off x="548649" y="1554475"/>
            <a:ext cx="3695100" cy="29262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E293B"/>
              </a:buClr>
              <a:buSzPts val="1200"/>
              <a:buFont typeface="Calibri"/>
              <a:buChar char="•"/>
            </a:pPr>
            <a:r>
              <a:rPr b="0" i="0" lang="en-US" sz="1200" u="none" cap="none" strike="noStrike">
                <a:solidFill>
                  <a:srgbClr val="1E293B"/>
                </a:solidFill>
                <a:latin typeface="Calibri"/>
                <a:ea typeface="Calibri"/>
                <a:cs typeface="Calibri"/>
                <a:sym typeface="Calibri"/>
              </a:rPr>
              <a:t>Flow-based generative model using SiT (Scalable Interpolant Transformers)</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E293B"/>
              </a:buClr>
              <a:buSzPts val="1200"/>
              <a:buFont typeface="Calibri"/>
              <a:buChar char="•"/>
            </a:pPr>
            <a:r>
              <a:rPr b="0" i="0" lang="en-US" sz="1200" u="none" cap="none" strike="noStrike">
                <a:solidFill>
                  <a:srgbClr val="1E293B"/>
                </a:solidFill>
                <a:latin typeface="Calibri"/>
                <a:ea typeface="Calibri"/>
                <a:cs typeface="Calibri"/>
                <a:sym typeface="Calibri"/>
              </a:rPr>
              <a:t>RGB image conditioning via cross-attention mechanism</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E293B"/>
              </a:buClr>
              <a:buSzPts val="1200"/>
              <a:buFont typeface="Calibri"/>
              <a:buChar char="•"/>
            </a:pPr>
            <a:r>
              <a:rPr b="0" i="0" lang="en-US" sz="1200" u="none" cap="none" strike="noStrike">
                <a:solidFill>
                  <a:srgbClr val="1E293B"/>
                </a:solidFill>
                <a:latin typeface="Calibri"/>
                <a:ea typeface="Calibri"/>
                <a:cs typeface="Calibri"/>
                <a:sym typeface="Calibri"/>
              </a:rPr>
              <a:t>Style-disentangled embeddings enable multi-dataset training</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E293B"/>
              </a:buClr>
              <a:buSzPts val="1200"/>
              <a:buFont typeface="Calibri"/>
              <a:buChar char="•"/>
            </a:pPr>
            <a:r>
              <a:rPr b="0" i="0" lang="en-US" sz="1200" u="none" cap="none" strike="noStrike">
                <a:solidFill>
                  <a:srgbClr val="1E293B"/>
                </a:solidFill>
                <a:latin typeface="Calibri"/>
                <a:ea typeface="Calibri"/>
                <a:cs typeface="Calibri"/>
                <a:sym typeface="Calibri"/>
              </a:rPr>
              <a:t>adaLN-Zero conditioning with dataset-specific and unconditional style embeddings</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1E293B"/>
              </a:buClr>
              <a:buSzPts val="1200"/>
              <a:buFont typeface="Calibri"/>
              <a:buChar char="•"/>
            </a:pPr>
            <a:r>
              <a:rPr b="0" i="0" lang="en-US" sz="1200" u="none" cap="none" strike="noStrike">
                <a:solidFill>
                  <a:srgbClr val="1E293B"/>
                </a:solidFill>
                <a:latin typeface="Calibri"/>
                <a:ea typeface="Calibri"/>
                <a:cs typeface="Calibri"/>
                <a:sym typeface="Calibri"/>
              </a:rPr>
              <a:t>ODE sampler for high-fidelity thermal image generation</a:t>
            </a:r>
            <a:endParaRPr b="0" i="0" sz="1200" u="none" cap="none" strike="noStrike">
              <a:solidFill>
                <a:schemeClr val="dk1"/>
              </a:solidFill>
              <a:latin typeface="Calibri"/>
              <a:ea typeface="Calibri"/>
              <a:cs typeface="Calibri"/>
              <a:sym typeface="Calibri"/>
            </a:endParaRPr>
          </a:p>
        </p:txBody>
      </p:sp>
      <p:sp>
        <p:nvSpPr>
          <p:cNvPr id="30" name="Google Shape;30;p4"/>
          <p:cNvSpPr/>
          <p:nvPr/>
        </p:nvSpPr>
        <p:spPr>
          <a:xfrm>
            <a:off x="548640" y="4709160"/>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Source: github.com/arplaboratory/ThermalGen  |  HuggingFace: xjh19972</a:t>
            </a:r>
            <a:endParaRPr b="0" i="0" sz="900" u="none" cap="none" strike="noStrike">
              <a:solidFill>
                <a:schemeClr val="dk1"/>
              </a:solidFill>
              <a:latin typeface="Calibri"/>
              <a:ea typeface="Calibri"/>
              <a:cs typeface="Calibri"/>
              <a:sym typeface="Calibri"/>
            </a:endParaRPr>
          </a:p>
        </p:txBody>
      </p:sp>
      <p:pic>
        <p:nvPicPr>
          <p:cNvPr id="31" name="Google Shape;31;p4"/>
          <p:cNvPicPr preferRelativeResize="0"/>
          <p:nvPr/>
        </p:nvPicPr>
        <p:blipFill>
          <a:blip r:embed="rId3">
            <a:alphaModFix/>
          </a:blip>
          <a:stretch>
            <a:fillRect/>
          </a:stretch>
        </p:blipFill>
        <p:spPr>
          <a:xfrm>
            <a:off x="4892800" y="975360"/>
            <a:ext cx="3172996" cy="35814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B"/>
        </a:solidFill>
      </p:bgPr>
    </p:bg>
    <p:spTree>
      <p:nvGrpSpPr>
        <p:cNvPr id="36" name="Shape 36"/>
        <p:cNvGrpSpPr/>
        <p:nvPr/>
      </p:nvGrpSpPr>
      <p:grpSpPr>
        <a:xfrm>
          <a:off x="0" y="0"/>
          <a:ext cx="0" cy="0"/>
          <a:chOff x="0" y="0"/>
          <a:chExt cx="0" cy="0"/>
        </a:xfrm>
      </p:grpSpPr>
      <p:sp>
        <p:nvSpPr>
          <p:cNvPr id="37" name="Google Shape;37;p5"/>
          <p:cNvSpPr/>
          <p:nvPr/>
        </p:nvSpPr>
        <p:spPr>
          <a:xfrm>
            <a:off x="0" y="0"/>
            <a:ext cx="9144000" cy="822900"/>
          </a:xfrm>
          <a:prstGeom prst="rect">
            <a:avLst/>
          </a:prstGeom>
          <a:solidFill>
            <a:srgbClr val="0F20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a:off x="731520" y="91440"/>
            <a:ext cx="76809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Trebuchet MS"/>
              <a:buNone/>
            </a:pPr>
            <a:r>
              <a:rPr b="1" i="0" lang="en-US" sz="2600" u="none" cap="none" strike="noStrike">
                <a:solidFill>
                  <a:srgbClr val="FFFFFF"/>
                </a:solidFill>
                <a:latin typeface="Trebuchet MS"/>
                <a:ea typeface="Trebuchet MS"/>
                <a:cs typeface="Trebuchet MS"/>
                <a:sym typeface="Trebuchet MS"/>
              </a:rPr>
              <a:t>ThermalGen: Model Overview</a:t>
            </a:r>
            <a:endParaRPr b="0" i="0" sz="2600" u="none" cap="none" strike="noStrike">
              <a:solidFill>
                <a:schemeClr val="dk1"/>
              </a:solidFill>
              <a:latin typeface="Calibri"/>
              <a:ea typeface="Calibri"/>
              <a:cs typeface="Calibri"/>
              <a:sym typeface="Calibri"/>
            </a:endParaRPr>
          </a:p>
        </p:txBody>
      </p:sp>
      <p:sp>
        <p:nvSpPr>
          <p:cNvPr id="39" name="Google Shape;39;p5"/>
          <p:cNvSpPr/>
          <p:nvPr/>
        </p:nvSpPr>
        <p:spPr>
          <a:xfrm>
            <a:off x="548640" y="1303955"/>
            <a:ext cx="40233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D26"/>
              </a:buClr>
              <a:buSzPts val="2000"/>
              <a:buFont typeface="Trebuchet MS"/>
              <a:buNone/>
            </a:pPr>
            <a:r>
              <a:rPr b="1" lang="en-US" sz="2000">
                <a:solidFill>
                  <a:srgbClr val="E85D26"/>
                </a:solidFill>
                <a:latin typeface="Trebuchet MS"/>
                <a:ea typeface="Trebuchet MS"/>
                <a:cs typeface="Trebuchet MS"/>
                <a:sym typeface="Trebuchet MS"/>
              </a:rPr>
              <a:t>How we used the baseline</a:t>
            </a:r>
            <a:endParaRPr b="0" i="0" sz="2000" u="none" cap="none" strike="noStrike">
              <a:solidFill>
                <a:schemeClr val="dk1"/>
              </a:solidFill>
              <a:latin typeface="Calibri"/>
              <a:ea typeface="Calibri"/>
              <a:cs typeface="Calibri"/>
              <a:sym typeface="Calibri"/>
            </a:endParaRPr>
          </a:p>
        </p:txBody>
      </p:sp>
      <p:sp>
        <p:nvSpPr>
          <p:cNvPr id="40" name="Google Shape;40;p5"/>
          <p:cNvSpPr/>
          <p:nvPr/>
        </p:nvSpPr>
        <p:spPr>
          <a:xfrm>
            <a:off x="487400" y="1743350"/>
            <a:ext cx="3939900" cy="221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300">
              <a:solidFill>
                <a:schemeClr val="dk1"/>
              </a:solidFill>
            </a:endParaRPr>
          </a:p>
          <a:p>
            <a:pPr indent="-311150" lvl="0" marL="457200" rtl="0" algn="l">
              <a:spcBef>
                <a:spcPts val="0"/>
              </a:spcBef>
              <a:spcAft>
                <a:spcPts val="0"/>
              </a:spcAft>
              <a:buClr>
                <a:schemeClr val="dk1"/>
              </a:buClr>
              <a:buSzPts val="1300"/>
              <a:buChar char="●"/>
            </a:pPr>
            <a:r>
              <a:rPr lang="en-US" sz="1300">
                <a:solidFill>
                  <a:schemeClr val="dk1"/>
                </a:solidFill>
              </a:rPr>
              <a:t>Load a </a:t>
            </a:r>
            <a:r>
              <a:rPr lang="en-US" sz="1300">
                <a:solidFill>
                  <a:schemeClr val="dk1"/>
                </a:solidFill>
              </a:rPr>
              <a:t>pre trained</a:t>
            </a:r>
            <a:r>
              <a:rPr lang="en-US" sz="1300">
                <a:solidFill>
                  <a:schemeClr val="dk1"/>
                </a:solidFill>
              </a:rPr>
              <a:t> ThermalGen checkpoint.</a:t>
            </a:r>
            <a:endParaRPr sz="1300">
              <a:solidFill>
                <a:schemeClr val="dk1"/>
              </a:solidFill>
            </a:endParaRPr>
          </a:p>
          <a:p>
            <a:pPr indent="-311150" lvl="0" marL="457200" rtl="0" algn="l">
              <a:spcBef>
                <a:spcPts val="0"/>
              </a:spcBef>
              <a:spcAft>
                <a:spcPts val="0"/>
              </a:spcAft>
              <a:buClr>
                <a:schemeClr val="dk1"/>
              </a:buClr>
              <a:buSzPts val="1300"/>
              <a:buChar char="●"/>
            </a:pPr>
            <a:r>
              <a:rPr lang="en-US" sz="1300">
                <a:solidFill>
                  <a:schemeClr val="dk1"/>
                </a:solidFill>
              </a:rPr>
              <a:t>Resize RGB inputs to 256 × 256 and normalize them to [-1, 1].</a:t>
            </a:r>
            <a:endParaRPr sz="1300">
              <a:solidFill>
                <a:schemeClr val="dk1"/>
              </a:solidFill>
            </a:endParaRPr>
          </a:p>
          <a:p>
            <a:pPr indent="-311150" lvl="0" marL="457200" rtl="0" algn="l">
              <a:spcBef>
                <a:spcPts val="0"/>
              </a:spcBef>
              <a:spcAft>
                <a:spcPts val="0"/>
              </a:spcAft>
              <a:buClr>
                <a:schemeClr val="dk1"/>
              </a:buClr>
              <a:buSzPts val="1300"/>
              <a:buChar char="●"/>
            </a:pPr>
            <a:r>
              <a:rPr lang="en-US" sz="1300">
                <a:solidFill>
                  <a:schemeClr val="dk1"/>
                </a:solidFill>
              </a:rPr>
              <a:t>Run inference with a fixed dataset_idx = 1000.</a:t>
            </a:r>
            <a:endParaRPr sz="1300">
              <a:solidFill>
                <a:schemeClr val="dk1"/>
              </a:solidFill>
            </a:endParaRPr>
          </a:p>
          <a:p>
            <a:pPr indent="-311150" lvl="0" marL="457200" rtl="0" algn="l">
              <a:spcBef>
                <a:spcPts val="0"/>
              </a:spcBef>
              <a:spcAft>
                <a:spcPts val="0"/>
              </a:spcAft>
              <a:buClr>
                <a:schemeClr val="dk1"/>
              </a:buClr>
              <a:buSzPts val="1300"/>
              <a:buChar char="●"/>
            </a:pPr>
            <a:r>
              <a:rPr lang="en-US" sz="1300">
                <a:solidFill>
                  <a:schemeClr val="dk1"/>
                </a:solidFill>
              </a:rPr>
              <a:t>Convert predictions back from [-1, 1] to [0, 1].</a:t>
            </a:r>
            <a:endParaRPr sz="1300">
              <a:solidFill>
                <a:schemeClr val="dk1"/>
              </a:solidFill>
            </a:endParaRPr>
          </a:p>
          <a:p>
            <a:pPr indent="-311150" lvl="0" marL="457200" rtl="0" algn="l">
              <a:spcBef>
                <a:spcPts val="0"/>
              </a:spcBef>
              <a:spcAft>
                <a:spcPts val="0"/>
              </a:spcAft>
              <a:buClr>
                <a:schemeClr val="dk1"/>
              </a:buClr>
              <a:buSzPts val="1300"/>
              <a:buChar char="●"/>
            </a:pPr>
            <a:r>
              <a:rPr lang="en-US" sz="1300">
                <a:solidFill>
                  <a:schemeClr val="dk1"/>
                </a:solidFill>
              </a:rPr>
              <a:t>Compare predicted thermal output against the paired thermal ground truth.</a:t>
            </a:r>
            <a:endParaRPr sz="1300">
              <a:solidFill>
                <a:schemeClr val="dk1"/>
              </a:solidFill>
            </a:endParaRPr>
          </a:p>
          <a:p>
            <a:pPr indent="-311150" lvl="0" marL="457200" rtl="0" algn="l">
              <a:spcBef>
                <a:spcPts val="0"/>
              </a:spcBef>
              <a:spcAft>
                <a:spcPts val="0"/>
              </a:spcAft>
              <a:buClr>
                <a:schemeClr val="dk1"/>
              </a:buClr>
              <a:buSzPts val="1300"/>
              <a:buChar char="●"/>
            </a:pPr>
            <a:r>
              <a:rPr lang="en-US" sz="1300">
                <a:solidFill>
                  <a:schemeClr val="dk1"/>
                </a:solidFill>
              </a:rPr>
              <a:t>Compute PSNR, SSIM, and LPIPS for each image, then average across the sample set.</a:t>
            </a:r>
            <a:endParaRPr sz="1300">
              <a:solidFill>
                <a:schemeClr val="dk1"/>
              </a:solidFill>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p:txBody>
      </p:sp>
      <p:sp>
        <p:nvSpPr>
          <p:cNvPr id="41" name="Google Shape;41;p5"/>
          <p:cNvSpPr/>
          <p:nvPr/>
        </p:nvSpPr>
        <p:spPr>
          <a:xfrm>
            <a:off x="548640" y="4709160"/>
            <a:ext cx="804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Source: github.com/arplaboratory/ThermalGen  |  HuggingFace: xjh19972</a:t>
            </a:r>
            <a:endParaRPr b="0" i="0" sz="900" u="none" cap="none" strike="noStrike">
              <a:solidFill>
                <a:schemeClr val="dk1"/>
              </a:solidFill>
              <a:latin typeface="Calibri"/>
              <a:ea typeface="Calibri"/>
              <a:cs typeface="Calibri"/>
              <a:sym typeface="Calibri"/>
            </a:endParaRPr>
          </a:p>
        </p:txBody>
      </p:sp>
      <p:pic>
        <p:nvPicPr>
          <p:cNvPr id="42" name="Google Shape;42;p5"/>
          <p:cNvPicPr preferRelativeResize="0"/>
          <p:nvPr/>
        </p:nvPicPr>
        <p:blipFill>
          <a:blip r:embed="rId3">
            <a:alphaModFix/>
          </a:blip>
          <a:stretch>
            <a:fillRect/>
          </a:stretch>
        </p:blipFill>
        <p:spPr>
          <a:xfrm>
            <a:off x="4659642" y="1743350"/>
            <a:ext cx="4184182" cy="22137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B"/>
        </a:solidFill>
      </p:bgPr>
    </p:bg>
    <p:spTree>
      <p:nvGrpSpPr>
        <p:cNvPr id="47" name="Shape 47"/>
        <p:cNvGrpSpPr/>
        <p:nvPr/>
      </p:nvGrpSpPr>
      <p:grpSpPr>
        <a:xfrm>
          <a:off x="0" y="0"/>
          <a:ext cx="0" cy="0"/>
          <a:chOff x="0" y="0"/>
          <a:chExt cx="0" cy="0"/>
        </a:xfrm>
      </p:grpSpPr>
      <p:sp>
        <p:nvSpPr>
          <p:cNvPr id="48" name="Google Shape;48;p6"/>
          <p:cNvSpPr/>
          <p:nvPr/>
        </p:nvSpPr>
        <p:spPr>
          <a:xfrm>
            <a:off x="0" y="0"/>
            <a:ext cx="9144000" cy="822900"/>
          </a:xfrm>
          <a:prstGeom prst="rect">
            <a:avLst/>
          </a:prstGeom>
          <a:solidFill>
            <a:srgbClr val="0F20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6"/>
          <p:cNvSpPr/>
          <p:nvPr/>
        </p:nvSpPr>
        <p:spPr>
          <a:xfrm>
            <a:off x="731520" y="91440"/>
            <a:ext cx="76809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Trebuchet MS"/>
              <a:buNone/>
            </a:pPr>
            <a:r>
              <a:rPr b="1" i="0" lang="en-US" sz="2600" u="none" cap="none" strike="noStrike">
                <a:solidFill>
                  <a:srgbClr val="FFFFFF"/>
                </a:solidFill>
                <a:latin typeface="Trebuchet MS"/>
                <a:ea typeface="Trebuchet MS"/>
                <a:cs typeface="Trebuchet MS"/>
                <a:sym typeface="Trebuchet MS"/>
              </a:rPr>
              <a:t>Notebook 2: ThermalGen-XL-2 — Unconditional</a:t>
            </a:r>
            <a:endParaRPr b="0" i="0" sz="2600" u="none" cap="none" strike="noStrike">
              <a:solidFill>
                <a:schemeClr val="dk1"/>
              </a:solidFill>
              <a:latin typeface="Calibri"/>
              <a:ea typeface="Calibri"/>
              <a:cs typeface="Calibri"/>
              <a:sym typeface="Calibri"/>
            </a:endParaRPr>
          </a:p>
        </p:txBody>
      </p:sp>
      <p:sp>
        <p:nvSpPr>
          <p:cNvPr id="50" name="Google Shape;50;p6"/>
          <p:cNvSpPr/>
          <p:nvPr/>
        </p:nvSpPr>
        <p:spPr>
          <a:xfrm>
            <a:off x="548640" y="960120"/>
            <a:ext cx="8046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Model: XL-2  |  Style: Unconditional (idx=1000)  |  8 test pairs from custom Heat Resilience dataset</a:t>
            </a:r>
            <a:endParaRPr b="0" i="0" sz="1000" u="none" cap="none" strike="noStrike">
              <a:solidFill>
                <a:schemeClr val="dk1"/>
              </a:solidFill>
              <a:latin typeface="Calibri"/>
              <a:ea typeface="Calibri"/>
              <a:cs typeface="Calibri"/>
              <a:sym typeface="Calibri"/>
            </a:endParaRPr>
          </a:p>
        </p:txBody>
      </p:sp>
      <p:graphicFrame>
        <p:nvGraphicFramePr>
          <p:cNvPr id="51" name="Google Shape;51;p6"/>
          <p:cNvGraphicFramePr/>
          <p:nvPr/>
        </p:nvGraphicFramePr>
        <p:xfrm>
          <a:off x="457200" y="1325880"/>
          <a:ext cx="3000000" cy="3000000"/>
        </p:xfrm>
        <a:graphic>
          <a:graphicData uri="http://schemas.openxmlformats.org/drawingml/2006/table">
            <a:tbl>
              <a:tblPr>
                <a:noFill/>
                <a:tableStyleId>{7D4AC65A-F673-44A1-84F2-F6B31DA8BB3A}</a:tableStyleId>
              </a:tblPr>
              <a:tblGrid>
                <a:gridCol w="1097275"/>
                <a:gridCol w="1097275"/>
                <a:gridCol w="1097275"/>
                <a:gridCol w="1097275"/>
              </a:tblGrid>
              <a:tr h="274325">
                <a:tc>
                  <a:txBody>
                    <a:bodyPr/>
                    <a:lstStyle/>
                    <a:p>
                      <a:pPr indent="0" lvl="0" marL="0" marR="0" rtl="0" algn="l">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Sample</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0F2027"/>
                    </a:solidFill>
                  </a:tcPr>
                </a:tc>
                <a:tc>
                  <a:txBody>
                    <a:bodyPr/>
                    <a:lstStyle/>
                    <a:p>
                      <a:pPr indent="0" lvl="0" marL="0" marR="0" rtl="0" algn="ctr">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PSNR ↑</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0F2027"/>
                    </a:solidFill>
                  </a:tcPr>
                </a:tc>
                <a:tc>
                  <a:txBody>
                    <a:bodyPr/>
                    <a:lstStyle/>
                    <a:p>
                      <a:pPr indent="0" lvl="0" marL="0" marR="0" rtl="0" algn="ctr">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SSIM ↑</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0F2027"/>
                    </a:solidFill>
                  </a:tcPr>
                </a:tc>
                <a:tc>
                  <a:txBody>
                    <a:bodyPr/>
                    <a:lstStyle/>
                    <a:p>
                      <a:pPr indent="0" lvl="0" marL="0" marR="0" rtl="0" algn="ctr">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LPIPS ↓</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0F2027"/>
                    </a:solidFill>
                  </a:tcPr>
                </a:tc>
              </a:tr>
              <a:tr h="256025">
                <a:tc>
                  <a:txBody>
                    <a:bodyPr/>
                    <a:lstStyle/>
                    <a:p>
                      <a:pPr indent="0" lvl="0" marL="0" marR="0" rtl="0" algn="l">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0.JPG</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6.9005</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0.1962</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0.6668</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r>
              <a:tr h="256025">
                <a:tc>
                  <a:txBody>
                    <a:bodyPr/>
                    <a:lstStyle/>
                    <a:p>
                      <a:pPr indent="0" lvl="0" marL="0" marR="0" rtl="0" algn="l">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1.JPG</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7.6392</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0.1674</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0.5689</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56025">
                <a:tc>
                  <a:txBody>
                    <a:bodyPr/>
                    <a:lstStyle/>
                    <a:p>
                      <a:pPr indent="0" lvl="0" marL="0" marR="0" rtl="0" algn="l">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107.JPG</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8.7633</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0.2694</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0.6066</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r>
              <a:tr h="256025">
                <a:tc>
                  <a:txBody>
                    <a:bodyPr/>
                    <a:lstStyle/>
                    <a:p>
                      <a:pPr indent="0" lvl="0" marL="0" marR="0" rtl="0" algn="l">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112.JPG</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6.9450</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0.2900</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0.7145</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56025">
                <a:tc>
                  <a:txBody>
                    <a:bodyPr/>
                    <a:lstStyle/>
                    <a:p>
                      <a:pPr indent="0" lvl="0" marL="0" marR="0" rtl="0" algn="l">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114.JPG</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6.1177</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0.2061</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0.6262</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r>
              <a:tr h="256025">
                <a:tc>
                  <a:txBody>
                    <a:bodyPr/>
                    <a:lstStyle/>
                    <a:p>
                      <a:pPr indent="0" lvl="0" marL="0" marR="0" rtl="0" algn="l">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115.JPG</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4.7904</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0.2343</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0.6830</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56025">
                <a:tc>
                  <a:txBody>
                    <a:bodyPr/>
                    <a:lstStyle/>
                    <a:p>
                      <a:pPr indent="0" lvl="0" marL="0" marR="0" rtl="0" algn="l">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118.JPG</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8.3146</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0.2214</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0.5827</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r>
              <a:tr h="256025">
                <a:tc>
                  <a:txBody>
                    <a:bodyPr/>
                    <a:lstStyle/>
                    <a:p>
                      <a:pPr indent="0" lvl="0" marL="0" marR="0" rtl="0" algn="l">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120.JPG</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5.1526</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0.2308</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0.6524</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Mean</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85D26"/>
                    </a:solidFill>
                  </a:tcPr>
                </a:tc>
                <a:tc>
                  <a:txBody>
                    <a:bodyPr/>
                    <a:lstStyle/>
                    <a:p>
                      <a:pPr indent="0" lvl="0" marL="0" marR="0" rtl="0" algn="ctr">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6.828</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85D26"/>
                    </a:solidFill>
                  </a:tcPr>
                </a:tc>
                <a:tc>
                  <a:txBody>
                    <a:bodyPr/>
                    <a:lstStyle/>
                    <a:p>
                      <a:pPr indent="0" lvl="0" marL="0" marR="0" rtl="0" algn="ctr">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0.227</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85D26"/>
                    </a:solidFill>
                  </a:tcPr>
                </a:tc>
                <a:tc>
                  <a:txBody>
                    <a:bodyPr/>
                    <a:lstStyle/>
                    <a:p>
                      <a:pPr indent="0" lvl="0" marL="0" marR="0" rtl="0" algn="ctr">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0.638</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85D26"/>
                    </a:solidFill>
                  </a:tcPr>
                </a:tc>
              </a:tr>
            </a:tbl>
          </a:graphicData>
        </a:graphic>
      </p:graphicFrame>
      <p:sp>
        <p:nvSpPr>
          <p:cNvPr id="52" name="Google Shape;52;p6"/>
          <p:cNvSpPr/>
          <p:nvPr/>
        </p:nvSpPr>
        <p:spPr>
          <a:xfrm>
            <a:off x="5303520" y="1325880"/>
            <a:ext cx="3474600" cy="9600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6"/>
          <p:cNvSpPr/>
          <p:nvPr/>
        </p:nvSpPr>
        <p:spPr>
          <a:xfrm>
            <a:off x="5303520" y="1325880"/>
            <a:ext cx="63900" cy="960000"/>
          </a:xfrm>
          <a:prstGeom prst="rect">
            <a:avLst/>
          </a:prstGeom>
          <a:solidFill>
            <a:srgbClr val="E85D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6"/>
          <p:cNvSpPr/>
          <p:nvPr/>
        </p:nvSpPr>
        <p:spPr>
          <a:xfrm>
            <a:off x="5532120" y="1344168"/>
            <a:ext cx="1911000" cy="57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D26"/>
              </a:buClr>
              <a:buSzPts val="3000"/>
              <a:buFont typeface="Trebuchet MS"/>
              <a:buNone/>
            </a:pPr>
            <a:r>
              <a:rPr b="1" i="0" lang="en-US" sz="3000" u="none" cap="none" strike="noStrike">
                <a:solidFill>
                  <a:srgbClr val="E85D26"/>
                </a:solidFill>
                <a:latin typeface="Trebuchet MS"/>
                <a:ea typeface="Trebuchet MS"/>
                <a:cs typeface="Trebuchet MS"/>
                <a:sym typeface="Trebuchet MS"/>
              </a:rPr>
              <a:t>6.83</a:t>
            </a:r>
            <a:endParaRPr b="0" i="0" sz="3000" u="none" cap="none" strike="noStrike">
              <a:solidFill>
                <a:schemeClr val="dk1"/>
              </a:solidFill>
              <a:latin typeface="Calibri"/>
              <a:ea typeface="Calibri"/>
              <a:cs typeface="Calibri"/>
              <a:sym typeface="Calibri"/>
            </a:endParaRPr>
          </a:p>
        </p:txBody>
      </p:sp>
      <p:sp>
        <p:nvSpPr>
          <p:cNvPr id="55" name="Google Shape;55;p6"/>
          <p:cNvSpPr/>
          <p:nvPr/>
        </p:nvSpPr>
        <p:spPr>
          <a:xfrm>
            <a:off x="7388352" y="1399032"/>
            <a:ext cx="1216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Trebuchet MS"/>
              <a:buNone/>
            </a:pPr>
            <a:r>
              <a:rPr b="1" i="0" lang="en-US" sz="1300" u="none" cap="none" strike="noStrike">
                <a:solidFill>
                  <a:srgbClr val="1E293B"/>
                </a:solidFill>
                <a:latin typeface="Trebuchet MS"/>
                <a:ea typeface="Trebuchet MS"/>
                <a:cs typeface="Trebuchet MS"/>
                <a:sym typeface="Trebuchet MS"/>
              </a:rPr>
              <a:t>PSNR</a:t>
            </a:r>
            <a:endParaRPr b="0" i="0" sz="1300" u="none" cap="none" strike="noStrike">
              <a:solidFill>
                <a:schemeClr val="dk1"/>
              </a:solidFill>
              <a:latin typeface="Calibri"/>
              <a:ea typeface="Calibri"/>
              <a:cs typeface="Calibri"/>
              <a:sym typeface="Calibri"/>
            </a:endParaRPr>
          </a:p>
        </p:txBody>
      </p:sp>
      <p:sp>
        <p:nvSpPr>
          <p:cNvPr id="56" name="Google Shape;56;p6"/>
          <p:cNvSpPr/>
          <p:nvPr/>
        </p:nvSpPr>
        <p:spPr>
          <a:xfrm>
            <a:off x="5532120" y="1901952"/>
            <a:ext cx="3108900" cy="33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Peak Signal-to-Noise Ratio</a:t>
            </a:r>
            <a:endParaRPr b="0" i="0" sz="900" u="none" cap="none" strike="noStrike">
              <a:solidFill>
                <a:schemeClr val="dk1"/>
              </a:solidFill>
              <a:latin typeface="Calibri"/>
              <a:ea typeface="Calibri"/>
              <a:cs typeface="Calibri"/>
              <a:sym typeface="Calibri"/>
            </a:endParaRPr>
          </a:p>
        </p:txBody>
      </p:sp>
      <p:sp>
        <p:nvSpPr>
          <p:cNvPr id="57" name="Google Shape;57;p6"/>
          <p:cNvSpPr/>
          <p:nvPr/>
        </p:nvSpPr>
        <p:spPr>
          <a:xfrm>
            <a:off x="5303520" y="2423160"/>
            <a:ext cx="3474600" cy="9600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6"/>
          <p:cNvSpPr/>
          <p:nvPr/>
        </p:nvSpPr>
        <p:spPr>
          <a:xfrm>
            <a:off x="5303520" y="2423160"/>
            <a:ext cx="63900" cy="960000"/>
          </a:xfrm>
          <a:prstGeom prst="rect">
            <a:avLst/>
          </a:prstGeom>
          <a:solidFill>
            <a:srgbClr val="E85D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a:off x="5532120" y="2441448"/>
            <a:ext cx="1911000" cy="57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D26"/>
              </a:buClr>
              <a:buSzPts val="3000"/>
              <a:buFont typeface="Trebuchet MS"/>
              <a:buNone/>
            </a:pPr>
            <a:r>
              <a:rPr b="1" i="0" lang="en-US" sz="3000" u="none" cap="none" strike="noStrike">
                <a:solidFill>
                  <a:srgbClr val="E85D26"/>
                </a:solidFill>
                <a:latin typeface="Trebuchet MS"/>
                <a:ea typeface="Trebuchet MS"/>
                <a:cs typeface="Trebuchet MS"/>
                <a:sym typeface="Trebuchet MS"/>
              </a:rPr>
              <a:t>0.227</a:t>
            </a:r>
            <a:endParaRPr b="0" i="0" sz="3000" u="none" cap="none" strike="noStrike">
              <a:solidFill>
                <a:schemeClr val="dk1"/>
              </a:solidFill>
              <a:latin typeface="Calibri"/>
              <a:ea typeface="Calibri"/>
              <a:cs typeface="Calibri"/>
              <a:sym typeface="Calibri"/>
            </a:endParaRPr>
          </a:p>
        </p:txBody>
      </p:sp>
      <p:sp>
        <p:nvSpPr>
          <p:cNvPr id="60" name="Google Shape;60;p6"/>
          <p:cNvSpPr/>
          <p:nvPr/>
        </p:nvSpPr>
        <p:spPr>
          <a:xfrm>
            <a:off x="7388352" y="2496312"/>
            <a:ext cx="1216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Trebuchet MS"/>
              <a:buNone/>
            </a:pPr>
            <a:r>
              <a:rPr b="1" i="0" lang="en-US" sz="1300" u="none" cap="none" strike="noStrike">
                <a:solidFill>
                  <a:srgbClr val="1E293B"/>
                </a:solidFill>
                <a:latin typeface="Trebuchet MS"/>
                <a:ea typeface="Trebuchet MS"/>
                <a:cs typeface="Trebuchet MS"/>
                <a:sym typeface="Trebuchet MS"/>
              </a:rPr>
              <a:t>SSIM</a:t>
            </a:r>
            <a:endParaRPr b="0" i="0" sz="1300" u="none" cap="none" strike="noStrike">
              <a:solidFill>
                <a:schemeClr val="dk1"/>
              </a:solidFill>
              <a:latin typeface="Calibri"/>
              <a:ea typeface="Calibri"/>
              <a:cs typeface="Calibri"/>
              <a:sym typeface="Calibri"/>
            </a:endParaRPr>
          </a:p>
        </p:txBody>
      </p:sp>
      <p:sp>
        <p:nvSpPr>
          <p:cNvPr id="61" name="Google Shape;61;p6"/>
          <p:cNvSpPr/>
          <p:nvPr/>
        </p:nvSpPr>
        <p:spPr>
          <a:xfrm>
            <a:off x="5532120" y="2999232"/>
            <a:ext cx="3108900" cy="33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Structural Similarity</a:t>
            </a:r>
            <a:endParaRPr b="0" i="0" sz="900" u="none" cap="none" strike="noStrike">
              <a:solidFill>
                <a:schemeClr val="dk1"/>
              </a:solidFill>
              <a:latin typeface="Calibri"/>
              <a:ea typeface="Calibri"/>
              <a:cs typeface="Calibri"/>
              <a:sym typeface="Calibri"/>
            </a:endParaRPr>
          </a:p>
        </p:txBody>
      </p:sp>
      <p:sp>
        <p:nvSpPr>
          <p:cNvPr id="62" name="Google Shape;62;p6"/>
          <p:cNvSpPr/>
          <p:nvPr/>
        </p:nvSpPr>
        <p:spPr>
          <a:xfrm>
            <a:off x="5303520" y="3520440"/>
            <a:ext cx="3474600" cy="9600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6"/>
          <p:cNvSpPr/>
          <p:nvPr/>
        </p:nvSpPr>
        <p:spPr>
          <a:xfrm>
            <a:off x="5303520" y="3520440"/>
            <a:ext cx="63900" cy="960000"/>
          </a:xfrm>
          <a:prstGeom prst="rect">
            <a:avLst/>
          </a:prstGeom>
          <a:solidFill>
            <a:srgbClr val="E85D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6"/>
          <p:cNvSpPr/>
          <p:nvPr/>
        </p:nvSpPr>
        <p:spPr>
          <a:xfrm>
            <a:off x="5532120" y="3538728"/>
            <a:ext cx="1911000" cy="57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D26"/>
              </a:buClr>
              <a:buSzPts val="3000"/>
              <a:buFont typeface="Trebuchet MS"/>
              <a:buNone/>
            </a:pPr>
            <a:r>
              <a:rPr b="1" i="0" lang="en-US" sz="3000" u="none" cap="none" strike="noStrike">
                <a:solidFill>
                  <a:srgbClr val="E85D26"/>
                </a:solidFill>
                <a:latin typeface="Trebuchet MS"/>
                <a:ea typeface="Trebuchet MS"/>
                <a:cs typeface="Trebuchet MS"/>
                <a:sym typeface="Trebuchet MS"/>
              </a:rPr>
              <a:t>0.638</a:t>
            </a:r>
            <a:endParaRPr b="0" i="0" sz="3000" u="none" cap="none" strike="noStrike">
              <a:solidFill>
                <a:schemeClr val="dk1"/>
              </a:solidFill>
              <a:latin typeface="Calibri"/>
              <a:ea typeface="Calibri"/>
              <a:cs typeface="Calibri"/>
              <a:sym typeface="Calibri"/>
            </a:endParaRPr>
          </a:p>
        </p:txBody>
      </p:sp>
      <p:sp>
        <p:nvSpPr>
          <p:cNvPr id="65" name="Google Shape;65;p6"/>
          <p:cNvSpPr/>
          <p:nvPr/>
        </p:nvSpPr>
        <p:spPr>
          <a:xfrm>
            <a:off x="7388352" y="3593592"/>
            <a:ext cx="1216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Trebuchet MS"/>
              <a:buNone/>
            </a:pPr>
            <a:r>
              <a:rPr b="1" i="0" lang="en-US" sz="1300" u="none" cap="none" strike="noStrike">
                <a:solidFill>
                  <a:srgbClr val="1E293B"/>
                </a:solidFill>
                <a:latin typeface="Trebuchet MS"/>
                <a:ea typeface="Trebuchet MS"/>
                <a:cs typeface="Trebuchet MS"/>
                <a:sym typeface="Trebuchet MS"/>
              </a:rPr>
              <a:t>LPIPS</a:t>
            </a:r>
            <a:endParaRPr b="0" i="0" sz="1300" u="none" cap="none" strike="noStrike">
              <a:solidFill>
                <a:schemeClr val="dk1"/>
              </a:solidFill>
              <a:latin typeface="Calibri"/>
              <a:ea typeface="Calibri"/>
              <a:cs typeface="Calibri"/>
              <a:sym typeface="Calibri"/>
            </a:endParaRPr>
          </a:p>
        </p:txBody>
      </p:sp>
      <p:sp>
        <p:nvSpPr>
          <p:cNvPr id="66" name="Google Shape;66;p6"/>
          <p:cNvSpPr/>
          <p:nvPr/>
        </p:nvSpPr>
        <p:spPr>
          <a:xfrm>
            <a:off x="5532120" y="4096512"/>
            <a:ext cx="3108900" cy="33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Perceptual Distance</a:t>
            </a:r>
            <a:endParaRPr b="0" i="0" sz="900" u="none" cap="none" strike="noStrike">
              <a:solidFill>
                <a:schemeClr val="dk1"/>
              </a:solidFill>
              <a:latin typeface="Calibri"/>
              <a:ea typeface="Calibri"/>
              <a:cs typeface="Calibri"/>
              <a:sym typeface="Calibri"/>
            </a:endParaRPr>
          </a:p>
        </p:txBody>
      </p:sp>
      <p:sp>
        <p:nvSpPr>
          <p:cNvPr id="67" name="Google Shape;67;p6"/>
          <p:cNvSpPr txBox="1"/>
          <p:nvPr/>
        </p:nvSpPr>
        <p:spPr>
          <a:xfrm>
            <a:off x="489875" y="4032550"/>
            <a:ext cx="4220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id="73" name="Google Shape;73;p7"/>
          <p:cNvPicPr preferRelativeResize="0"/>
          <p:nvPr/>
        </p:nvPicPr>
        <p:blipFill>
          <a:blip r:embed="rId3">
            <a:alphaModFix/>
          </a:blip>
          <a:stretch>
            <a:fillRect/>
          </a:stretch>
        </p:blipFill>
        <p:spPr>
          <a:xfrm>
            <a:off x="152400" y="152400"/>
            <a:ext cx="3872470" cy="4838701"/>
          </a:xfrm>
          <a:prstGeom prst="rect">
            <a:avLst/>
          </a:prstGeom>
          <a:noFill/>
          <a:ln>
            <a:noFill/>
          </a:ln>
        </p:spPr>
      </p:pic>
      <p:pic>
        <p:nvPicPr>
          <p:cNvPr id="74" name="Google Shape;74;p7"/>
          <p:cNvPicPr preferRelativeResize="0"/>
          <p:nvPr/>
        </p:nvPicPr>
        <p:blipFill>
          <a:blip r:embed="rId4">
            <a:alphaModFix/>
          </a:blip>
          <a:stretch>
            <a:fillRect/>
          </a:stretch>
        </p:blipFill>
        <p:spPr>
          <a:xfrm>
            <a:off x="4177270" y="152400"/>
            <a:ext cx="4082161" cy="48387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B"/>
        </a:solidFill>
      </p:bgPr>
    </p:bg>
    <p:spTree>
      <p:nvGrpSpPr>
        <p:cNvPr id="79" name="Shape 79"/>
        <p:cNvGrpSpPr/>
        <p:nvPr/>
      </p:nvGrpSpPr>
      <p:grpSpPr>
        <a:xfrm>
          <a:off x="0" y="0"/>
          <a:ext cx="0" cy="0"/>
          <a:chOff x="0" y="0"/>
          <a:chExt cx="0" cy="0"/>
        </a:xfrm>
      </p:grpSpPr>
      <p:sp>
        <p:nvSpPr>
          <p:cNvPr id="80" name="Google Shape;80;p8"/>
          <p:cNvSpPr/>
          <p:nvPr/>
        </p:nvSpPr>
        <p:spPr>
          <a:xfrm>
            <a:off x="0" y="0"/>
            <a:ext cx="9144000" cy="822960"/>
          </a:xfrm>
          <a:prstGeom prst="rect">
            <a:avLst/>
          </a:prstGeom>
          <a:solidFill>
            <a:srgbClr val="0F20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a:off x="731520" y="91440"/>
            <a:ext cx="76809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Trebuchet MS"/>
              <a:buNone/>
            </a:pPr>
            <a:r>
              <a:rPr b="1" i="0" lang="en-US" sz="2600" u="none" cap="none" strike="noStrike">
                <a:solidFill>
                  <a:srgbClr val="FFFFFF"/>
                </a:solidFill>
                <a:latin typeface="Trebuchet MS"/>
                <a:ea typeface="Trebuchet MS"/>
                <a:cs typeface="Trebuchet MS"/>
                <a:sym typeface="Trebuchet MS"/>
              </a:rPr>
              <a:t>Notebook 3: ThermalGen-L-2-concat — Unconditional</a:t>
            </a:r>
            <a:endParaRPr b="0" i="0" sz="2600" u="none" cap="none" strike="noStrike">
              <a:solidFill>
                <a:schemeClr val="dk1"/>
              </a:solidFill>
              <a:latin typeface="Calibri"/>
              <a:ea typeface="Calibri"/>
              <a:cs typeface="Calibri"/>
              <a:sym typeface="Calibri"/>
            </a:endParaRPr>
          </a:p>
        </p:txBody>
      </p:sp>
      <p:sp>
        <p:nvSpPr>
          <p:cNvPr id="82" name="Google Shape;82;p8"/>
          <p:cNvSpPr/>
          <p:nvPr/>
        </p:nvSpPr>
        <p:spPr>
          <a:xfrm>
            <a:off x="548640" y="960120"/>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Model: L-2-concat  |  Style: Unconditional (idx=1000)  |  6 test pairs from custom Heat Resilience dataset</a:t>
            </a:r>
            <a:endParaRPr b="0" i="0" sz="1000" u="none" cap="none" strike="noStrike">
              <a:solidFill>
                <a:schemeClr val="dk1"/>
              </a:solidFill>
              <a:latin typeface="Calibri"/>
              <a:ea typeface="Calibri"/>
              <a:cs typeface="Calibri"/>
              <a:sym typeface="Calibri"/>
            </a:endParaRPr>
          </a:p>
        </p:txBody>
      </p:sp>
      <p:graphicFrame>
        <p:nvGraphicFramePr>
          <p:cNvPr id="83" name="Google Shape;83;p8"/>
          <p:cNvGraphicFramePr/>
          <p:nvPr/>
        </p:nvGraphicFramePr>
        <p:xfrm>
          <a:off x="457200" y="1325880"/>
          <a:ext cx="3000000" cy="3000000"/>
        </p:xfrm>
        <a:graphic>
          <a:graphicData uri="http://schemas.openxmlformats.org/drawingml/2006/table">
            <a:tbl>
              <a:tblPr>
                <a:noFill/>
                <a:tableStyleId>{7D4AC65A-F673-44A1-84F2-F6B31DA8BB3A}</a:tableStyleId>
              </a:tblPr>
              <a:tblGrid>
                <a:gridCol w="1097275"/>
                <a:gridCol w="1097275"/>
                <a:gridCol w="1097275"/>
                <a:gridCol w="1097275"/>
              </a:tblGrid>
              <a:tr h="274325">
                <a:tc>
                  <a:txBody>
                    <a:bodyPr/>
                    <a:lstStyle/>
                    <a:p>
                      <a:pPr indent="0" lvl="0" marL="0" marR="0" rtl="0" algn="l">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Sample</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0F2027"/>
                    </a:solidFill>
                  </a:tcPr>
                </a:tc>
                <a:tc>
                  <a:txBody>
                    <a:bodyPr/>
                    <a:lstStyle/>
                    <a:p>
                      <a:pPr indent="0" lvl="0" marL="0" marR="0" rtl="0" algn="ctr">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PSNR ↑</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0F2027"/>
                    </a:solidFill>
                  </a:tcPr>
                </a:tc>
                <a:tc>
                  <a:txBody>
                    <a:bodyPr/>
                    <a:lstStyle/>
                    <a:p>
                      <a:pPr indent="0" lvl="0" marL="0" marR="0" rtl="0" algn="ctr">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SSIM ↑</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0F2027"/>
                    </a:solidFill>
                  </a:tcPr>
                </a:tc>
                <a:tc>
                  <a:txBody>
                    <a:bodyPr/>
                    <a:lstStyle/>
                    <a:p>
                      <a:pPr indent="0" lvl="0" marL="0" marR="0" rtl="0" algn="ctr">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LPIPS ↓</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0F2027"/>
                    </a:solidFill>
                  </a:tcPr>
                </a:tc>
              </a:tr>
              <a:tr h="256025">
                <a:tc>
                  <a:txBody>
                    <a:bodyPr/>
                    <a:lstStyle/>
                    <a:p>
                      <a:pPr indent="0" lvl="0" marL="0" marR="0" rtl="0" algn="l">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0.JPG</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7.3550</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0.2197</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0.6270</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r>
              <a:tr h="256025">
                <a:tc>
                  <a:txBody>
                    <a:bodyPr/>
                    <a:lstStyle/>
                    <a:p>
                      <a:pPr indent="0" lvl="0" marL="0" marR="0" rtl="0" algn="l">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1.JPG</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9.6178</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0.2077</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0.5714</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56025">
                <a:tc>
                  <a:txBody>
                    <a:bodyPr/>
                    <a:lstStyle/>
                    <a:p>
                      <a:pPr indent="0" lvl="0" marL="0" marR="0" rtl="0" algn="l">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5.JPG</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8.0134</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0.4112</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0.7231</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r>
              <a:tr h="256025">
                <a:tc>
                  <a:txBody>
                    <a:bodyPr/>
                    <a:lstStyle/>
                    <a:p>
                      <a:pPr indent="0" lvl="0" marL="0" marR="0" rtl="0" algn="l">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57.JPG</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3.5369</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0.1748</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0.7129</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56025">
                <a:tc>
                  <a:txBody>
                    <a:bodyPr/>
                    <a:lstStyle/>
                    <a:p>
                      <a:pPr indent="0" lvl="0" marL="0" marR="0" rtl="0" algn="l">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58.JPG</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7.6154</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0.2286</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0.6420</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r>
              <a:tr h="256025">
                <a:tc>
                  <a:txBody>
                    <a:bodyPr/>
                    <a:lstStyle/>
                    <a:p>
                      <a:pPr indent="0" lvl="0" marL="0" marR="0" rtl="0" algn="l">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62.JPG</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9.5432</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0.2899</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0.5396</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Mean</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85D26"/>
                    </a:solidFill>
                  </a:tcPr>
                </a:tc>
                <a:tc>
                  <a:txBody>
                    <a:bodyPr/>
                    <a:lstStyle/>
                    <a:p>
                      <a:pPr indent="0" lvl="0" marL="0" marR="0" rtl="0" algn="ctr">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7.614</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85D26"/>
                    </a:solidFill>
                  </a:tcPr>
                </a:tc>
                <a:tc>
                  <a:txBody>
                    <a:bodyPr/>
                    <a:lstStyle/>
                    <a:p>
                      <a:pPr indent="0" lvl="0" marL="0" marR="0" rtl="0" algn="ctr">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0.255</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85D26"/>
                    </a:solidFill>
                  </a:tcPr>
                </a:tc>
                <a:tc>
                  <a:txBody>
                    <a:bodyPr/>
                    <a:lstStyle/>
                    <a:p>
                      <a:pPr indent="0" lvl="0" marL="0" marR="0" rtl="0" algn="ctr">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0.636</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85D26"/>
                    </a:solidFill>
                  </a:tcPr>
                </a:tc>
              </a:tr>
            </a:tbl>
          </a:graphicData>
        </a:graphic>
      </p:graphicFrame>
      <p:sp>
        <p:nvSpPr>
          <p:cNvPr id="84" name="Google Shape;84;p8"/>
          <p:cNvSpPr/>
          <p:nvPr/>
        </p:nvSpPr>
        <p:spPr>
          <a:xfrm>
            <a:off x="5303520" y="1325880"/>
            <a:ext cx="3474720" cy="960120"/>
          </a:xfrm>
          <a:prstGeom prst="rect">
            <a:avLst/>
          </a:prstGeom>
          <a:solidFill>
            <a:srgbClr val="FFFFFF"/>
          </a:solidFill>
          <a:ln>
            <a:noFill/>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a:off x="5303520" y="1325880"/>
            <a:ext cx="64008" cy="960120"/>
          </a:xfrm>
          <a:prstGeom prst="rect">
            <a:avLst/>
          </a:prstGeom>
          <a:solidFill>
            <a:srgbClr val="E85D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a:off x="5532120" y="1344168"/>
            <a:ext cx="1911096" cy="576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D26"/>
              </a:buClr>
              <a:buSzPts val="3000"/>
              <a:buFont typeface="Trebuchet MS"/>
              <a:buNone/>
            </a:pPr>
            <a:r>
              <a:rPr b="1" i="0" lang="en-US" sz="3000" u="none" cap="none" strike="noStrike">
                <a:solidFill>
                  <a:srgbClr val="E85D26"/>
                </a:solidFill>
                <a:latin typeface="Trebuchet MS"/>
                <a:ea typeface="Trebuchet MS"/>
                <a:cs typeface="Trebuchet MS"/>
                <a:sym typeface="Trebuchet MS"/>
              </a:rPr>
              <a:t>7.61</a:t>
            </a:r>
            <a:endParaRPr b="0" i="0" sz="3000" u="none" cap="none" strike="noStrike">
              <a:solidFill>
                <a:schemeClr val="dk1"/>
              </a:solidFill>
              <a:latin typeface="Calibri"/>
              <a:ea typeface="Calibri"/>
              <a:cs typeface="Calibri"/>
              <a:sym typeface="Calibri"/>
            </a:endParaRPr>
          </a:p>
        </p:txBody>
      </p:sp>
      <p:sp>
        <p:nvSpPr>
          <p:cNvPr id="87" name="Google Shape;87;p8"/>
          <p:cNvSpPr/>
          <p:nvPr/>
        </p:nvSpPr>
        <p:spPr>
          <a:xfrm>
            <a:off x="7388352" y="1399032"/>
            <a:ext cx="121615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Trebuchet MS"/>
              <a:buNone/>
            </a:pPr>
            <a:r>
              <a:rPr b="1" i="0" lang="en-US" sz="1300" u="none" cap="none" strike="noStrike">
                <a:solidFill>
                  <a:srgbClr val="1E293B"/>
                </a:solidFill>
                <a:latin typeface="Trebuchet MS"/>
                <a:ea typeface="Trebuchet MS"/>
                <a:cs typeface="Trebuchet MS"/>
                <a:sym typeface="Trebuchet MS"/>
              </a:rPr>
              <a:t>PSNR</a:t>
            </a:r>
            <a:endParaRPr b="0" i="0" sz="1300" u="none" cap="none" strike="noStrike">
              <a:solidFill>
                <a:schemeClr val="dk1"/>
              </a:solidFill>
              <a:latin typeface="Calibri"/>
              <a:ea typeface="Calibri"/>
              <a:cs typeface="Calibri"/>
              <a:sym typeface="Calibri"/>
            </a:endParaRPr>
          </a:p>
        </p:txBody>
      </p:sp>
      <p:sp>
        <p:nvSpPr>
          <p:cNvPr id="88" name="Google Shape;88;p8"/>
          <p:cNvSpPr/>
          <p:nvPr/>
        </p:nvSpPr>
        <p:spPr>
          <a:xfrm>
            <a:off x="5532120" y="1901952"/>
            <a:ext cx="3108960" cy="336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Peak Signal-to-Noise Ratio</a:t>
            </a:r>
            <a:endParaRPr b="0" i="0" sz="900" u="none" cap="none" strike="noStrike">
              <a:solidFill>
                <a:schemeClr val="dk1"/>
              </a:solidFill>
              <a:latin typeface="Calibri"/>
              <a:ea typeface="Calibri"/>
              <a:cs typeface="Calibri"/>
              <a:sym typeface="Calibri"/>
            </a:endParaRPr>
          </a:p>
        </p:txBody>
      </p:sp>
      <p:sp>
        <p:nvSpPr>
          <p:cNvPr id="89" name="Google Shape;89;p8"/>
          <p:cNvSpPr/>
          <p:nvPr/>
        </p:nvSpPr>
        <p:spPr>
          <a:xfrm>
            <a:off x="5303520" y="2423160"/>
            <a:ext cx="3474720" cy="960120"/>
          </a:xfrm>
          <a:prstGeom prst="rect">
            <a:avLst/>
          </a:prstGeom>
          <a:solidFill>
            <a:srgbClr val="FFFFFF"/>
          </a:solidFill>
          <a:ln>
            <a:noFill/>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
          <p:cNvSpPr/>
          <p:nvPr/>
        </p:nvSpPr>
        <p:spPr>
          <a:xfrm>
            <a:off x="5303520" y="2423160"/>
            <a:ext cx="64008" cy="960120"/>
          </a:xfrm>
          <a:prstGeom prst="rect">
            <a:avLst/>
          </a:prstGeom>
          <a:solidFill>
            <a:srgbClr val="E85D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5532120" y="2441448"/>
            <a:ext cx="1911096" cy="576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D26"/>
              </a:buClr>
              <a:buSzPts val="3000"/>
              <a:buFont typeface="Trebuchet MS"/>
              <a:buNone/>
            </a:pPr>
            <a:r>
              <a:rPr b="1" i="0" lang="en-US" sz="3000" u="none" cap="none" strike="noStrike">
                <a:solidFill>
                  <a:srgbClr val="E85D26"/>
                </a:solidFill>
                <a:latin typeface="Trebuchet MS"/>
                <a:ea typeface="Trebuchet MS"/>
                <a:cs typeface="Trebuchet MS"/>
                <a:sym typeface="Trebuchet MS"/>
              </a:rPr>
              <a:t>0.255</a:t>
            </a:r>
            <a:endParaRPr b="0" i="0" sz="3000" u="none" cap="none" strike="noStrike">
              <a:solidFill>
                <a:schemeClr val="dk1"/>
              </a:solidFill>
              <a:latin typeface="Calibri"/>
              <a:ea typeface="Calibri"/>
              <a:cs typeface="Calibri"/>
              <a:sym typeface="Calibri"/>
            </a:endParaRPr>
          </a:p>
        </p:txBody>
      </p:sp>
      <p:sp>
        <p:nvSpPr>
          <p:cNvPr id="92" name="Google Shape;92;p8"/>
          <p:cNvSpPr/>
          <p:nvPr/>
        </p:nvSpPr>
        <p:spPr>
          <a:xfrm>
            <a:off x="7388352" y="2496312"/>
            <a:ext cx="121615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Trebuchet MS"/>
              <a:buNone/>
            </a:pPr>
            <a:r>
              <a:rPr b="1" i="0" lang="en-US" sz="1300" u="none" cap="none" strike="noStrike">
                <a:solidFill>
                  <a:srgbClr val="1E293B"/>
                </a:solidFill>
                <a:latin typeface="Trebuchet MS"/>
                <a:ea typeface="Trebuchet MS"/>
                <a:cs typeface="Trebuchet MS"/>
                <a:sym typeface="Trebuchet MS"/>
              </a:rPr>
              <a:t>SSIM</a:t>
            </a:r>
            <a:endParaRPr b="0" i="0" sz="1300" u="none" cap="none" strike="noStrike">
              <a:solidFill>
                <a:schemeClr val="dk1"/>
              </a:solidFill>
              <a:latin typeface="Calibri"/>
              <a:ea typeface="Calibri"/>
              <a:cs typeface="Calibri"/>
              <a:sym typeface="Calibri"/>
            </a:endParaRPr>
          </a:p>
        </p:txBody>
      </p:sp>
      <p:sp>
        <p:nvSpPr>
          <p:cNvPr id="93" name="Google Shape;93;p8"/>
          <p:cNvSpPr/>
          <p:nvPr/>
        </p:nvSpPr>
        <p:spPr>
          <a:xfrm>
            <a:off x="5532120" y="2999232"/>
            <a:ext cx="3108960" cy="336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Structural Similarity</a:t>
            </a:r>
            <a:endParaRPr b="0" i="0" sz="900" u="none" cap="none" strike="noStrike">
              <a:solidFill>
                <a:schemeClr val="dk1"/>
              </a:solidFill>
              <a:latin typeface="Calibri"/>
              <a:ea typeface="Calibri"/>
              <a:cs typeface="Calibri"/>
              <a:sym typeface="Calibri"/>
            </a:endParaRPr>
          </a:p>
        </p:txBody>
      </p:sp>
      <p:sp>
        <p:nvSpPr>
          <p:cNvPr id="94" name="Google Shape;94;p8"/>
          <p:cNvSpPr/>
          <p:nvPr/>
        </p:nvSpPr>
        <p:spPr>
          <a:xfrm>
            <a:off x="5303520" y="3520440"/>
            <a:ext cx="3474720" cy="960120"/>
          </a:xfrm>
          <a:prstGeom prst="rect">
            <a:avLst/>
          </a:prstGeom>
          <a:solidFill>
            <a:srgbClr val="FFFFFF"/>
          </a:solidFill>
          <a:ln>
            <a:noFill/>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8"/>
          <p:cNvSpPr/>
          <p:nvPr/>
        </p:nvSpPr>
        <p:spPr>
          <a:xfrm>
            <a:off x="5303520" y="3520440"/>
            <a:ext cx="64008" cy="960120"/>
          </a:xfrm>
          <a:prstGeom prst="rect">
            <a:avLst/>
          </a:prstGeom>
          <a:solidFill>
            <a:srgbClr val="E85D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8"/>
          <p:cNvSpPr/>
          <p:nvPr/>
        </p:nvSpPr>
        <p:spPr>
          <a:xfrm>
            <a:off x="5532120" y="3538728"/>
            <a:ext cx="1911096" cy="576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D26"/>
              </a:buClr>
              <a:buSzPts val="3000"/>
              <a:buFont typeface="Trebuchet MS"/>
              <a:buNone/>
            </a:pPr>
            <a:r>
              <a:rPr b="1" i="0" lang="en-US" sz="3000" u="none" cap="none" strike="noStrike">
                <a:solidFill>
                  <a:srgbClr val="E85D26"/>
                </a:solidFill>
                <a:latin typeface="Trebuchet MS"/>
                <a:ea typeface="Trebuchet MS"/>
                <a:cs typeface="Trebuchet MS"/>
                <a:sym typeface="Trebuchet MS"/>
              </a:rPr>
              <a:t>0.636</a:t>
            </a:r>
            <a:endParaRPr b="0" i="0" sz="3000" u="none" cap="none" strike="noStrike">
              <a:solidFill>
                <a:schemeClr val="dk1"/>
              </a:solidFill>
              <a:latin typeface="Calibri"/>
              <a:ea typeface="Calibri"/>
              <a:cs typeface="Calibri"/>
              <a:sym typeface="Calibri"/>
            </a:endParaRPr>
          </a:p>
        </p:txBody>
      </p:sp>
      <p:sp>
        <p:nvSpPr>
          <p:cNvPr id="97" name="Google Shape;97;p8"/>
          <p:cNvSpPr/>
          <p:nvPr/>
        </p:nvSpPr>
        <p:spPr>
          <a:xfrm>
            <a:off x="7388352" y="3593592"/>
            <a:ext cx="121615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Trebuchet MS"/>
              <a:buNone/>
            </a:pPr>
            <a:r>
              <a:rPr b="1" i="0" lang="en-US" sz="1300" u="none" cap="none" strike="noStrike">
                <a:solidFill>
                  <a:srgbClr val="1E293B"/>
                </a:solidFill>
                <a:latin typeface="Trebuchet MS"/>
                <a:ea typeface="Trebuchet MS"/>
                <a:cs typeface="Trebuchet MS"/>
                <a:sym typeface="Trebuchet MS"/>
              </a:rPr>
              <a:t>LPIPS</a:t>
            </a:r>
            <a:endParaRPr b="0" i="0" sz="1300" u="none" cap="none" strike="noStrike">
              <a:solidFill>
                <a:schemeClr val="dk1"/>
              </a:solidFill>
              <a:latin typeface="Calibri"/>
              <a:ea typeface="Calibri"/>
              <a:cs typeface="Calibri"/>
              <a:sym typeface="Calibri"/>
            </a:endParaRPr>
          </a:p>
        </p:txBody>
      </p:sp>
      <p:sp>
        <p:nvSpPr>
          <p:cNvPr id="98" name="Google Shape;98;p8"/>
          <p:cNvSpPr/>
          <p:nvPr/>
        </p:nvSpPr>
        <p:spPr>
          <a:xfrm>
            <a:off x="5532120" y="4096512"/>
            <a:ext cx="3108960" cy="336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Perceptual Distance</a:t>
            </a:r>
            <a:endParaRPr b="0" i="0" sz="900" u="none" cap="none" strike="noStrike">
              <a:solidFill>
                <a:schemeClr val="dk1"/>
              </a:solidFill>
              <a:latin typeface="Calibri"/>
              <a:ea typeface="Calibri"/>
              <a:cs typeface="Calibri"/>
              <a:sym typeface="Calibri"/>
            </a:endParaRPr>
          </a:p>
        </p:txBody>
      </p:sp>
      <p:sp>
        <p:nvSpPr>
          <p:cNvPr id="99" name="Google Shape;99;p8"/>
          <p:cNvSpPr txBox="1"/>
          <p:nvPr/>
        </p:nvSpPr>
        <p:spPr>
          <a:xfrm>
            <a:off x="497150" y="3834000"/>
            <a:ext cx="4309200" cy="52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200">
                <a:solidFill>
                  <a:schemeClr val="dk1"/>
                </a:solidFill>
              </a:rPr>
              <a:t>The main architectural difference is how RGB information is injected. In the concat model, RGB features are directly appended to the latent representation, which makes conditioning simpler and, in the paper’s ablations, more effective than cross-attention.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p9"/>
          <p:cNvPicPr preferRelativeResize="0"/>
          <p:nvPr/>
        </p:nvPicPr>
        <p:blipFill>
          <a:blip r:embed="rId3">
            <a:alphaModFix/>
          </a:blip>
          <a:stretch>
            <a:fillRect/>
          </a:stretch>
        </p:blipFill>
        <p:spPr>
          <a:xfrm>
            <a:off x="152400" y="152400"/>
            <a:ext cx="4040235" cy="4838701"/>
          </a:xfrm>
          <a:prstGeom prst="rect">
            <a:avLst/>
          </a:prstGeom>
          <a:noFill/>
          <a:ln>
            <a:noFill/>
          </a:ln>
        </p:spPr>
      </p:pic>
      <p:pic>
        <p:nvPicPr>
          <p:cNvPr id="106" name="Google Shape;106;p9"/>
          <p:cNvPicPr preferRelativeResize="0"/>
          <p:nvPr/>
        </p:nvPicPr>
        <p:blipFill>
          <a:blip r:embed="rId4">
            <a:alphaModFix/>
          </a:blip>
          <a:stretch>
            <a:fillRect/>
          </a:stretch>
        </p:blipFill>
        <p:spPr>
          <a:xfrm>
            <a:off x="4345035" y="152400"/>
            <a:ext cx="3998213" cy="483870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B"/>
        </a:solidFill>
      </p:bgPr>
    </p:bg>
    <p:spTree>
      <p:nvGrpSpPr>
        <p:cNvPr id="111" name="Shape 111"/>
        <p:cNvGrpSpPr/>
        <p:nvPr/>
      </p:nvGrpSpPr>
      <p:grpSpPr>
        <a:xfrm>
          <a:off x="0" y="0"/>
          <a:ext cx="0" cy="0"/>
          <a:chOff x="0" y="0"/>
          <a:chExt cx="0" cy="0"/>
        </a:xfrm>
      </p:grpSpPr>
      <p:sp>
        <p:nvSpPr>
          <p:cNvPr id="112" name="Google Shape;112;p10"/>
          <p:cNvSpPr/>
          <p:nvPr/>
        </p:nvSpPr>
        <p:spPr>
          <a:xfrm>
            <a:off x="0" y="0"/>
            <a:ext cx="9144000" cy="822960"/>
          </a:xfrm>
          <a:prstGeom prst="rect">
            <a:avLst/>
          </a:prstGeom>
          <a:solidFill>
            <a:srgbClr val="0F20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0"/>
          <p:cNvSpPr/>
          <p:nvPr/>
        </p:nvSpPr>
        <p:spPr>
          <a:xfrm>
            <a:off x="731520" y="91440"/>
            <a:ext cx="76809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Trebuchet MS"/>
              <a:buNone/>
            </a:pPr>
            <a:r>
              <a:rPr b="1" i="0" lang="en-US" sz="2600" u="none" cap="none" strike="noStrike">
                <a:solidFill>
                  <a:srgbClr val="FFFFFF"/>
                </a:solidFill>
                <a:latin typeface="Trebuchet MS"/>
                <a:ea typeface="Trebuchet MS"/>
                <a:cs typeface="Trebuchet MS"/>
                <a:sym typeface="Trebuchet MS"/>
              </a:rPr>
              <a:t>Notebook 4: Style Embedding — DJI-day (idx=3)</a:t>
            </a:r>
            <a:endParaRPr b="0" i="0" sz="2600" u="none" cap="none" strike="noStrike">
              <a:solidFill>
                <a:schemeClr val="dk1"/>
              </a:solidFill>
              <a:latin typeface="Calibri"/>
              <a:ea typeface="Calibri"/>
              <a:cs typeface="Calibri"/>
              <a:sym typeface="Calibri"/>
            </a:endParaRPr>
          </a:p>
        </p:txBody>
      </p:sp>
      <p:sp>
        <p:nvSpPr>
          <p:cNvPr id="114" name="Google Shape;114;p10"/>
          <p:cNvSpPr/>
          <p:nvPr/>
        </p:nvSpPr>
        <p:spPr>
          <a:xfrm>
            <a:off x="548640" y="960120"/>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Model: L-2-concat  |  Style: DJI-day (dataset_idx=3)  |  6 test pairs — exploring dataset-specific style conditioning</a:t>
            </a:r>
            <a:endParaRPr b="0" i="0" sz="1000" u="none" cap="none" strike="noStrike">
              <a:solidFill>
                <a:schemeClr val="dk1"/>
              </a:solidFill>
              <a:latin typeface="Calibri"/>
              <a:ea typeface="Calibri"/>
              <a:cs typeface="Calibri"/>
              <a:sym typeface="Calibri"/>
            </a:endParaRPr>
          </a:p>
        </p:txBody>
      </p:sp>
      <p:graphicFrame>
        <p:nvGraphicFramePr>
          <p:cNvPr id="115" name="Google Shape;115;p10"/>
          <p:cNvGraphicFramePr/>
          <p:nvPr/>
        </p:nvGraphicFramePr>
        <p:xfrm>
          <a:off x="457200" y="1325880"/>
          <a:ext cx="3000000" cy="3000000"/>
        </p:xfrm>
        <a:graphic>
          <a:graphicData uri="http://schemas.openxmlformats.org/drawingml/2006/table">
            <a:tbl>
              <a:tblPr>
                <a:noFill/>
                <a:tableStyleId>{7D4AC65A-F673-44A1-84F2-F6B31DA8BB3A}</a:tableStyleId>
              </a:tblPr>
              <a:tblGrid>
                <a:gridCol w="1097275"/>
                <a:gridCol w="1097275"/>
                <a:gridCol w="1097275"/>
                <a:gridCol w="1097275"/>
              </a:tblGrid>
              <a:tr h="274325">
                <a:tc>
                  <a:txBody>
                    <a:bodyPr/>
                    <a:lstStyle/>
                    <a:p>
                      <a:pPr indent="0" lvl="0" marL="0" marR="0" rtl="0" algn="l">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Sample</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0F2027"/>
                    </a:solidFill>
                  </a:tcPr>
                </a:tc>
                <a:tc>
                  <a:txBody>
                    <a:bodyPr/>
                    <a:lstStyle/>
                    <a:p>
                      <a:pPr indent="0" lvl="0" marL="0" marR="0" rtl="0" algn="ctr">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PSNR ↑</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0F2027"/>
                    </a:solidFill>
                  </a:tcPr>
                </a:tc>
                <a:tc>
                  <a:txBody>
                    <a:bodyPr/>
                    <a:lstStyle/>
                    <a:p>
                      <a:pPr indent="0" lvl="0" marL="0" marR="0" rtl="0" algn="ctr">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SSIM ↑</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0F2027"/>
                    </a:solidFill>
                  </a:tcPr>
                </a:tc>
                <a:tc>
                  <a:txBody>
                    <a:bodyPr/>
                    <a:lstStyle/>
                    <a:p>
                      <a:pPr indent="0" lvl="0" marL="0" marR="0" rtl="0" algn="ctr">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LPIPS ↓</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0F2027"/>
                    </a:solidFill>
                  </a:tcPr>
                </a:tc>
              </a:tr>
              <a:tr h="256025">
                <a:tc>
                  <a:txBody>
                    <a:bodyPr/>
                    <a:lstStyle/>
                    <a:p>
                      <a:pPr indent="0" lvl="0" marL="0" marR="0" rtl="0" algn="l">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0.JPG</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6.0508</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0.1309</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0.5912</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r>
              <a:tr h="256025">
                <a:tc>
                  <a:txBody>
                    <a:bodyPr/>
                    <a:lstStyle/>
                    <a:p>
                      <a:pPr indent="0" lvl="0" marL="0" marR="0" rtl="0" algn="l">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1.JPG</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8.6858</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0.1661</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0.5698</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56025">
                <a:tc>
                  <a:txBody>
                    <a:bodyPr/>
                    <a:lstStyle/>
                    <a:p>
                      <a:pPr indent="0" lvl="0" marL="0" marR="0" rtl="0" algn="l">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5.JPG</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6.0806</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0.2375</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0.6736</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r>
              <a:tr h="256025">
                <a:tc>
                  <a:txBody>
                    <a:bodyPr/>
                    <a:lstStyle/>
                    <a:p>
                      <a:pPr indent="0" lvl="0" marL="0" marR="0" rtl="0" algn="l">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57.JPG</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5.6698</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0.2016</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0.6981</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56025">
                <a:tc>
                  <a:txBody>
                    <a:bodyPr/>
                    <a:lstStyle/>
                    <a:p>
                      <a:pPr indent="0" lvl="0" marL="0" marR="0" rtl="0" algn="l">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58.JPG</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6.9923</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0.1678</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0.6073</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r>
              <a:tr h="256025">
                <a:tc>
                  <a:txBody>
                    <a:bodyPr/>
                    <a:lstStyle/>
                    <a:p>
                      <a:pPr indent="0" lvl="0" marL="0" marR="0" rtl="0" algn="l">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62.JPG</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10.9044</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0.2375</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900"/>
                        <a:buFont typeface="Calibri"/>
                        <a:buNone/>
                      </a:pPr>
                      <a:r>
                        <a:rPr lang="en-US" sz="900" u="none" cap="none" strike="noStrike">
                          <a:solidFill>
                            <a:srgbClr val="1E293B"/>
                          </a:solidFill>
                          <a:latin typeface="Calibri"/>
                          <a:ea typeface="Calibri"/>
                          <a:cs typeface="Calibri"/>
                          <a:sym typeface="Calibri"/>
                        </a:rPr>
                        <a:t>0.5084</a:t>
                      </a:r>
                      <a:endParaRPr sz="9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Mean</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85D26"/>
                    </a:solidFill>
                  </a:tcPr>
                </a:tc>
                <a:tc>
                  <a:txBody>
                    <a:bodyPr/>
                    <a:lstStyle/>
                    <a:p>
                      <a:pPr indent="0" lvl="0" marL="0" marR="0" rtl="0" algn="ctr">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7.397</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85D26"/>
                    </a:solidFill>
                  </a:tcPr>
                </a:tc>
                <a:tc>
                  <a:txBody>
                    <a:bodyPr/>
                    <a:lstStyle/>
                    <a:p>
                      <a:pPr indent="0" lvl="0" marL="0" marR="0" rtl="0" algn="ctr">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0.190</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85D26"/>
                    </a:solidFill>
                  </a:tcPr>
                </a:tc>
                <a:tc>
                  <a:txBody>
                    <a:bodyPr/>
                    <a:lstStyle/>
                    <a:p>
                      <a:pPr indent="0" lvl="0" marL="0" marR="0" rtl="0" algn="ctr">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0.608</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85D26"/>
                    </a:solidFill>
                  </a:tcPr>
                </a:tc>
              </a:tr>
            </a:tbl>
          </a:graphicData>
        </a:graphic>
      </p:graphicFrame>
      <p:sp>
        <p:nvSpPr>
          <p:cNvPr id="116" name="Google Shape;116;p10"/>
          <p:cNvSpPr/>
          <p:nvPr/>
        </p:nvSpPr>
        <p:spPr>
          <a:xfrm>
            <a:off x="5303520" y="1325880"/>
            <a:ext cx="3474720" cy="960120"/>
          </a:xfrm>
          <a:prstGeom prst="rect">
            <a:avLst/>
          </a:prstGeom>
          <a:solidFill>
            <a:srgbClr val="FFFFFF"/>
          </a:solidFill>
          <a:ln>
            <a:noFill/>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0"/>
          <p:cNvSpPr/>
          <p:nvPr/>
        </p:nvSpPr>
        <p:spPr>
          <a:xfrm>
            <a:off x="5303520" y="1325880"/>
            <a:ext cx="64008" cy="96012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0"/>
          <p:cNvSpPr/>
          <p:nvPr/>
        </p:nvSpPr>
        <p:spPr>
          <a:xfrm>
            <a:off x="5532120" y="1344168"/>
            <a:ext cx="1911096" cy="576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3000"/>
              <a:buFont typeface="Trebuchet MS"/>
              <a:buNone/>
            </a:pPr>
            <a:r>
              <a:rPr b="1" i="0" lang="en-US" sz="3000" u="none" cap="none" strike="noStrike">
                <a:solidFill>
                  <a:srgbClr val="7C3AED"/>
                </a:solidFill>
                <a:latin typeface="Trebuchet MS"/>
                <a:ea typeface="Trebuchet MS"/>
                <a:cs typeface="Trebuchet MS"/>
                <a:sym typeface="Trebuchet MS"/>
              </a:rPr>
              <a:t>7.40</a:t>
            </a:r>
            <a:endParaRPr b="0" i="0" sz="3000" u="none" cap="none" strike="noStrike">
              <a:solidFill>
                <a:schemeClr val="dk1"/>
              </a:solidFill>
              <a:latin typeface="Calibri"/>
              <a:ea typeface="Calibri"/>
              <a:cs typeface="Calibri"/>
              <a:sym typeface="Calibri"/>
            </a:endParaRPr>
          </a:p>
        </p:txBody>
      </p:sp>
      <p:sp>
        <p:nvSpPr>
          <p:cNvPr id="119" name="Google Shape;119;p10"/>
          <p:cNvSpPr/>
          <p:nvPr/>
        </p:nvSpPr>
        <p:spPr>
          <a:xfrm>
            <a:off x="7388352" y="1399032"/>
            <a:ext cx="121615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Trebuchet MS"/>
              <a:buNone/>
            </a:pPr>
            <a:r>
              <a:rPr b="1" i="0" lang="en-US" sz="1300" u="none" cap="none" strike="noStrike">
                <a:solidFill>
                  <a:srgbClr val="1E293B"/>
                </a:solidFill>
                <a:latin typeface="Trebuchet MS"/>
                <a:ea typeface="Trebuchet MS"/>
                <a:cs typeface="Trebuchet MS"/>
                <a:sym typeface="Trebuchet MS"/>
              </a:rPr>
              <a:t>PSNR</a:t>
            </a:r>
            <a:endParaRPr b="0" i="0" sz="1300" u="none" cap="none" strike="noStrike">
              <a:solidFill>
                <a:schemeClr val="dk1"/>
              </a:solidFill>
              <a:latin typeface="Calibri"/>
              <a:ea typeface="Calibri"/>
              <a:cs typeface="Calibri"/>
              <a:sym typeface="Calibri"/>
            </a:endParaRPr>
          </a:p>
        </p:txBody>
      </p:sp>
      <p:sp>
        <p:nvSpPr>
          <p:cNvPr id="120" name="Google Shape;120;p10"/>
          <p:cNvSpPr/>
          <p:nvPr/>
        </p:nvSpPr>
        <p:spPr>
          <a:xfrm>
            <a:off x="5532120" y="1901952"/>
            <a:ext cx="3108960" cy="336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Peak Signal-to-Noise Ratio</a:t>
            </a:r>
            <a:endParaRPr b="0" i="0" sz="900" u="none" cap="none" strike="noStrike">
              <a:solidFill>
                <a:schemeClr val="dk1"/>
              </a:solidFill>
              <a:latin typeface="Calibri"/>
              <a:ea typeface="Calibri"/>
              <a:cs typeface="Calibri"/>
              <a:sym typeface="Calibri"/>
            </a:endParaRPr>
          </a:p>
        </p:txBody>
      </p:sp>
      <p:sp>
        <p:nvSpPr>
          <p:cNvPr id="121" name="Google Shape;121;p10"/>
          <p:cNvSpPr/>
          <p:nvPr/>
        </p:nvSpPr>
        <p:spPr>
          <a:xfrm>
            <a:off x="5303520" y="2423160"/>
            <a:ext cx="3474720" cy="960120"/>
          </a:xfrm>
          <a:prstGeom prst="rect">
            <a:avLst/>
          </a:prstGeom>
          <a:solidFill>
            <a:srgbClr val="FFFFFF"/>
          </a:solidFill>
          <a:ln>
            <a:noFill/>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0"/>
          <p:cNvSpPr/>
          <p:nvPr/>
        </p:nvSpPr>
        <p:spPr>
          <a:xfrm>
            <a:off x="5303520" y="2423160"/>
            <a:ext cx="64008" cy="96012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0"/>
          <p:cNvSpPr/>
          <p:nvPr/>
        </p:nvSpPr>
        <p:spPr>
          <a:xfrm>
            <a:off x="5532120" y="2441448"/>
            <a:ext cx="1911096" cy="576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3000"/>
              <a:buFont typeface="Trebuchet MS"/>
              <a:buNone/>
            </a:pPr>
            <a:r>
              <a:rPr b="1" i="0" lang="en-US" sz="3000" u="none" cap="none" strike="noStrike">
                <a:solidFill>
                  <a:srgbClr val="7C3AED"/>
                </a:solidFill>
                <a:latin typeface="Trebuchet MS"/>
                <a:ea typeface="Trebuchet MS"/>
                <a:cs typeface="Trebuchet MS"/>
                <a:sym typeface="Trebuchet MS"/>
              </a:rPr>
              <a:t>0.190</a:t>
            </a:r>
            <a:endParaRPr b="0" i="0" sz="3000" u="none" cap="none" strike="noStrike">
              <a:solidFill>
                <a:schemeClr val="dk1"/>
              </a:solidFill>
              <a:latin typeface="Calibri"/>
              <a:ea typeface="Calibri"/>
              <a:cs typeface="Calibri"/>
              <a:sym typeface="Calibri"/>
            </a:endParaRPr>
          </a:p>
        </p:txBody>
      </p:sp>
      <p:sp>
        <p:nvSpPr>
          <p:cNvPr id="124" name="Google Shape;124;p10"/>
          <p:cNvSpPr/>
          <p:nvPr/>
        </p:nvSpPr>
        <p:spPr>
          <a:xfrm>
            <a:off x="7388352" y="2496312"/>
            <a:ext cx="121615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Trebuchet MS"/>
              <a:buNone/>
            </a:pPr>
            <a:r>
              <a:rPr b="1" i="0" lang="en-US" sz="1300" u="none" cap="none" strike="noStrike">
                <a:solidFill>
                  <a:srgbClr val="1E293B"/>
                </a:solidFill>
                <a:latin typeface="Trebuchet MS"/>
                <a:ea typeface="Trebuchet MS"/>
                <a:cs typeface="Trebuchet MS"/>
                <a:sym typeface="Trebuchet MS"/>
              </a:rPr>
              <a:t>SSIM</a:t>
            </a:r>
            <a:endParaRPr b="0" i="0" sz="1300" u="none" cap="none" strike="noStrike">
              <a:solidFill>
                <a:schemeClr val="dk1"/>
              </a:solidFill>
              <a:latin typeface="Calibri"/>
              <a:ea typeface="Calibri"/>
              <a:cs typeface="Calibri"/>
              <a:sym typeface="Calibri"/>
            </a:endParaRPr>
          </a:p>
        </p:txBody>
      </p:sp>
      <p:sp>
        <p:nvSpPr>
          <p:cNvPr id="125" name="Google Shape;125;p10"/>
          <p:cNvSpPr/>
          <p:nvPr/>
        </p:nvSpPr>
        <p:spPr>
          <a:xfrm>
            <a:off x="5532120" y="2999232"/>
            <a:ext cx="3108960" cy="336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Structural Similarity</a:t>
            </a:r>
            <a:endParaRPr b="0" i="0" sz="900" u="none" cap="none" strike="noStrike">
              <a:solidFill>
                <a:schemeClr val="dk1"/>
              </a:solidFill>
              <a:latin typeface="Calibri"/>
              <a:ea typeface="Calibri"/>
              <a:cs typeface="Calibri"/>
              <a:sym typeface="Calibri"/>
            </a:endParaRPr>
          </a:p>
        </p:txBody>
      </p:sp>
      <p:sp>
        <p:nvSpPr>
          <p:cNvPr id="126" name="Google Shape;126;p10"/>
          <p:cNvSpPr/>
          <p:nvPr/>
        </p:nvSpPr>
        <p:spPr>
          <a:xfrm>
            <a:off x="5303520" y="3520440"/>
            <a:ext cx="3474720" cy="960120"/>
          </a:xfrm>
          <a:prstGeom prst="rect">
            <a:avLst/>
          </a:prstGeom>
          <a:solidFill>
            <a:srgbClr val="FFFFFF"/>
          </a:solidFill>
          <a:ln>
            <a:noFill/>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0"/>
          <p:cNvSpPr/>
          <p:nvPr/>
        </p:nvSpPr>
        <p:spPr>
          <a:xfrm>
            <a:off x="5303520" y="3520440"/>
            <a:ext cx="64008" cy="96012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0"/>
          <p:cNvSpPr/>
          <p:nvPr/>
        </p:nvSpPr>
        <p:spPr>
          <a:xfrm>
            <a:off x="5532120" y="3538728"/>
            <a:ext cx="1911096" cy="576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3000"/>
              <a:buFont typeface="Trebuchet MS"/>
              <a:buNone/>
            </a:pPr>
            <a:r>
              <a:rPr b="1" i="0" lang="en-US" sz="3000" u="none" cap="none" strike="noStrike">
                <a:solidFill>
                  <a:srgbClr val="7C3AED"/>
                </a:solidFill>
                <a:latin typeface="Trebuchet MS"/>
                <a:ea typeface="Trebuchet MS"/>
                <a:cs typeface="Trebuchet MS"/>
                <a:sym typeface="Trebuchet MS"/>
              </a:rPr>
              <a:t>0.608</a:t>
            </a:r>
            <a:endParaRPr b="0" i="0" sz="3000" u="none" cap="none" strike="noStrike">
              <a:solidFill>
                <a:schemeClr val="dk1"/>
              </a:solidFill>
              <a:latin typeface="Calibri"/>
              <a:ea typeface="Calibri"/>
              <a:cs typeface="Calibri"/>
              <a:sym typeface="Calibri"/>
            </a:endParaRPr>
          </a:p>
        </p:txBody>
      </p:sp>
      <p:sp>
        <p:nvSpPr>
          <p:cNvPr id="129" name="Google Shape;129;p10"/>
          <p:cNvSpPr/>
          <p:nvPr/>
        </p:nvSpPr>
        <p:spPr>
          <a:xfrm>
            <a:off x="7388352" y="3593592"/>
            <a:ext cx="121615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Trebuchet MS"/>
              <a:buNone/>
            </a:pPr>
            <a:r>
              <a:rPr b="1" i="0" lang="en-US" sz="1300" u="none" cap="none" strike="noStrike">
                <a:solidFill>
                  <a:srgbClr val="1E293B"/>
                </a:solidFill>
                <a:latin typeface="Trebuchet MS"/>
                <a:ea typeface="Trebuchet MS"/>
                <a:cs typeface="Trebuchet MS"/>
                <a:sym typeface="Trebuchet MS"/>
              </a:rPr>
              <a:t>LPIPS</a:t>
            </a:r>
            <a:endParaRPr b="0" i="0" sz="1300" u="none" cap="none" strike="noStrike">
              <a:solidFill>
                <a:schemeClr val="dk1"/>
              </a:solidFill>
              <a:latin typeface="Calibri"/>
              <a:ea typeface="Calibri"/>
              <a:cs typeface="Calibri"/>
              <a:sym typeface="Calibri"/>
            </a:endParaRPr>
          </a:p>
        </p:txBody>
      </p:sp>
      <p:sp>
        <p:nvSpPr>
          <p:cNvPr id="130" name="Google Shape;130;p10"/>
          <p:cNvSpPr/>
          <p:nvPr/>
        </p:nvSpPr>
        <p:spPr>
          <a:xfrm>
            <a:off x="5532120" y="4096512"/>
            <a:ext cx="3108960" cy="33604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Perceptual Distance (best)</a:t>
            </a:r>
            <a:endParaRPr b="0" i="0" sz="900" u="none" cap="none" strike="noStrike">
              <a:solidFill>
                <a:schemeClr val="dk1"/>
              </a:solidFill>
              <a:latin typeface="Calibri"/>
              <a:ea typeface="Calibri"/>
              <a:cs typeface="Calibri"/>
              <a:sym typeface="Calibri"/>
            </a:endParaRPr>
          </a:p>
        </p:txBody>
      </p:sp>
      <p:sp>
        <p:nvSpPr>
          <p:cNvPr id="131" name="Google Shape;131;p10"/>
          <p:cNvSpPr/>
          <p:nvPr/>
        </p:nvSpPr>
        <p:spPr>
          <a:xfrm>
            <a:off x="457200" y="4206240"/>
            <a:ext cx="8229600" cy="640200"/>
          </a:xfrm>
          <a:prstGeom prst="rect">
            <a:avLst/>
          </a:prstGeom>
          <a:solidFill>
            <a:srgbClr val="1A3A4A"/>
          </a:solidFill>
          <a:ln>
            <a:noFill/>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0"/>
          <p:cNvSpPr/>
          <p:nvPr/>
        </p:nvSpPr>
        <p:spPr>
          <a:xfrm>
            <a:off x="640080" y="4251960"/>
            <a:ext cx="78638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Style embedding insight: DJI-day style achieves the best LPIPS (0.608) among baseline runs, indicating better perceptual quality, even though pixel-level PSNR/SSIM are slightly lower. This suggests style conditioning helps produce more realistic-looking thermal patterns.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B"/>
        </a:solidFill>
      </p:bgPr>
    </p:bg>
    <p:spTree>
      <p:nvGrpSpPr>
        <p:cNvPr id="137" name="Shape 137"/>
        <p:cNvGrpSpPr/>
        <p:nvPr/>
      </p:nvGrpSpPr>
      <p:grpSpPr>
        <a:xfrm>
          <a:off x="0" y="0"/>
          <a:ext cx="0" cy="0"/>
          <a:chOff x="0" y="0"/>
          <a:chExt cx="0" cy="0"/>
        </a:xfrm>
      </p:grpSpPr>
      <p:sp>
        <p:nvSpPr>
          <p:cNvPr id="138" name="Google Shape;138;p11"/>
          <p:cNvSpPr/>
          <p:nvPr/>
        </p:nvSpPr>
        <p:spPr>
          <a:xfrm>
            <a:off x="0" y="0"/>
            <a:ext cx="9144000" cy="822960"/>
          </a:xfrm>
          <a:prstGeom prst="rect">
            <a:avLst/>
          </a:prstGeom>
          <a:solidFill>
            <a:srgbClr val="0F20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1"/>
          <p:cNvSpPr/>
          <p:nvPr/>
        </p:nvSpPr>
        <p:spPr>
          <a:xfrm>
            <a:off x="731520" y="91440"/>
            <a:ext cx="76809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Trebuchet MS"/>
              <a:buNone/>
            </a:pPr>
            <a:r>
              <a:rPr b="1" i="0" lang="en-US" sz="2600" u="none" cap="none" strike="noStrike">
                <a:solidFill>
                  <a:srgbClr val="FFFFFF"/>
                </a:solidFill>
                <a:latin typeface="Trebuchet MS"/>
                <a:ea typeface="Trebuchet MS"/>
                <a:cs typeface="Trebuchet MS"/>
                <a:sym typeface="Trebuchet MS"/>
              </a:rPr>
              <a:t>Pipeline v2: Refinement U-Net Architecture</a:t>
            </a:r>
            <a:endParaRPr b="0" i="0" sz="2600" u="none" cap="none" strike="noStrike">
              <a:solidFill>
                <a:schemeClr val="dk1"/>
              </a:solidFill>
              <a:latin typeface="Calibri"/>
              <a:ea typeface="Calibri"/>
              <a:cs typeface="Calibri"/>
              <a:sym typeface="Calibri"/>
            </a:endParaRPr>
          </a:p>
        </p:txBody>
      </p:sp>
      <p:sp>
        <p:nvSpPr>
          <p:cNvPr id="140" name="Google Shape;140;p11"/>
          <p:cNvSpPr/>
          <p:nvPr/>
        </p:nvSpPr>
        <p:spPr>
          <a:xfrm>
            <a:off x="548640" y="1051560"/>
            <a:ext cx="4206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D26"/>
              </a:buClr>
              <a:buSzPts val="1800"/>
              <a:buFont typeface="Trebuchet MS"/>
              <a:buNone/>
            </a:pPr>
            <a:r>
              <a:rPr b="1" i="0" lang="en-US" sz="1800" u="none" cap="none" strike="noStrike">
                <a:solidFill>
                  <a:srgbClr val="E85D26"/>
                </a:solidFill>
                <a:latin typeface="Trebuchet MS"/>
                <a:ea typeface="Trebuchet MS"/>
                <a:cs typeface="Trebuchet MS"/>
                <a:sym typeface="Trebuchet MS"/>
              </a:rPr>
              <a:t>Multi-Input Refinement Network</a:t>
            </a:r>
            <a:endParaRPr b="0" i="0" sz="1800" u="none" cap="none" strike="noStrike">
              <a:solidFill>
                <a:schemeClr val="dk1"/>
              </a:solidFill>
              <a:latin typeface="Calibri"/>
              <a:ea typeface="Calibri"/>
              <a:cs typeface="Calibri"/>
              <a:sym typeface="Calibri"/>
            </a:endParaRPr>
          </a:p>
        </p:txBody>
      </p:sp>
      <p:sp>
        <p:nvSpPr>
          <p:cNvPr id="141" name="Google Shape;141;p11"/>
          <p:cNvSpPr/>
          <p:nvPr/>
        </p:nvSpPr>
        <p:spPr>
          <a:xfrm>
            <a:off x="548640" y="1463040"/>
            <a:ext cx="42062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A lightweight U-Net (4.35M params) that refines ThermalGen baseline predictions by incorporating additional contextual signals. The model learns residuals on top of inferno-</a:t>
            </a:r>
            <a:r>
              <a:rPr lang="en-US" sz="1100">
                <a:solidFill>
                  <a:srgbClr val="1E293B"/>
                </a:solidFill>
                <a:latin typeface="Calibri"/>
                <a:ea typeface="Calibri"/>
                <a:cs typeface="Calibri"/>
                <a:sym typeface="Calibri"/>
              </a:rPr>
              <a:t>color mapped</a:t>
            </a:r>
            <a:r>
              <a:rPr b="0" i="0" lang="en-US" sz="1100" u="none" cap="none" strike="noStrike">
                <a:solidFill>
                  <a:srgbClr val="1E293B"/>
                </a:solidFill>
                <a:latin typeface="Calibri"/>
                <a:ea typeface="Calibri"/>
                <a:cs typeface="Calibri"/>
                <a:sym typeface="Calibri"/>
              </a:rPr>
              <a:t> baseline outputs.</a:t>
            </a:r>
            <a:endParaRPr b="0" i="0" sz="1100" u="none" cap="none" strike="noStrike">
              <a:solidFill>
                <a:schemeClr val="dk1"/>
              </a:solidFill>
              <a:latin typeface="Calibri"/>
              <a:ea typeface="Calibri"/>
              <a:cs typeface="Calibri"/>
              <a:sym typeface="Calibri"/>
            </a:endParaRPr>
          </a:p>
        </p:txBody>
      </p:sp>
      <p:pic>
        <p:nvPicPr>
          <p:cNvPr descr="preencoded.png" id="142" name="Google Shape;142;p11"/>
          <p:cNvPicPr preferRelativeResize="0"/>
          <p:nvPr/>
        </p:nvPicPr>
        <p:blipFill rotWithShape="1">
          <a:blip r:embed="rId3">
            <a:alphaModFix/>
          </a:blip>
          <a:srcRect b="0" l="0" r="0" t="0"/>
          <a:stretch/>
        </p:blipFill>
        <p:spPr>
          <a:xfrm>
            <a:off x="548640" y="2441448"/>
            <a:ext cx="320040" cy="320040"/>
          </a:xfrm>
          <a:prstGeom prst="rect">
            <a:avLst/>
          </a:prstGeom>
          <a:noFill/>
          <a:ln>
            <a:noFill/>
          </a:ln>
        </p:spPr>
      </p:pic>
      <p:sp>
        <p:nvSpPr>
          <p:cNvPr id="143" name="Google Shape;143;p11"/>
          <p:cNvSpPr/>
          <p:nvPr/>
        </p:nvSpPr>
        <p:spPr>
          <a:xfrm>
            <a:off x="960120" y="2423160"/>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1" i="0" lang="en-US" sz="1100" u="none" cap="none" strike="noStrike">
                <a:solidFill>
                  <a:srgbClr val="1E293B"/>
                </a:solidFill>
                <a:latin typeface="Calibri"/>
                <a:ea typeface="Calibri"/>
                <a:cs typeface="Calibri"/>
                <a:sym typeface="Calibri"/>
              </a:rPr>
              <a:t>RGB Image</a:t>
            </a:r>
            <a:endParaRPr b="0" i="0" sz="1100" u="none" cap="none" strike="noStrike">
              <a:solidFill>
                <a:schemeClr val="dk1"/>
              </a:solidFill>
              <a:latin typeface="Calibri"/>
              <a:ea typeface="Calibri"/>
              <a:cs typeface="Calibri"/>
              <a:sym typeface="Calibri"/>
            </a:endParaRPr>
          </a:p>
        </p:txBody>
      </p:sp>
      <p:sp>
        <p:nvSpPr>
          <p:cNvPr id="144" name="Google Shape;144;p11"/>
          <p:cNvSpPr/>
          <p:nvPr/>
        </p:nvSpPr>
        <p:spPr>
          <a:xfrm>
            <a:off x="3200400" y="2423160"/>
            <a:ext cx="640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3 ch</a:t>
            </a:r>
            <a:endParaRPr b="0" i="0" sz="1000" u="none" cap="none" strike="noStrike">
              <a:solidFill>
                <a:schemeClr val="dk1"/>
              </a:solidFill>
              <a:latin typeface="Calibri"/>
              <a:ea typeface="Calibri"/>
              <a:cs typeface="Calibri"/>
              <a:sym typeface="Calibri"/>
            </a:endParaRPr>
          </a:p>
        </p:txBody>
      </p:sp>
      <p:pic>
        <p:nvPicPr>
          <p:cNvPr descr="preencoded.png" id="145" name="Google Shape;145;p11"/>
          <p:cNvPicPr preferRelativeResize="0"/>
          <p:nvPr/>
        </p:nvPicPr>
        <p:blipFill rotWithShape="1">
          <a:blip r:embed="rId4">
            <a:alphaModFix/>
          </a:blip>
          <a:srcRect b="0" l="0" r="0" t="0"/>
          <a:stretch/>
        </p:blipFill>
        <p:spPr>
          <a:xfrm>
            <a:off x="548640" y="2944368"/>
            <a:ext cx="320040" cy="320040"/>
          </a:xfrm>
          <a:prstGeom prst="rect">
            <a:avLst/>
          </a:prstGeom>
          <a:noFill/>
          <a:ln>
            <a:noFill/>
          </a:ln>
        </p:spPr>
      </p:pic>
      <p:sp>
        <p:nvSpPr>
          <p:cNvPr id="146" name="Google Shape;146;p11"/>
          <p:cNvSpPr/>
          <p:nvPr/>
        </p:nvSpPr>
        <p:spPr>
          <a:xfrm>
            <a:off x="960120" y="2926080"/>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1" i="0" lang="en-US" sz="1100" u="none" cap="none" strike="noStrike">
                <a:solidFill>
                  <a:srgbClr val="1E293B"/>
                </a:solidFill>
                <a:latin typeface="Calibri"/>
                <a:ea typeface="Calibri"/>
                <a:cs typeface="Calibri"/>
                <a:sym typeface="Calibri"/>
              </a:rPr>
              <a:t>ThermalGen Pred</a:t>
            </a:r>
            <a:endParaRPr b="0" i="0" sz="1100" u="none" cap="none" strike="noStrike">
              <a:solidFill>
                <a:schemeClr val="dk1"/>
              </a:solidFill>
              <a:latin typeface="Calibri"/>
              <a:ea typeface="Calibri"/>
              <a:cs typeface="Calibri"/>
              <a:sym typeface="Calibri"/>
            </a:endParaRPr>
          </a:p>
        </p:txBody>
      </p:sp>
      <p:sp>
        <p:nvSpPr>
          <p:cNvPr id="147" name="Google Shape;147;p11"/>
          <p:cNvSpPr/>
          <p:nvPr/>
        </p:nvSpPr>
        <p:spPr>
          <a:xfrm>
            <a:off x="3200400" y="2926080"/>
            <a:ext cx="640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1 ch</a:t>
            </a:r>
            <a:endParaRPr b="0" i="0" sz="1000" u="none" cap="none" strike="noStrike">
              <a:solidFill>
                <a:schemeClr val="dk1"/>
              </a:solidFill>
              <a:latin typeface="Calibri"/>
              <a:ea typeface="Calibri"/>
              <a:cs typeface="Calibri"/>
              <a:sym typeface="Calibri"/>
            </a:endParaRPr>
          </a:p>
        </p:txBody>
      </p:sp>
      <p:pic>
        <p:nvPicPr>
          <p:cNvPr descr="preencoded.png" id="148" name="Google Shape;148;p11"/>
          <p:cNvPicPr preferRelativeResize="0"/>
          <p:nvPr/>
        </p:nvPicPr>
        <p:blipFill rotWithShape="1">
          <a:blip r:embed="rId5">
            <a:alphaModFix/>
          </a:blip>
          <a:srcRect b="0" l="0" r="0" t="0"/>
          <a:stretch/>
        </p:blipFill>
        <p:spPr>
          <a:xfrm>
            <a:off x="548640" y="3447288"/>
            <a:ext cx="320040" cy="320040"/>
          </a:xfrm>
          <a:prstGeom prst="rect">
            <a:avLst/>
          </a:prstGeom>
          <a:noFill/>
          <a:ln>
            <a:noFill/>
          </a:ln>
        </p:spPr>
      </p:pic>
      <p:sp>
        <p:nvSpPr>
          <p:cNvPr id="149" name="Google Shape;149;p11"/>
          <p:cNvSpPr/>
          <p:nvPr/>
        </p:nvSpPr>
        <p:spPr>
          <a:xfrm>
            <a:off x="960120" y="3429000"/>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1" i="0" lang="en-US" sz="1100" u="none" cap="none" strike="noStrike">
                <a:solidFill>
                  <a:srgbClr val="1E293B"/>
                </a:solidFill>
                <a:latin typeface="Calibri"/>
                <a:ea typeface="Calibri"/>
                <a:cs typeface="Calibri"/>
                <a:sym typeface="Calibri"/>
              </a:rPr>
              <a:t>Inferno Colormap</a:t>
            </a:r>
            <a:endParaRPr b="0" i="0" sz="1100" u="none" cap="none" strike="noStrike">
              <a:solidFill>
                <a:schemeClr val="dk1"/>
              </a:solidFill>
              <a:latin typeface="Calibri"/>
              <a:ea typeface="Calibri"/>
              <a:cs typeface="Calibri"/>
              <a:sym typeface="Calibri"/>
            </a:endParaRPr>
          </a:p>
        </p:txBody>
      </p:sp>
      <p:sp>
        <p:nvSpPr>
          <p:cNvPr id="150" name="Google Shape;150;p11"/>
          <p:cNvSpPr/>
          <p:nvPr/>
        </p:nvSpPr>
        <p:spPr>
          <a:xfrm>
            <a:off x="3200400" y="3429000"/>
            <a:ext cx="640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3 ch</a:t>
            </a:r>
            <a:endParaRPr b="0" i="0" sz="1000" u="none" cap="none" strike="noStrike">
              <a:solidFill>
                <a:schemeClr val="dk1"/>
              </a:solidFill>
              <a:latin typeface="Calibri"/>
              <a:ea typeface="Calibri"/>
              <a:cs typeface="Calibri"/>
              <a:sym typeface="Calibri"/>
            </a:endParaRPr>
          </a:p>
        </p:txBody>
      </p:sp>
      <p:pic>
        <p:nvPicPr>
          <p:cNvPr descr="preencoded.png" id="151" name="Google Shape;151;p11"/>
          <p:cNvPicPr preferRelativeResize="0"/>
          <p:nvPr/>
        </p:nvPicPr>
        <p:blipFill rotWithShape="1">
          <a:blip r:embed="rId6">
            <a:alphaModFix/>
          </a:blip>
          <a:srcRect b="0" l="0" r="0" t="0"/>
          <a:stretch/>
        </p:blipFill>
        <p:spPr>
          <a:xfrm>
            <a:off x="548640" y="3950208"/>
            <a:ext cx="320040" cy="320040"/>
          </a:xfrm>
          <a:prstGeom prst="rect">
            <a:avLst/>
          </a:prstGeom>
          <a:noFill/>
          <a:ln>
            <a:noFill/>
          </a:ln>
        </p:spPr>
      </p:pic>
      <p:sp>
        <p:nvSpPr>
          <p:cNvPr id="152" name="Google Shape;152;p11"/>
          <p:cNvSpPr/>
          <p:nvPr/>
        </p:nvSpPr>
        <p:spPr>
          <a:xfrm>
            <a:off x="960120" y="3931920"/>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1" i="0" lang="en-US" sz="1100" u="none" cap="none" strike="noStrike">
                <a:solidFill>
                  <a:srgbClr val="1E293B"/>
                </a:solidFill>
                <a:latin typeface="Calibri"/>
                <a:ea typeface="Calibri"/>
                <a:cs typeface="Calibri"/>
                <a:sym typeface="Calibri"/>
              </a:rPr>
              <a:t>Weather Data</a:t>
            </a:r>
            <a:endParaRPr b="0" i="0" sz="1100" u="none" cap="none" strike="noStrike">
              <a:solidFill>
                <a:schemeClr val="dk1"/>
              </a:solidFill>
              <a:latin typeface="Calibri"/>
              <a:ea typeface="Calibri"/>
              <a:cs typeface="Calibri"/>
              <a:sym typeface="Calibri"/>
            </a:endParaRPr>
          </a:p>
        </p:txBody>
      </p:sp>
      <p:sp>
        <p:nvSpPr>
          <p:cNvPr id="153" name="Google Shape;153;p11"/>
          <p:cNvSpPr/>
          <p:nvPr/>
        </p:nvSpPr>
        <p:spPr>
          <a:xfrm>
            <a:off x="3200400" y="3931920"/>
            <a:ext cx="640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4 ch</a:t>
            </a:r>
            <a:endParaRPr b="0" i="0" sz="1000" u="none" cap="none" strike="noStrike">
              <a:solidFill>
                <a:schemeClr val="dk1"/>
              </a:solidFill>
              <a:latin typeface="Calibri"/>
              <a:ea typeface="Calibri"/>
              <a:cs typeface="Calibri"/>
              <a:sym typeface="Calibri"/>
            </a:endParaRPr>
          </a:p>
        </p:txBody>
      </p:sp>
      <p:pic>
        <p:nvPicPr>
          <p:cNvPr descr="preencoded.png" id="154" name="Google Shape;154;p11"/>
          <p:cNvPicPr preferRelativeResize="0"/>
          <p:nvPr/>
        </p:nvPicPr>
        <p:blipFill rotWithShape="1">
          <a:blip r:embed="rId7">
            <a:alphaModFix/>
          </a:blip>
          <a:srcRect b="0" l="0" r="0" t="0"/>
          <a:stretch/>
        </p:blipFill>
        <p:spPr>
          <a:xfrm>
            <a:off x="548640" y="4453128"/>
            <a:ext cx="320040" cy="320040"/>
          </a:xfrm>
          <a:prstGeom prst="rect">
            <a:avLst/>
          </a:prstGeom>
          <a:noFill/>
          <a:ln>
            <a:noFill/>
          </a:ln>
        </p:spPr>
      </p:pic>
      <p:sp>
        <p:nvSpPr>
          <p:cNvPr id="155" name="Google Shape;155;p11"/>
          <p:cNvSpPr/>
          <p:nvPr/>
        </p:nvSpPr>
        <p:spPr>
          <a:xfrm>
            <a:off x="960120" y="4434840"/>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1" i="0" lang="en-US" sz="1100" u="none" cap="none" strike="noStrike">
                <a:solidFill>
                  <a:srgbClr val="1E293B"/>
                </a:solidFill>
                <a:latin typeface="Calibri"/>
                <a:ea typeface="Calibri"/>
                <a:cs typeface="Calibri"/>
                <a:sym typeface="Calibri"/>
              </a:rPr>
              <a:t>AlphaEarth Embed.</a:t>
            </a:r>
            <a:endParaRPr b="0" i="0" sz="1100" u="none" cap="none" strike="noStrike">
              <a:solidFill>
                <a:schemeClr val="dk1"/>
              </a:solidFill>
              <a:latin typeface="Calibri"/>
              <a:ea typeface="Calibri"/>
              <a:cs typeface="Calibri"/>
              <a:sym typeface="Calibri"/>
            </a:endParaRPr>
          </a:p>
        </p:txBody>
      </p:sp>
      <p:sp>
        <p:nvSpPr>
          <p:cNvPr id="156" name="Google Shape;156;p11"/>
          <p:cNvSpPr/>
          <p:nvPr/>
        </p:nvSpPr>
        <p:spPr>
          <a:xfrm>
            <a:off x="3200400" y="4434840"/>
            <a:ext cx="640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8 ch</a:t>
            </a:r>
            <a:endParaRPr b="0" i="0" sz="1000" u="none" cap="none" strike="noStrike">
              <a:solidFill>
                <a:schemeClr val="dk1"/>
              </a:solidFill>
              <a:latin typeface="Calibri"/>
              <a:ea typeface="Calibri"/>
              <a:cs typeface="Calibri"/>
              <a:sym typeface="Calibri"/>
            </a:endParaRPr>
          </a:p>
        </p:txBody>
      </p:sp>
      <p:sp>
        <p:nvSpPr>
          <p:cNvPr id="157" name="Google Shape;157;p11"/>
          <p:cNvSpPr/>
          <p:nvPr/>
        </p:nvSpPr>
        <p:spPr>
          <a:xfrm>
            <a:off x="548640" y="493776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D26"/>
              </a:buClr>
              <a:buSzPts val="1000"/>
              <a:buFont typeface="Trebuchet MS"/>
              <a:buNone/>
            </a:pPr>
            <a:r>
              <a:rPr b="1" i="0" lang="en-US" sz="1000" u="none" cap="none" strike="noStrike">
                <a:solidFill>
                  <a:srgbClr val="E85D26"/>
                </a:solidFill>
                <a:latin typeface="Trebuchet MS"/>
                <a:ea typeface="Trebuchet MS"/>
                <a:cs typeface="Trebuchet MS"/>
                <a:sym typeface="Trebuchet MS"/>
              </a:rPr>
              <a:t>Total: 19 input channels</a:t>
            </a:r>
            <a:endParaRPr b="0" i="0" sz="1000" u="none" cap="none" strike="noStrike">
              <a:solidFill>
                <a:schemeClr val="dk1"/>
              </a:solidFill>
              <a:latin typeface="Calibri"/>
              <a:ea typeface="Calibri"/>
              <a:cs typeface="Calibri"/>
              <a:sym typeface="Calibri"/>
            </a:endParaRPr>
          </a:p>
        </p:txBody>
      </p:sp>
      <p:sp>
        <p:nvSpPr>
          <p:cNvPr id="158" name="Google Shape;158;p11"/>
          <p:cNvSpPr/>
          <p:nvPr/>
        </p:nvSpPr>
        <p:spPr>
          <a:xfrm>
            <a:off x="4846320" y="1051560"/>
            <a:ext cx="4023360" cy="3931920"/>
          </a:xfrm>
          <a:prstGeom prst="rect">
            <a:avLst/>
          </a:prstGeom>
          <a:solidFill>
            <a:srgbClr val="0F2027"/>
          </a:solidFill>
          <a:ln>
            <a:noFill/>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1"/>
          <p:cNvSpPr/>
          <p:nvPr/>
        </p:nvSpPr>
        <p:spPr>
          <a:xfrm>
            <a:off x="5029200" y="114300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1600"/>
              <a:buFont typeface="Trebuchet MS"/>
              <a:buNone/>
            </a:pPr>
            <a:r>
              <a:rPr b="1" i="0" lang="en-US" sz="1600" u="none" cap="none" strike="noStrike">
                <a:solidFill>
                  <a:srgbClr val="F4A261"/>
                </a:solidFill>
                <a:latin typeface="Trebuchet MS"/>
                <a:ea typeface="Trebuchet MS"/>
                <a:cs typeface="Trebuchet MS"/>
                <a:sym typeface="Trebuchet MS"/>
              </a:rPr>
              <a:t>Architecture Details</a:t>
            </a:r>
            <a:endParaRPr b="0" i="0" sz="1600" u="none" cap="none" strike="noStrike">
              <a:solidFill>
                <a:schemeClr val="dk1"/>
              </a:solidFill>
              <a:latin typeface="Calibri"/>
              <a:ea typeface="Calibri"/>
              <a:cs typeface="Calibri"/>
              <a:sym typeface="Calibri"/>
            </a:endParaRPr>
          </a:p>
        </p:txBody>
      </p:sp>
      <p:sp>
        <p:nvSpPr>
          <p:cNvPr id="160" name="Google Shape;160;p11"/>
          <p:cNvSpPr/>
          <p:nvPr/>
        </p:nvSpPr>
        <p:spPr>
          <a:xfrm>
            <a:off x="5029200" y="1554480"/>
            <a:ext cx="3657600" cy="32004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FFFFFF"/>
              </a:buClr>
              <a:buSzPts val="1000"/>
              <a:buFont typeface="Calibri"/>
              <a:buChar char="•"/>
            </a:pPr>
            <a:r>
              <a:rPr b="0" i="0" lang="en-US" sz="1000" u="none" cap="none" strike="noStrike">
                <a:solidFill>
                  <a:srgbClr val="FFFFFF"/>
                </a:solidFill>
                <a:latin typeface="Calibri"/>
                <a:ea typeface="Calibri"/>
                <a:cs typeface="Calibri"/>
                <a:sym typeface="Calibri"/>
              </a:rPr>
              <a:t>Encoder: 3 conv blocks (48→96→192 channels) with max-pooling</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FFFFFF"/>
              </a:buClr>
              <a:buSzPts val="1000"/>
              <a:buFont typeface="Calibri"/>
              <a:buChar char="•"/>
            </a:pPr>
            <a:r>
              <a:rPr b="0" i="0" lang="en-US" sz="1000" u="none" cap="none" strike="noStrike">
                <a:solidFill>
                  <a:srgbClr val="FFFFFF"/>
                </a:solidFill>
                <a:latin typeface="Calibri"/>
                <a:ea typeface="Calibri"/>
                <a:cs typeface="Calibri"/>
                <a:sym typeface="Calibri"/>
              </a:rPr>
              <a:t>Bottleneck: 384-channel conv block</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FFFFFF"/>
              </a:buClr>
              <a:buSzPts val="1000"/>
              <a:buFont typeface="Calibri"/>
              <a:buChar char="•"/>
            </a:pPr>
            <a:r>
              <a:rPr b="0" i="0" lang="en-US" sz="1000" u="none" cap="none" strike="noStrike">
                <a:solidFill>
                  <a:srgbClr val="FFFFFF"/>
                </a:solidFill>
                <a:latin typeface="Calibri"/>
                <a:ea typeface="Calibri"/>
                <a:cs typeface="Calibri"/>
                <a:sym typeface="Calibri"/>
              </a:rPr>
              <a:t>Decoder: 3 upsampling blocks with skip connections</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FFFFFF"/>
              </a:buClr>
              <a:buSzPts val="1000"/>
              <a:buFont typeface="Calibri"/>
              <a:buChar char="•"/>
            </a:pPr>
            <a:r>
              <a:rPr lang="en-US" sz="1000">
                <a:solidFill>
                  <a:srgbClr val="FFFFFF"/>
                </a:solidFill>
                <a:latin typeface="Calibri"/>
                <a:ea typeface="Calibri"/>
                <a:cs typeface="Calibri"/>
                <a:sym typeface="Calibri"/>
              </a:rPr>
              <a:t>Condition Injector</a:t>
            </a:r>
            <a:r>
              <a:rPr b="0" i="0" lang="en-US" sz="1000" u="none" cap="none" strike="noStrike">
                <a:solidFill>
                  <a:srgbClr val="FFFFFF"/>
                </a:solidFill>
                <a:latin typeface="Calibri"/>
                <a:ea typeface="Calibri"/>
                <a:cs typeface="Calibri"/>
                <a:sym typeface="Calibri"/>
              </a:rPr>
              <a:t> MLPs for weather (8→4) and AlphaEarth (64→8) features spatially broadcast</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FFFFFF"/>
              </a:buClr>
              <a:buSzPts val="1000"/>
              <a:buFont typeface="Calibri"/>
              <a:buChar char="•"/>
            </a:pPr>
            <a:r>
              <a:rPr b="0" i="0" lang="en-US" sz="1000" u="none" cap="none" strike="noStrike">
                <a:solidFill>
                  <a:srgbClr val="FFFFFF"/>
                </a:solidFill>
                <a:latin typeface="Calibri"/>
                <a:ea typeface="Calibri"/>
                <a:cs typeface="Calibri"/>
                <a:sym typeface="Calibri"/>
              </a:rPr>
              <a:t>Output: residual + inferno baseline, clamped to [0,1]</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FFFFFF"/>
              </a:buClr>
              <a:buSzPts val="1000"/>
              <a:buFont typeface="Calibri"/>
              <a:buChar char="•"/>
            </a:pPr>
            <a:r>
              <a:rPr b="0" i="0" lang="en-US" sz="1000" u="none" cap="none" strike="noStrike">
                <a:solidFill>
                  <a:srgbClr val="FFFFFF"/>
                </a:solidFill>
                <a:latin typeface="Calibri"/>
                <a:ea typeface="Calibri"/>
                <a:cs typeface="Calibri"/>
                <a:sym typeface="Calibri"/>
              </a:rPr>
              <a:t>Loss: L1 + 0.2 × MSE</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FFFFFF"/>
              </a:buClr>
              <a:buSzPts val="1000"/>
              <a:buFont typeface="Calibri"/>
              <a:buChar char="•"/>
            </a:pPr>
            <a:r>
              <a:rPr b="0" i="0" lang="en-US" sz="1000" u="none" cap="none" strike="noStrike">
                <a:solidFill>
                  <a:srgbClr val="FFFFFF"/>
                </a:solidFill>
                <a:latin typeface="Calibri"/>
                <a:ea typeface="Calibri"/>
                <a:cs typeface="Calibri"/>
                <a:sym typeface="Calibri"/>
              </a:rPr>
              <a:t>Optimizer: AdamW (lr=5e-4) + Cosine Annealing</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FFFFFF"/>
              </a:buClr>
              <a:buSzPts val="1000"/>
              <a:buFont typeface="Calibri"/>
              <a:buChar char="•"/>
            </a:pPr>
            <a:r>
              <a:rPr b="0" i="0" lang="en-US" sz="1000" u="none" cap="none" strike="noStrike">
                <a:solidFill>
                  <a:srgbClr val="FFFFFF"/>
                </a:solidFill>
                <a:latin typeface="Calibri"/>
                <a:ea typeface="Calibri"/>
                <a:cs typeface="Calibri"/>
                <a:sym typeface="Calibri"/>
              </a:rPr>
              <a:t>Training: 100 epochs, batch_size=4, early stopping (patience=15)</a:t>
            </a:r>
            <a:endParaRPr b="0" i="0" sz="1000" u="none" cap="none" strike="noStrike">
              <a:solidFill>
                <a:schemeClr val="dk1"/>
              </a:solidFill>
              <a:latin typeface="Calibri"/>
              <a:ea typeface="Calibri"/>
              <a:cs typeface="Calibri"/>
              <a:sym typeface="Calibri"/>
            </a:endParaRPr>
          </a:p>
        </p:txBody>
      </p:sp>
      <p:sp>
        <p:nvSpPr>
          <p:cNvPr id="161" name="Google Shape;161;p11"/>
          <p:cNvSpPr/>
          <p:nvPr/>
        </p:nvSpPr>
        <p:spPr>
          <a:xfrm>
            <a:off x="4846320" y="4709160"/>
            <a:ext cx="40233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00"/>
              <a:buFont typeface="Calibri"/>
              <a:buNone/>
            </a:pPr>
            <a:r>
              <a:rPr b="0" i="1" lang="en-US" sz="800" u="none" cap="none" strike="noStrike">
                <a:solidFill>
                  <a:srgbClr val="64748B"/>
                </a:solidFill>
                <a:latin typeface="Calibri"/>
                <a:ea typeface="Calibri"/>
                <a:cs typeface="Calibri"/>
                <a:sym typeface="Calibri"/>
              </a:rPr>
              <a:t>GPU: NVIDIA RTX A6000  |  Dataset: 418 train (377/41 split), 202 test</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B"/>
        </a:solidFill>
      </p:bgPr>
    </p:bg>
    <p:spTree>
      <p:nvGrpSpPr>
        <p:cNvPr id="166" name="Shape 166"/>
        <p:cNvGrpSpPr/>
        <p:nvPr/>
      </p:nvGrpSpPr>
      <p:grpSpPr>
        <a:xfrm>
          <a:off x="0" y="0"/>
          <a:ext cx="0" cy="0"/>
          <a:chOff x="0" y="0"/>
          <a:chExt cx="0" cy="0"/>
        </a:xfrm>
      </p:grpSpPr>
      <p:sp>
        <p:nvSpPr>
          <p:cNvPr id="167" name="Google Shape;167;p12"/>
          <p:cNvSpPr/>
          <p:nvPr/>
        </p:nvSpPr>
        <p:spPr>
          <a:xfrm>
            <a:off x="0" y="0"/>
            <a:ext cx="9144000" cy="822900"/>
          </a:xfrm>
          <a:prstGeom prst="rect">
            <a:avLst/>
          </a:prstGeom>
          <a:solidFill>
            <a:srgbClr val="0F20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2"/>
          <p:cNvSpPr/>
          <p:nvPr/>
        </p:nvSpPr>
        <p:spPr>
          <a:xfrm>
            <a:off x="731520" y="91440"/>
            <a:ext cx="76809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Trebuchet MS"/>
              <a:buNone/>
            </a:pPr>
            <a:r>
              <a:rPr b="1" i="0" lang="en-US" sz="2600" u="none" cap="none" strike="noStrike">
                <a:solidFill>
                  <a:srgbClr val="FFFFFF"/>
                </a:solidFill>
                <a:latin typeface="Trebuchet MS"/>
                <a:ea typeface="Trebuchet MS"/>
                <a:cs typeface="Trebuchet MS"/>
                <a:sym typeface="Trebuchet MS"/>
              </a:rPr>
              <a:t>Refinement Results</a:t>
            </a:r>
            <a:endParaRPr b="0" i="0" sz="2600" u="none" cap="none" strike="noStrike">
              <a:solidFill>
                <a:schemeClr val="dk1"/>
              </a:solidFill>
              <a:latin typeface="Calibri"/>
              <a:ea typeface="Calibri"/>
              <a:cs typeface="Calibri"/>
              <a:sym typeface="Calibri"/>
            </a:endParaRPr>
          </a:p>
        </p:txBody>
      </p:sp>
      <p:pic>
        <p:nvPicPr>
          <p:cNvPr id="169" name="Google Shape;169;p12" title="Screenshot 2026-03-25 at 1.01.37 PM.png"/>
          <p:cNvPicPr preferRelativeResize="0"/>
          <p:nvPr/>
        </p:nvPicPr>
        <p:blipFill>
          <a:blip r:embed="rId3">
            <a:alphaModFix/>
          </a:blip>
          <a:stretch>
            <a:fillRect/>
          </a:stretch>
        </p:blipFill>
        <p:spPr>
          <a:xfrm>
            <a:off x="0" y="822900"/>
            <a:ext cx="4651325" cy="2406250"/>
          </a:xfrm>
          <a:prstGeom prst="rect">
            <a:avLst/>
          </a:prstGeom>
          <a:noFill/>
          <a:ln>
            <a:noFill/>
          </a:ln>
        </p:spPr>
      </p:pic>
      <p:pic>
        <p:nvPicPr>
          <p:cNvPr id="170" name="Google Shape;170;p12" title="Screenshot 2026-03-25 at 1.02.00 PM.png"/>
          <p:cNvPicPr preferRelativeResize="0"/>
          <p:nvPr/>
        </p:nvPicPr>
        <p:blipFill>
          <a:blip r:embed="rId4">
            <a:alphaModFix/>
          </a:blip>
          <a:stretch>
            <a:fillRect/>
          </a:stretch>
        </p:blipFill>
        <p:spPr>
          <a:xfrm>
            <a:off x="4759250" y="938213"/>
            <a:ext cx="4187876" cy="326706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B"/>
        </a:solidFill>
      </p:bgPr>
    </p:bg>
    <p:spTree>
      <p:nvGrpSpPr>
        <p:cNvPr id="175" name="Shape 175"/>
        <p:cNvGrpSpPr/>
        <p:nvPr/>
      </p:nvGrpSpPr>
      <p:grpSpPr>
        <a:xfrm>
          <a:off x="0" y="0"/>
          <a:ext cx="0" cy="0"/>
          <a:chOff x="0" y="0"/>
          <a:chExt cx="0" cy="0"/>
        </a:xfrm>
      </p:grpSpPr>
      <p:sp>
        <p:nvSpPr>
          <p:cNvPr id="176" name="Google Shape;176;p13"/>
          <p:cNvSpPr/>
          <p:nvPr/>
        </p:nvSpPr>
        <p:spPr>
          <a:xfrm>
            <a:off x="0" y="0"/>
            <a:ext cx="9144000" cy="822960"/>
          </a:xfrm>
          <a:prstGeom prst="rect">
            <a:avLst/>
          </a:prstGeom>
          <a:solidFill>
            <a:srgbClr val="0F20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3"/>
          <p:cNvSpPr/>
          <p:nvPr/>
        </p:nvSpPr>
        <p:spPr>
          <a:xfrm>
            <a:off x="731520" y="91440"/>
            <a:ext cx="76809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Trebuchet MS"/>
              <a:buNone/>
            </a:pPr>
            <a:r>
              <a:rPr b="1" i="0" lang="en-US" sz="2600" u="none" cap="none" strike="noStrike">
                <a:solidFill>
                  <a:srgbClr val="FFFFFF"/>
                </a:solidFill>
                <a:latin typeface="Trebuchet MS"/>
                <a:ea typeface="Trebuchet MS"/>
                <a:cs typeface="Trebuchet MS"/>
                <a:sym typeface="Trebuchet MS"/>
              </a:rPr>
              <a:t>Refinement Results: Full Scoreboard</a:t>
            </a:r>
            <a:endParaRPr b="0" i="0" sz="2600" u="none" cap="none" strike="noStrike">
              <a:solidFill>
                <a:schemeClr val="dk1"/>
              </a:solidFill>
              <a:latin typeface="Calibri"/>
              <a:ea typeface="Calibri"/>
              <a:cs typeface="Calibri"/>
              <a:sym typeface="Calibri"/>
            </a:endParaRPr>
          </a:p>
        </p:txBody>
      </p:sp>
      <p:graphicFrame>
        <p:nvGraphicFramePr>
          <p:cNvPr id="178" name="Google Shape;178;p13"/>
          <p:cNvGraphicFramePr/>
          <p:nvPr/>
        </p:nvGraphicFramePr>
        <p:xfrm>
          <a:off x="548640" y="1097280"/>
          <a:ext cx="3000000" cy="3000000"/>
        </p:xfrm>
        <a:graphic>
          <a:graphicData uri="http://schemas.openxmlformats.org/drawingml/2006/table">
            <a:tbl>
              <a:tblPr>
                <a:noFill/>
                <a:tableStyleId>{7D4AC65A-F673-44A1-84F2-F6B31DA8BB3A}</a:tableStyleId>
              </a:tblPr>
              <a:tblGrid>
                <a:gridCol w="1828800"/>
                <a:gridCol w="2011675"/>
                <a:gridCol w="2011675"/>
                <a:gridCol w="2194550"/>
              </a:tblGrid>
              <a:tr h="411475">
                <a:tc>
                  <a:txBody>
                    <a:bodyPr/>
                    <a:lstStyle/>
                    <a:p>
                      <a:pPr indent="0" lvl="0" marL="0" marR="0" rtl="0" algn="l">
                        <a:spcBef>
                          <a:spcPts val="0"/>
                        </a:spcBef>
                        <a:spcAft>
                          <a:spcPts val="0"/>
                        </a:spcAft>
                        <a:buClr>
                          <a:srgbClr val="FFFFFF"/>
                        </a:buClr>
                        <a:buSzPts val="1200"/>
                        <a:buFont typeface="Trebuchet MS"/>
                        <a:buNone/>
                      </a:pPr>
                      <a:r>
                        <a:rPr b="1" lang="en-US" sz="1200" u="none" cap="none" strike="noStrike">
                          <a:solidFill>
                            <a:srgbClr val="FFFFFF"/>
                          </a:solidFill>
                          <a:latin typeface="Trebuchet MS"/>
                          <a:ea typeface="Trebuchet MS"/>
                          <a:cs typeface="Trebuchet MS"/>
                          <a:sym typeface="Trebuchet MS"/>
                        </a:rPr>
                        <a:t>Metric</a:t>
                      </a:r>
                      <a:endParaRPr sz="12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0F2027"/>
                    </a:solidFill>
                  </a:tcPr>
                </a:tc>
                <a:tc>
                  <a:txBody>
                    <a:bodyPr/>
                    <a:lstStyle/>
                    <a:p>
                      <a:pPr indent="0" lvl="0" marL="0" marR="0" rtl="0" algn="ctr">
                        <a:spcBef>
                          <a:spcPts val="0"/>
                        </a:spcBef>
                        <a:spcAft>
                          <a:spcPts val="0"/>
                        </a:spcAft>
                        <a:buClr>
                          <a:srgbClr val="FFFFFF"/>
                        </a:buClr>
                        <a:buSzPts val="1200"/>
                        <a:buFont typeface="Trebuchet MS"/>
                        <a:buNone/>
                      </a:pPr>
                      <a:r>
                        <a:rPr b="1" lang="en-US" sz="1200" u="none" cap="none" strike="noStrike">
                          <a:solidFill>
                            <a:srgbClr val="FFFFFF"/>
                          </a:solidFill>
                          <a:latin typeface="Trebuchet MS"/>
                          <a:ea typeface="Trebuchet MS"/>
                          <a:cs typeface="Trebuchet MS"/>
                          <a:sym typeface="Trebuchet MS"/>
                        </a:rPr>
                        <a:t>Baseline</a:t>
                      </a:r>
                      <a:endParaRPr sz="12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0F2027"/>
                    </a:solidFill>
                  </a:tcPr>
                </a:tc>
                <a:tc>
                  <a:txBody>
                    <a:bodyPr/>
                    <a:lstStyle/>
                    <a:p>
                      <a:pPr indent="0" lvl="0" marL="0" marR="0" rtl="0" algn="ctr">
                        <a:spcBef>
                          <a:spcPts val="0"/>
                        </a:spcBef>
                        <a:spcAft>
                          <a:spcPts val="0"/>
                        </a:spcAft>
                        <a:buClr>
                          <a:srgbClr val="FFFFFF"/>
                        </a:buClr>
                        <a:buSzPts val="1200"/>
                        <a:buFont typeface="Trebuchet MS"/>
                        <a:buNone/>
                      </a:pPr>
                      <a:r>
                        <a:rPr b="1" lang="en-US" sz="1200" u="none" cap="none" strike="noStrike">
                          <a:solidFill>
                            <a:srgbClr val="FFFFFF"/>
                          </a:solidFill>
                          <a:latin typeface="Trebuchet MS"/>
                          <a:ea typeface="Trebuchet MS"/>
                          <a:cs typeface="Trebuchet MS"/>
                          <a:sym typeface="Trebuchet MS"/>
                        </a:rPr>
                        <a:t>Refined v2</a:t>
                      </a:r>
                      <a:endParaRPr sz="12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0F2027"/>
                    </a:solidFill>
                  </a:tcPr>
                </a:tc>
                <a:tc>
                  <a:txBody>
                    <a:bodyPr/>
                    <a:lstStyle/>
                    <a:p>
                      <a:pPr indent="0" lvl="0" marL="0" marR="0" rtl="0" algn="ctr">
                        <a:spcBef>
                          <a:spcPts val="0"/>
                        </a:spcBef>
                        <a:spcAft>
                          <a:spcPts val="0"/>
                        </a:spcAft>
                        <a:buClr>
                          <a:srgbClr val="FFFFFF"/>
                        </a:buClr>
                        <a:buSzPts val="1200"/>
                        <a:buFont typeface="Trebuchet MS"/>
                        <a:buNone/>
                      </a:pPr>
                      <a:r>
                        <a:rPr b="1" lang="en-US" sz="1200" u="none" cap="none" strike="noStrike">
                          <a:solidFill>
                            <a:srgbClr val="FFFFFF"/>
                          </a:solidFill>
                          <a:latin typeface="Trebuchet MS"/>
                          <a:ea typeface="Trebuchet MS"/>
                          <a:cs typeface="Trebuchet MS"/>
                          <a:sym typeface="Trebuchet MS"/>
                        </a:rPr>
                        <a:t>Change</a:t>
                      </a:r>
                      <a:endParaRPr sz="12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0F2027"/>
                    </a:solidFill>
                  </a:tcPr>
                </a:tc>
              </a:tr>
              <a:tr h="502925">
                <a:tc>
                  <a:txBody>
                    <a:bodyPr/>
                    <a:lstStyle/>
                    <a:p>
                      <a:pPr indent="0" lvl="0" marL="0" marR="0" rtl="0" algn="l">
                        <a:spcBef>
                          <a:spcPts val="0"/>
                        </a:spcBef>
                        <a:spcAft>
                          <a:spcPts val="0"/>
                        </a:spcAft>
                        <a:buClr>
                          <a:srgbClr val="1E293B"/>
                        </a:buClr>
                        <a:buSzPts val="1400"/>
                        <a:buFont typeface="Trebuchet MS"/>
                        <a:buNone/>
                      </a:pPr>
                      <a:r>
                        <a:rPr b="1" lang="en-US" sz="1400" u="none" cap="none" strike="noStrike">
                          <a:solidFill>
                            <a:srgbClr val="1E293B"/>
                          </a:solidFill>
                          <a:latin typeface="Trebuchet MS"/>
                          <a:ea typeface="Trebuchet MS"/>
                          <a:cs typeface="Trebuchet MS"/>
                          <a:sym typeface="Trebuchet MS"/>
                        </a:rPr>
                        <a:t>PSNR ↑</a:t>
                      </a:r>
                      <a:endParaRPr sz="14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4748B"/>
                        </a:buClr>
                        <a:buSzPts val="1400"/>
                        <a:buFont typeface="Calibri"/>
                        <a:buNone/>
                      </a:pPr>
                      <a:r>
                        <a:rPr lang="en-US" sz="1400" u="none" cap="none" strike="noStrike">
                          <a:solidFill>
                            <a:srgbClr val="64748B"/>
                          </a:solidFill>
                          <a:latin typeface="Calibri"/>
                          <a:ea typeface="Calibri"/>
                          <a:cs typeface="Calibri"/>
                          <a:sym typeface="Calibri"/>
                        </a:rPr>
                        <a:t>10.327</a:t>
                      </a:r>
                      <a:endParaRPr sz="14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0D9488"/>
                        </a:buClr>
                        <a:buSzPts val="1400"/>
                        <a:buFont typeface="Trebuchet MS"/>
                        <a:buNone/>
                      </a:pPr>
                      <a:r>
                        <a:rPr b="1" lang="en-US" sz="1400" u="none" cap="none" strike="noStrike">
                          <a:solidFill>
                            <a:srgbClr val="0D9488"/>
                          </a:solidFill>
                          <a:latin typeface="Trebuchet MS"/>
                          <a:ea typeface="Trebuchet MS"/>
                          <a:cs typeface="Trebuchet MS"/>
                          <a:sym typeface="Trebuchet MS"/>
                        </a:rPr>
                        <a:t>16.751</a:t>
                      </a:r>
                      <a:endParaRPr sz="14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0B981"/>
                        </a:buClr>
                        <a:buSzPts val="1400"/>
                        <a:buFont typeface="Trebuchet MS"/>
                        <a:buNone/>
                      </a:pPr>
                      <a:r>
                        <a:rPr b="1" lang="en-US" sz="1400" u="none" cap="none" strike="noStrike">
                          <a:solidFill>
                            <a:srgbClr val="10B981"/>
                          </a:solidFill>
                          <a:latin typeface="Trebuchet MS"/>
                          <a:ea typeface="Trebuchet MS"/>
                          <a:cs typeface="Trebuchet MS"/>
                          <a:sym typeface="Trebuchet MS"/>
                        </a:rPr>
                        <a:t>+6.424</a:t>
                      </a:r>
                      <a:endParaRPr sz="14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CFDF5"/>
                    </a:solidFill>
                  </a:tcPr>
                </a:tc>
              </a:tr>
              <a:tr h="502925">
                <a:tc>
                  <a:txBody>
                    <a:bodyPr/>
                    <a:lstStyle/>
                    <a:p>
                      <a:pPr indent="0" lvl="0" marL="0" marR="0" rtl="0" algn="l">
                        <a:spcBef>
                          <a:spcPts val="0"/>
                        </a:spcBef>
                        <a:spcAft>
                          <a:spcPts val="0"/>
                        </a:spcAft>
                        <a:buClr>
                          <a:srgbClr val="1E293B"/>
                        </a:buClr>
                        <a:buSzPts val="1400"/>
                        <a:buFont typeface="Trebuchet MS"/>
                        <a:buNone/>
                      </a:pPr>
                      <a:r>
                        <a:rPr b="1" lang="en-US" sz="1400" u="none" cap="none" strike="noStrike">
                          <a:solidFill>
                            <a:srgbClr val="1E293B"/>
                          </a:solidFill>
                          <a:latin typeface="Trebuchet MS"/>
                          <a:ea typeface="Trebuchet MS"/>
                          <a:cs typeface="Trebuchet MS"/>
                          <a:sym typeface="Trebuchet MS"/>
                        </a:rPr>
                        <a:t>SSIM ↑</a:t>
                      </a:r>
                      <a:endParaRPr sz="14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64748B"/>
                        </a:buClr>
                        <a:buSzPts val="1400"/>
                        <a:buFont typeface="Calibri"/>
                        <a:buNone/>
                      </a:pPr>
                      <a:r>
                        <a:rPr lang="en-US" sz="1400" u="none" cap="none" strike="noStrike">
                          <a:solidFill>
                            <a:srgbClr val="64748B"/>
                          </a:solidFill>
                          <a:latin typeface="Calibri"/>
                          <a:ea typeface="Calibri"/>
                          <a:cs typeface="Calibri"/>
                          <a:sym typeface="Calibri"/>
                        </a:rPr>
                        <a:t>0.1478</a:t>
                      </a:r>
                      <a:endParaRPr sz="14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0D9488"/>
                        </a:buClr>
                        <a:buSzPts val="1400"/>
                        <a:buFont typeface="Trebuchet MS"/>
                        <a:buNone/>
                      </a:pPr>
                      <a:r>
                        <a:rPr b="1" lang="en-US" sz="1400" u="none" cap="none" strike="noStrike">
                          <a:solidFill>
                            <a:srgbClr val="0D9488"/>
                          </a:solidFill>
                          <a:latin typeface="Trebuchet MS"/>
                          <a:ea typeface="Trebuchet MS"/>
                          <a:cs typeface="Trebuchet MS"/>
                          <a:sym typeface="Trebuchet MS"/>
                        </a:rPr>
                        <a:t>0.4485</a:t>
                      </a:r>
                      <a:endParaRPr sz="14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0B981"/>
                        </a:buClr>
                        <a:buSzPts val="1400"/>
                        <a:buFont typeface="Trebuchet MS"/>
                        <a:buNone/>
                      </a:pPr>
                      <a:r>
                        <a:rPr b="1" lang="en-US" sz="1400" u="none" cap="none" strike="noStrike">
                          <a:solidFill>
                            <a:srgbClr val="10B981"/>
                          </a:solidFill>
                          <a:latin typeface="Trebuchet MS"/>
                          <a:ea typeface="Trebuchet MS"/>
                          <a:cs typeface="Trebuchet MS"/>
                          <a:sym typeface="Trebuchet MS"/>
                        </a:rPr>
                        <a:t>+0.3007</a:t>
                      </a:r>
                      <a:endParaRPr sz="14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CFDF5"/>
                    </a:solidFill>
                  </a:tcPr>
                </a:tc>
              </a:tr>
              <a:tr h="502925">
                <a:tc>
                  <a:txBody>
                    <a:bodyPr/>
                    <a:lstStyle/>
                    <a:p>
                      <a:pPr indent="0" lvl="0" marL="0" marR="0" rtl="0" algn="l">
                        <a:spcBef>
                          <a:spcPts val="0"/>
                        </a:spcBef>
                        <a:spcAft>
                          <a:spcPts val="0"/>
                        </a:spcAft>
                        <a:buClr>
                          <a:srgbClr val="1E293B"/>
                        </a:buClr>
                        <a:buSzPts val="1400"/>
                        <a:buFont typeface="Trebuchet MS"/>
                        <a:buNone/>
                      </a:pPr>
                      <a:r>
                        <a:rPr b="1" lang="en-US" sz="1400" u="none" cap="none" strike="noStrike">
                          <a:solidFill>
                            <a:srgbClr val="1E293B"/>
                          </a:solidFill>
                          <a:latin typeface="Trebuchet MS"/>
                          <a:ea typeface="Trebuchet MS"/>
                          <a:cs typeface="Trebuchet MS"/>
                          <a:sym typeface="Trebuchet MS"/>
                        </a:rPr>
                        <a:t>LPIPS ↓</a:t>
                      </a:r>
                      <a:endParaRPr sz="14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64748B"/>
                        </a:buClr>
                        <a:buSzPts val="1400"/>
                        <a:buFont typeface="Calibri"/>
                        <a:buNone/>
                      </a:pPr>
                      <a:r>
                        <a:rPr lang="en-US" sz="1400" u="none" cap="none" strike="noStrike">
                          <a:solidFill>
                            <a:srgbClr val="64748B"/>
                          </a:solidFill>
                          <a:latin typeface="Calibri"/>
                          <a:ea typeface="Calibri"/>
                          <a:cs typeface="Calibri"/>
                          <a:sym typeface="Calibri"/>
                        </a:rPr>
                        <a:t>0.5699</a:t>
                      </a:r>
                      <a:endParaRPr sz="14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0D9488"/>
                        </a:buClr>
                        <a:buSzPts val="1400"/>
                        <a:buFont typeface="Trebuchet MS"/>
                        <a:buNone/>
                      </a:pPr>
                      <a:r>
                        <a:rPr b="1" lang="en-US" sz="1400" u="none" cap="none" strike="noStrike">
                          <a:solidFill>
                            <a:srgbClr val="0D9488"/>
                          </a:solidFill>
                          <a:latin typeface="Trebuchet MS"/>
                          <a:ea typeface="Trebuchet MS"/>
                          <a:cs typeface="Trebuchet MS"/>
                          <a:sym typeface="Trebuchet MS"/>
                        </a:rPr>
                        <a:t>0.4080</a:t>
                      </a:r>
                      <a:endParaRPr sz="14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0B981"/>
                        </a:buClr>
                        <a:buSzPts val="1400"/>
                        <a:buFont typeface="Trebuchet MS"/>
                        <a:buNone/>
                      </a:pPr>
                      <a:r>
                        <a:rPr b="1" lang="en-US" sz="1400" u="none" cap="none" strike="noStrike">
                          <a:solidFill>
                            <a:srgbClr val="10B981"/>
                          </a:solidFill>
                          <a:latin typeface="Trebuchet MS"/>
                          <a:ea typeface="Trebuchet MS"/>
                          <a:cs typeface="Trebuchet MS"/>
                          <a:sym typeface="Trebuchet MS"/>
                        </a:rPr>
                        <a:t>−0.1619</a:t>
                      </a:r>
                      <a:endParaRPr sz="14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CFDF5"/>
                    </a:solidFill>
                  </a:tcPr>
                </a:tc>
              </a:tr>
            </a:tbl>
          </a:graphicData>
        </a:graphic>
      </p:graphicFrame>
      <p:sp>
        <p:nvSpPr>
          <p:cNvPr id="179" name="Google Shape;179;p13"/>
          <p:cNvSpPr/>
          <p:nvPr/>
        </p:nvSpPr>
        <p:spPr>
          <a:xfrm>
            <a:off x="548640" y="3246120"/>
            <a:ext cx="2468880" cy="1463040"/>
          </a:xfrm>
          <a:prstGeom prst="rect">
            <a:avLst/>
          </a:prstGeom>
          <a:solidFill>
            <a:srgbClr val="0D9488"/>
          </a:solidFill>
          <a:ln>
            <a:noFill/>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3"/>
          <p:cNvSpPr/>
          <p:nvPr/>
        </p:nvSpPr>
        <p:spPr>
          <a:xfrm>
            <a:off x="548640" y="3291840"/>
            <a:ext cx="246888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Trebuchet MS"/>
              <a:buNone/>
            </a:pPr>
            <a:r>
              <a:rPr b="1" i="0" lang="en-US" sz="4000" u="none" cap="none" strike="noStrike">
                <a:solidFill>
                  <a:srgbClr val="FFFFFF"/>
                </a:solidFill>
                <a:latin typeface="Trebuchet MS"/>
                <a:ea typeface="Trebuchet MS"/>
                <a:cs typeface="Trebuchet MS"/>
                <a:sym typeface="Trebuchet MS"/>
              </a:rPr>
              <a:t>+62%</a:t>
            </a:r>
            <a:endParaRPr b="0" i="0" sz="4000" u="none" cap="none" strike="noStrike">
              <a:solidFill>
                <a:schemeClr val="dk1"/>
              </a:solidFill>
              <a:latin typeface="Calibri"/>
              <a:ea typeface="Calibri"/>
              <a:cs typeface="Calibri"/>
              <a:sym typeface="Calibri"/>
            </a:endParaRPr>
          </a:p>
        </p:txBody>
      </p:sp>
      <p:sp>
        <p:nvSpPr>
          <p:cNvPr id="181" name="Google Shape;181;p13"/>
          <p:cNvSpPr/>
          <p:nvPr/>
        </p:nvSpPr>
        <p:spPr>
          <a:xfrm>
            <a:off x="548640" y="3977640"/>
            <a:ext cx="24688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PSNR Improvement</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10.3 → 16.8 dB</a:t>
            </a:r>
            <a:endParaRPr b="0" i="0" sz="1100" u="none" cap="none" strike="noStrike">
              <a:solidFill>
                <a:schemeClr val="dk1"/>
              </a:solidFill>
              <a:latin typeface="Calibri"/>
              <a:ea typeface="Calibri"/>
              <a:cs typeface="Calibri"/>
              <a:sym typeface="Calibri"/>
            </a:endParaRPr>
          </a:p>
        </p:txBody>
      </p:sp>
      <p:sp>
        <p:nvSpPr>
          <p:cNvPr id="182" name="Google Shape;182;p13"/>
          <p:cNvSpPr/>
          <p:nvPr/>
        </p:nvSpPr>
        <p:spPr>
          <a:xfrm>
            <a:off x="3337560" y="3246120"/>
            <a:ext cx="2468880" cy="1463040"/>
          </a:xfrm>
          <a:prstGeom prst="rect">
            <a:avLst/>
          </a:prstGeom>
          <a:solidFill>
            <a:srgbClr val="10B981"/>
          </a:solidFill>
          <a:ln>
            <a:noFill/>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3"/>
          <p:cNvSpPr/>
          <p:nvPr/>
        </p:nvSpPr>
        <p:spPr>
          <a:xfrm>
            <a:off x="3337560" y="3291840"/>
            <a:ext cx="246888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Trebuchet MS"/>
              <a:buNone/>
            </a:pPr>
            <a:r>
              <a:rPr b="1" i="0" lang="en-US" sz="4000" u="none" cap="none" strike="noStrike">
                <a:solidFill>
                  <a:srgbClr val="FFFFFF"/>
                </a:solidFill>
                <a:latin typeface="Trebuchet MS"/>
                <a:ea typeface="Trebuchet MS"/>
                <a:cs typeface="Trebuchet MS"/>
                <a:sym typeface="Trebuchet MS"/>
              </a:rPr>
              <a:t>3× </a:t>
            </a:r>
            <a:endParaRPr b="0" i="0" sz="4000" u="none" cap="none" strike="noStrike">
              <a:solidFill>
                <a:schemeClr val="dk1"/>
              </a:solidFill>
              <a:latin typeface="Calibri"/>
              <a:ea typeface="Calibri"/>
              <a:cs typeface="Calibri"/>
              <a:sym typeface="Calibri"/>
            </a:endParaRPr>
          </a:p>
        </p:txBody>
      </p:sp>
      <p:sp>
        <p:nvSpPr>
          <p:cNvPr id="184" name="Google Shape;184;p13"/>
          <p:cNvSpPr/>
          <p:nvPr/>
        </p:nvSpPr>
        <p:spPr>
          <a:xfrm>
            <a:off x="3337560" y="3977640"/>
            <a:ext cx="24688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SSIM Improvement</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0.15 → 0.45</a:t>
            </a:r>
            <a:endParaRPr b="0" i="0" sz="1100" u="none" cap="none" strike="noStrike">
              <a:solidFill>
                <a:schemeClr val="dk1"/>
              </a:solidFill>
              <a:latin typeface="Calibri"/>
              <a:ea typeface="Calibri"/>
              <a:cs typeface="Calibri"/>
              <a:sym typeface="Calibri"/>
            </a:endParaRPr>
          </a:p>
        </p:txBody>
      </p:sp>
      <p:sp>
        <p:nvSpPr>
          <p:cNvPr id="185" name="Google Shape;185;p13"/>
          <p:cNvSpPr/>
          <p:nvPr/>
        </p:nvSpPr>
        <p:spPr>
          <a:xfrm>
            <a:off x="6126480" y="3246120"/>
            <a:ext cx="2468880" cy="1463040"/>
          </a:xfrm>
          <a:prstGeom prst="rect">
            <a:avLst/>
          </a:prstGeom>
          <a:solidFill>
            <a:srgbClr val="7C3AED"/>
          </a:solidFill>
          <a:ln>
            <a:noFill/>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3"/>
          <p:cNvSpPr/>
          <p:nvPr/>
        </p:nvSpPr>
        <p:spPr>
          <a:xfrm>
            <a:off x="6126480" y="3291840"/>
            <a:ext cx="246888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Trebuchet MS"/>
              <a:buNone/>
            </a:pPr>
            <a:r>
              <a:rPr b="1" i="0" lang="en-US" sz="4000" u="none" cap="none" strike="noStrike">
                <a:solidFill>
                  <a:srgbClr val="FFFFFF"/>
                </a:solidFill>
                <a:latin typeface="Trebuchet MS"/>
                <a:ea typeface="Trebuchet MS"/>
                <a:cs typeface="Trebuchet MS"/>
                <a:sym typeface="Trebuchet MS"/>
              </a:rPr>
              <a:t>−28%</a:t>
            </a:r>
            <a:endParaRPr b="0" i="0" sz="4000" u="none" cap="none" strike="noStrike">
              <a:solidFill>
                <a:schemeClr val="dk1"/>
              </a:solidFill>
              <a:latin typeface="Calibri"/>
              <a:ea typeface="Calibri"/>
              <a:cs typeface="Calibri"/>
              <a:sym typeface="Calibri"/>
            </a:endParaRPr>
          </a:p>
        </p:txBody>
      </p:sp>
      <p:sp>
        <p:nvSpPr>
          <p:cNvPr id="187" name="Google Shape;187;p13"/>
          <p:cNvSpPr/>
          <p:nvPr/>
        </p:nvSpPr>
        <p:spPr>
          <a:xfrm>
            <a:off x="6126480" y="3977640"/>
            <a:ext cx="24688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LPIPS Reduction</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0.57 → 0.41</a:t>
            </a:r>
            <a:endParaRPr b="0" i="0" sz="1100" u="none" cap="none" strike="noStrike">
              <a:solidFill>
                <a:schemeClr val="dk1"/>
              </a:solidFill>
              <a:latin typeface="Calibri"/>
              <a:ea typeface="Calibri"/>
              <a:cs typeface="Calibri"/>
              <a:sym typeface="Calibri"/>
            </a:endParaRPr>
          </a:p>
        </p:txBody>
      </p:sp>
      <p:sp>
        <p:nvSpPr>
          <p:cNvPr id="188" name="Google Shape;188;p13"/>
          <p:cNvSpPr/>
          <p:nvPr/>
        </p:nvSpPr>
        <p:spPr>
          <a:xfrm>
            <a:off x="548640" y="4800600"/>
            <a:ext cx="8046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Evaluation on full 418-image training set  |  Val PSNR reached 14.30 dB</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B"/>
        </a:solidFill>
      </p:bgPr>
    </p:bg>
    <p:spTree>
      <p:nvGrpSpPr>
        <p:cNvPr id="193" name="Shape 193"/>
        <p:cNvGrpSpPr/>
        <p:nvPr/>
      </p:nvGrpSpPr>
      <p:grpSpPr>
        <a:xfrm>
          <a:off x="0" y="0"/>
          <a:ext cx="0" cy="0"/>
          <a:chOff x="0" y="0"/>
          <a:chExt cx="0" cy="0"/>
        </a:xfrm>
      </p:grpSpPr>
      <p:sp>
        <p:nvSpPr>
          <p:cNvPr id="194" name="Google Shape;194;p14"/>
          <p:cNvSpPr/>
          <p:nvPr/>
        </p:nvSpPr>
        <p:spPr>
          <a:xfrm>
            <a:off x="0" y="0"/>
            <a:ext cx="9141900" cy="617100"/>
          </a:xfrm>
          <a:prstGeom prst="rect">
            <a:avLst/>
          </a:prstGeom>
          <a:solidFill>
            <a:srgbClr val="2B3A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5" name="Google Shape;195;p14"/>
          <p:cNvSpPr/>
          <p:nvPr/>
        </p:nvSpPr>
        <p:spPr>
          <a:xfrm>
            <a:off x="0" y="617220"/>
            <a:ext cx="9141900" cy="30900"/>
          </a:xfrm>
          <a:prstGeom prst="rect">
            <a:avLst/>
          </a:prstGeom>
          <a:solidFill>
            <a:srgbClr val="E8723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6" name="Google Shape;196;p14"/>
          <p:cNvSpPr/>
          <p:nvPr/>
        </p:nvSpPr>
        <p:spPr>
          <a:xfrm>
            <a:off x="377190" y="54864"/>
            <a:ext cx="8367000" cy="51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Trebuchet MS"/>
              <a:buNone/>
            </a:pPr>
            <a:r>
              <a:rPr b="1" i="0" lang="en-US" sz="2100" u="none" cap="none" strike="noStrike">
                <a:solidFill>
                  <a:srgbClr val="FFFFFF"/>
                </a:solidFill>
                <a:latin typeface="Trebuchet MS"/>
                <a:ea typeface="Trebuchet MS"/>
                <a:cs typeface="Trebuchet MS"/>
                <a:sym typeface="Trebuchet MS"/>
              </a:rPr>
              <a:t>ResNet Refinement with FiLM Conditioning</a:t>
            </a:r>
            <a:endParaRPr b="0" i="0" sz="2100" u="none" cap="none" strike="noStrike">
              <a:solidFill>
                <a:schemeClr val="dk1"/>
              </a:solidFill>
              <a:latin typeface="Calibri"/>
              <a:ea typeface="Calibri"/>
              <a:cs typeface="Calibri"/>
              <a:sym typeface="Calibri"/>
            </a:endParaRPr>
          </a:p>
        </p:txBody>
      </p:sp>
      <p:sp>
        <p:nvSpPr>
          <p:cNvPr id="197" name="Google Shape;197;p14"/>
          <p:cNvSpPr/>
          <p:nvPr/>
        </p:nvSpPr>
        <p:spPr>
          <a:xfrm>
            <a:off x="377190" y="733806"/>
            <a:ext cx="8367000" cy="2607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66666"/>
              </a:buClr>
              <a:buSzPts val="900"/>
              <a:buFont typeface="Calibri"/>
              <a:buNone/>
            </a:pPr>
            <a:r>
              <a:rPr b="0" i="1" lang="en-US" sz="900" u="none" cap="none" strike="noStrike">
                <a:solidFill>
                  <a:srgbClr val="666666"/>
                </a:solidFill>
                <a:latin typeface="Calibri"/>
                <a:ea typeface="Calibri"/>
                <a:cs typeface="Calibri"/>
                <a:sym typeface="Calibri"/>
              </a:rPr>
              <a:t>Two-stage pipeline: ThermalGen generates a rough thermal → ResNet18 refines it using weather + satellite metadata</a:t>
            </a:r>
            <a:endParaRPr b="0" i="0" sz="900" u="none" cap="none" strike="noStrike">
              <a:solidFill>
                <a:schemeClr val="dk1"/>
              </a:solidFill>
              <a:latin typeface="Calibri"/>
              <a:ea typeface="Calibri"/>
              <a:cs typeface="Calibri"/>
              <a:sym typeface="Calibri"/>
            </a:endParaRPr>
          </a:p>
        </p:txBody>
      </p:sp>
      <p:sp>
        <p:nvSpPr>
          <p:cNvPr id="198" name="Google Shape;198;p14"/>
          <p:cNvSpPr/>
          <p:nvPr/>
        </p:nvSpPr>
        <p:spPr>
          <a:xfrm>
            <a:off x="308610" y="1062990"/>
            <a:ext cx="4114800" cy="3840600"/>
          </a:xfrm>
          <a:prstGeom prst="rect">
            <a:avLst/>
          </a:prstGeom>
          <a:solidFill>
            <a:srgbClr val="2B3A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9" name="Google Shape;199;p14"/>
          <p:cNvSpPr/>
          <p:nvPr/>
        </p:nvSpPr>
        <p:spPr>
          <a:xfrm>
            <a:off x="308610" y="1062990"/>
            <a:ext cx="37800" cy="3840600"/>
          </a:xfrm>
          <a:prstGeom prst="rect">
            <a:avLst/>
          </a:prstGeom>
          <a:solidFill>
            <a:srgbClr val="E8723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0" name="Google Shape;200;p14"/>
          <p:cNvSpPr/>
          <p:nvPr/>
        </p:nvSpPr>
        <p:spPr>
          <a:xfrm>
            <a:off x="445770" y="1131570"/>
            <a:ext cx="3771900" cy="26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23A"/>
              </a:buClr>
              <a:buSzPts val="1300"/>
              <a:buFont typeface="Trebuchet MS"/>
              <a:buNone/>
            </a:pPr>
            <a:r>
              <a:rPr b="1" i="0" lang="en-US" sz="1300" u="none" cap="none" strike="noStrike">
                <a:solidFill>
                  <a:srgbClr val="E8723A"/>
                </a:solidFill>
                <a:latin typeface="Trebuchet MS"/>
                <a:ea typeface="Trebuchet MS"/>
                <a:cs typeface="Trebuchet MS"/>
                <a:sym typeface="Trebuchet MS"/>
              </a:rPr>
              <a:t>How It Works</a:t>
            </a:r>
            <a:endParaRPr b="0" i="0" sz="1300" u="none" cap="none" strike="noStrike">
              <a:solidFill>
                <a:schemeClr val="dk1"/>
              </a:solidFill>
              <a:latin typeface="Calibri"/>
              <a:ea typeface="Calibri"/>
              <a:cs typeface="Calibri"/>
              <a:sym typeface="Calibri"/>
            </a:endParaRPr>
          </a:p>
        </p:txBody>
      </p:sp>
      <p:sp>
        <p:nvSpPr>
          <p:cNvPr id="201" name="Google Shape;201;p14"/>
          <p:cNvSpPr/>
          <p:nvPr/>
        </p:nvSpPr>
        <p:spPr>
          <a:xfrm>
            <a:off x="445770" y="1495044"/>
            <a:ext cx="37719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Stage 1 — ThermalGen (frozen, pretrained)</a:t>
            </a:r>
            <a:endParaRPr b="0" i="0" sz="1000" u="none" cap="none" strike="noStrike">
              <a:solidFill>
                <a:schemeClr val="dk1"/>
              </a:solidFill>
              <a:latin typeface="Calibri"/>
              <a:ea typeface="Calibri"/>
              <a:cs typeface="Calibri"/>
              <a:sym typeface="Calibri"/>
            </a:endParaRPr>
          </a:p>
        </p:txBody>
      </p:sp>
      <p:sp>
        <p:nvSpPr>
          <p:cNvPr id="202" name="Google Shape;202;p14"/>
          <p:cNvSpPr/>
          <p:nvPr/>
        </p:nvSpPr>
        <p:spPr>
          <a:xfrm>
            <a:off x="445770" y="1728216"/>
            <a:ext cx="37719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800"/>
              <a:buFont typeface="Calibri"/>
              <a:buNone/>
            </a:pPr>
            <a:r>
              <a:rPr b="0" i="0" lang="en-US" sz="800" u="none" cap="none" strike="noStrike">
                <a:solidFill>
                  <a:srgbClr val="CCCCCC"/>
                </a:solidFill>
                <a:latin typeface="Calibri"/>
                <a:ea typeface="Calibri"/>
                <a:cs typeface="Calibri"/>
                <a:sym typeface="Calibri"/>
              </a:rPr>
              <a:t>A NeurIPS diffusion model takes your RGB aerial image and produces a rough 256×256 thermal prediction. We tested 15+ style settings and found style index 14 gives the best free gain (+1.44 dB) — no training needed.</a:t>
            </a:r>
            <a:endParaRPr b="0" i="0" sz="800" u="none" cap="none" strike="noStrike">
              <a:solidFill>
                <a:schemeClr val="dk1"/>
              </a:solidFill>
              <a:latin typeface="Calibri"/>
              <a:ea typeface="Calibri"/>
              <a:cs typeface="Calibri"/>
              <a:sym typeface="Calibri"/>
            </a:endParaRPr>
          </a:p>
        </p:txBody>
      </p:sp>
      <p:sp>
        <p:nvSpPr>
          <p:cNvPr id="203" name="Google Shape;203;p14"/>
          <p:cNvSpPr/>
          <p:nvPr/>
        </p:nvSpPr>
        <p:spPr>
          <a:xfrm>
            <a:off x="1851660" y="2352294"/>
            <a:ext cx="891600" cy="41100"/>
          </a:xfrm>
          <a:prstGeom prst="rect">
            <a:avLst/>
          </a:prstGeom>
          <a:solidFill>
            <a:srgbClr val="E8723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4" name="Google Shape;204;p14"/>
          <p:cNvSpPr/>
          <p:nvPr/>
        </p:nvSpPr>
        <p:spPr>
          <a:xfrm>
            <a:off x="2674620" y="2297430"/>
            <a:ext cx="82500" cy="150900"/>
          </a:xfrm>
          <a:prstGeom prst="rect">
            <a:avLst/>
          </a:prstGeom>
          <a:solidFill>
            <a:srgbClr val="E8723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5" name="Google Shape;205;p14"/>
          <p:cNvSpPr/>
          <p:nvPr/>
        </p:nvSpPr>
        <p:spPr>
          <a:xfrm>
            <a:off x="445770" y="2482596"/>
            <a:ext cx="37719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Stage 2 — ResNetThermalNet (our trained model)</a:t>
            </a:r>
            <a:endParaRPr b="0" i="0" sz="1000" u="none" cap="none" strike="noStrike">
              <a:solidFill>
                <a:schemeClr val="dk1"/>
              </a:solidFill>
              <a:latin typeface="Calibri"/>
              <a:ea typeface="Calibri"/>
              <a:cs typeface="Calibri"/>
              <a:sym typeface="Calibri"/>
            </a:endParaRPr>
          </a:p>
        </p:txBody>
      </p:sp>
      <p:sp>
        <p:nvSpPr>
          <p:cNvPr id="206" name="Google Shape;206;p14"/>
          <p:cNvSpPr/>
          <p:nvPr/>
        </p:nvSpPr>
        <p:spPr>
          <a:xfrm>
            <a:off x="445770" y="2715768"/>
            <a:ext cx="3771900" cy="51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800"/>
              <a:buFont typeface="Calibri"/>
              <a:buNone/>
            </a:pPr>
            <a:r>
              <a:rPr b="0" i="0" lang="en-US" sz="800" u="none" cap="none" strike="noStrike">
                <a:solidFill>
                  <a:srgbClr val="CCCCCC"/>
                </a:solidFill>
                <a:latin typeface="Calibri"/>
                <a:ea typeface="Calibri"/>
                <a:cs typeface="Calibri"/>
                <a:sym typeface="Calibri"/>
              </a:rPr>
              <a:t>ResNet18 encoder (ImageNet-pretrained) + U-Net decoder. Takes the rough thermal + original RGB + a 71-dim metadata vector → outputs a refined single-channel grayscale thermal image.</a:t>
            </a:r>
            <a:endParaRPr b="0" i="0" sz="800" u="none" cap="none" strike="noStrike">
              <a:solidFill>
                <a:schemeClr val="dk1"/>
              </a:solidFill>
              <a:latin typeface="Calibri"/>
              <a:ea typeface="Calibri"/>
              <a:cs typeface="Calibri"/>
              <a:sym typeface="Calibri"/>
            </a:endParaRPr>
          </a:p>
        </p:txBody>
      </p:sp>
      <p:sp>
        <p:nvSpPr>
          <p:cNvPr id="207" name="Google Shape;207;p14"/>
          <p:cNvSpPr/>
          <p:nvPr/>
        </p:nvSpPr>
        <p:spPr>
          <a:xfrm>
            <a:off x="445770" y="3305556"/>
            <a:ext cx="37719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Post-processing</a:t>
            </a:r>
            <a:endParaRPr b="0" i="0" sz="1000" u="none" cap="none" strike="noStrike">
              <a:solidFill>
                <a:schemeClr val="dk1"/>
              </a:solidFill>
              <a:latin typeface="Calibri"/>
              <a:ea typeface="Calibri"/>
              <a:cs typeface="Calibri"/>
              <a:sym typeface="Calibri"/>
            </a:endParaRPr>
          </a:p>
        </p:txBody>
      </p:sp>
      <p:sp>
        <p:nvSpPr>
          <p:cNvPr id="208" name="Google Shape;208;p14"/>
          <p:cNvSpPr/>
          <p:nvPr/>
        </p:nvSpPr>
        <p:spPr>
          <a:xfrm>
            <a:off x="445770" y="3538728"/>
            <a:ext cx="37719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800"/>
              <a:buFont typeface="Calibri"/>
              <a:buNone/>
            </a:pPr>
            <a:r>
              <a:rPr b="0" i="0" lang="en-US" sz="800" u="none" cap="none" strike="noStrike">
                <a:solidFill>
                  <a:srgbClr val="CCCCCC"/>
                </a:solidFill>
                <a:latin typeface="Calibri"/>
                <a:ea typeface="Calibri"/>
                <a:cs typeface="Calibri"/>
                <a:sym typeface="Calibri"/>
              </a:rPr>
              <a:t>Test-Time Augmentation (TTA) averages 4 flipped versions of each prediction. Then bicubic upsampling brings the output from 256×256 → 640×512 to match ground-truth resolution.</a:t>
            </a:r>
            <a:endParaRPr b="0" i="0" sz="800" u="none" cap="none" strike="noStrike">
              <a:solidFill>
                <a:schemeClr val="dk1"/>
              </a:solidFill>
              <a:latin typeface="Calibri"/>
              <a:ea typeface="Calibri"/>
              <a:cs typeface="Calibri"/>
              <a:sym typeface="Calibri"/>
            </a:endParaRPr>
          </a:p>
        </p:txBody>
      </p:sp>
      <p:sp>
        <p:nvSpPr>
          <p:cNvPr id="209" name="Google Shape;209;p14"/>
          <p:cNvSpPr/>
          <p:nvPr/>
        </p:nvSpPr>
        <p:spPr>
          <a:xfrm>
            <a:off x="308610" y="4718304"/>
            <a:ext cx="4114800" cy="185100"/>
          </a:xfrm>
          <a:prstGeom prst="rect">
            <a:avLst/>
          </a:prstGeom>
          <a:solidFill>
            <a:srgbClr val="E8723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0" name="Google Shape;210;p14"/>
          <p:cNvSpPr/>
          <p:nvPr/>
        </p:nvSpPr>
        <p:spPr>
          <a:xfrm>
            <a:off x="377190" y="4725162"/>
            <a:ext cx="3977700" cy="157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14.5M total params  |  418 train images (377/41 split)  |  GPU: NVIDIA RTX A6000</a:t>
            </a:r>
            <a:endParaRPr b="0" i="0" sz="800" u="none" cap="none" strike="noStrike">
              <a:solidFill>
                <a:schemeClr val="dk1"/>
              </a:solidFill>
              <a:latin typeface="Calibri"/>
              <a:ea typeface="Calibri"/>
              <a:cs typeface="Calibri"/>
              <a:sym typeface="Calibri"/>
            </a:endParaRPr>
          </a:p>
        </p:txBody>
      </p:sp>
      <p:sp>
        <p:nvSpPr>
          <p:cNvPr id="211" name="Google Shape;211;p14"/>
          <p:cNvSpPr/>
          <p:nvPr/>
        </p:nvSpPr>
        <p:spPr>
          <a:xfrm>
            <a:off x="4766310" y="1131570"/>
            <a:ext cx="4114800" cy="26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23A"/>
              </a:buClr>
              <a:buSzPts val="1300"/>
              <a:buFont typeface="Trebuchet MS"/>
              <a:buNone/>
            </a:pPr>
            <a:r>
              <a:rPr b="1" i="0" lang="en-US" sz="1300" u="none" cap="none" strike="noStrike">
                <a:solidFill>
                  <a:srgbClr val="E8723A"/>
                </a:solidFill>
                <a:latin typeface="Trebuchet MS"/>
                <a:ea typeface="Trebuchet MS"/>
                <a:cs typeface="Trebuchet MS"/>
                <a:sym typeface="Trebuchet MS"/>
              </a:rPr>
              <a:t>Key Design Choices</a:t>
            </a:r>
            <a:endParaRPr b="0" i="0" sz="1300" u="none" cap="none" strike="noStrike">
              <a:solidFill>
                <a:schemeClr val="dk1"/>
              </a:solidFill>
              <a:latin typeface="Calibri"/>
              <a:ea typeface="Calibri"/>
              <a:cs typeface="Calibri"/>
              <a:sym typeface="Calibri"/>
            </a:endParaRPr>
          </a:p>
        </p:txBody>
      </p:sp>
      <p:sp>
        <p:nvSpPr>
          <p:cNvPr id="212" name="Google Shape;212;p14"/>
          <p:cNvSpPr/>
          <p:nvPr/>
        </p:nvSpPr>
        <p:spPr>
          <a:xfrm>
            <a:off x="4663440" y="1460754"/>
            <a:ext cx="4183500" cy="809400"/>
          </a:xfrm>
          <a:prstGeom prst="rect">
            <a:avLst/>
          </a:prstGeom>
          <a:solidFill>
            <a:srgbClr val="FFFFFF"/>
          </a:solidFill>
          <a:ln>
            <a:noFill/>
          </a:ln>
          <a:effectLst>
            <a:outerShdw blurRad="38100" rotWithShape="0" algn="bl" dir="81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3" name="Google Shape;213;p14"/>
          <p:cNvSpPr/>
          <p:nvPr/>
        </p:nvSpPr>
        <p:spPr>
          <a:xfrm>
            <a:off x="4663440" y="1460754"/>
            <a:ext cx="37800" cy="809400"/>
          </a:xfrm>
          <a:prstGeom prst="rect">
            <a:avLst/>
          </a:prstGeom>
          <a:solidFill>
            <a:srgbClr val="0D948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4" name="Google Shape;214;p14"/>
          <p:cNvSpPr/>
          <p:nvPr/>
        </p:nvSpPr>
        <p:spPr>
          <a:xfrm>
            <a:off x="4800600" y="1529334"/>
            <a:ext cx="39093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A4A"/>
              </a:buClr>
              <a:buSzPts val="900"/>
              <a:buFont typeface="Calibri"/>
              <a:buNone/>
            </a:pPr>
            <a:r>
              <a:rPr b="1" i="0" lang="en-US" sz="900" u="none" cap="none" strike="noStrike">
                <a:solidFill>
                  <a:srgbClr val="2B3A4A"/>
                </a:solidFill>
                <a:latin typeface="Calibri"/>
                <a:ea typeface="Calibri"/>
                <a:cs typeface="Calibri"/>
                <a:sym typeface="Calibri"/>
              </a:rPr>
              <a:t>FiLM Conditioning at Every Decoder Layer</a:t>
            </a:r>
            <a:endParaRPr b="0" i="0" sz="900" u="none" cap="none" strike="noStrike">
              <a:solidFill>
                <a:schemeClr val="dk1"/>
              </a:solidFill>
              <a:latin typeface="Calibri"/>
              <a:ea typeface="Calibri"/>
              <a:cs typeface="Calibri"/>
              <a:sym typeface="Calibri"/>
            </a:endParaRPr>
          </a:p>
        </p:txBody>
      </p:sp>
      <p:sp>
        <p:nvSpPr>
          <p:cNvPr id="215" name="Google Shape;215;p14"/>
          <p:cNvSpPr/>
          <p:nvPr/>
        </p:nvSpPr>
        <p:spPr>
          <a:xfrm>
            <a:off x="4800600" y="1735074"/>
            <a:ext cx="3909300" cy="466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A 71-dim vector (7 weather features + 64 AlphaEarth satellite embeddings) is injected into every decoder layer via Feature-wise Linear Modulation. Metadata literally tunes how the network reads each feature map.</a:t>
            </a:r>
            <a:endParaRPr b="0" i="0" sz="800" u="none" cap="none" strike="noStrike">
              <a:solidFill>
                <a:schemeClr val="dk1"/>
              </a:solidFill>
              <a:latin typeface="Calibri"/>
              <a:ea typeface="Calibri"/>
              <a:cs typeface="Calibri"/>
              <a:sym typeface="Calibri"/>
            </a:endParaRPr>
          </a:p>
        </p:txBody>
      </p:sp>
      <p:sp>
        <p:nvSpPr>
          <p:cNvPr id="216" name="Google Shape;216;p14"/>
          <p:cNvSpPr/>
          <p:nvPr/>
        </p:nvSpPr>
        <p:spPr>
          <a:xfrm>
            <a:off x="4663440" y="2338578"/>
            <a:ext cx="4183500" cy="809400"/>
          </a:xfrm>
          <a:prstGeom prst="rect">
            <a:avLst/>
          </a:prstGeom>
          <a:solidFill>
            <a:srgbClr val="FFFFFF"/>
          </a:solidFill>
          <a:ln>
            <a:noFill/>
          </a:ln>
          <a:effectLst>
            <a:outerShdw blurRad="38100" rotWithShape="0" algn="bl" dir="81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7" name="Google Shape;217;p14"/>
          <p:cNvSpPr/>
          <p:nvPr/>
        </p:nvSpPr>
        <p:spPr>
          <a:xfrm>
            <a:off x="4663440" y="2338578"/>
            <a:ext cx="37800" cy="809400"/>
          </a:xfrm>
          <a:prstGeom prst="rect">
            <a:avLst/>
          </a:prstGeom>
          <a:solidFill>
            <a:srgbClr val="E8723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8" name="Google Shape;218;p14"/>
          <p:cNvSpPr/>
          <p:nvPr/>
        </p:nvSpPr>
        <p:spPr>
          <a:xfrm>
            <a:off x="4800600" y="2407158"/>
            <a:ext cx="39093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A4A"/>
              </a:buClr>
              <a:buSzPts val="900"/>
              <a:buFont typeface="Calibri"/>
              <a:buNone/>
            </a:pPr>
            <a:r>
              <a:rPr b="1" i="0" lang="en-US" sz="900" u="none" cap="none" strike="noStrike">
                <a:solidFill>
                  <a:srgbClr val="2B3A4A"/>
                </a:solidFill>
                <a:latin typeface="Calibri"/>
                <a:ea typeface="Calibri"/>
                <a:cs typeface="Calibri"/>
                <a:sym typeface="Calibri"/>
              </a:rPr>
              <a:t>Transfer Learning from ImageNet</a:t>
            </a:r>
            <a:endParaRPr b="0" i="0" sz="900" u="none" cap="none" strike="noStrike">
              <a:solidFill>
                <a:schemeClr val="dk1"/>
              </a:solidFill>
              <a:latin typeface="Calibri"/>
              <a:ea typeface="Calibri"/>
              <a:cs typeface="Calibri"/>
              <a:sym typeface="Calibri"/>
            </a:endParaRPr>
          </a:p>
        </p:txBody>
      </p:sp>
      <p:sp>
        <p:nvSpPr>
          <p:cNvPr id="219" name="Google Shape;219;p14"/>
          <p:cNvSpPr/>
          <p:nvPr/>
        </p:nvSpPr>
        <p:spPr>
          <a:xfrm>
            <a:off x="4800600" y="2612898"/>
            <a:ext cx="3909300" cy="466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ResNet18 already knows how to recognize roofs, trees, and roads from natural images. Early layers are frozen; later layers fine-tune to the thermal domain — faster convergence with less data.</a:t>
            </a:r>
            <a:endParaRPr b="0" i="0" sz="800" u="none" cap="none" strike="noStrike">
              <a:solidFill>
                <a:schemeClr val="dk1"/>
              </a:solidFill>
              <a:latin typeface="Calibri"/>
              <a:ea typeface="Calibri"/>
              <a:cs typeface="Calibri"/>
              <a:sym typeface="Calibri"/>
            </a:endParaRPr>
          </a:p>
        </p:txBody>
      </p:sp>
      <p:sp>
        <p:nvSpPr>
          <p:cNvPr id="220" name="Google Shape;220;p14"/>
          <p:cNvSpPr/>
          <p:nvPr/>
        </p:nvSpPr>
        <p:spPr>
          <a:xfrm>
            <a:off x="4663440" y="3216402"/>
            <a:ext cx="4183500" cy="809400"/>
          </a:xfrm>
          <a:prstGeom prst="rect">
            <a:avLst/>
          </a:prstGeom>
          <a:solidFill>
            <a:srgbClr val="FFFFFF"/>
          </a:solidFill>
          <a:ln>
            <a:noFill/>
          </a:ln>
          <a:effectLst>
            <a:outerShdw blurRad="38100" rotWithShape="0" algn="bl" dir="81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1" name="Google Shape;221;p14"/>
          <p:cNvSpPr/>
          <p:nvPr/>
        </p:nvSpPr>
        <p:spPr>
          <a:xfrm>
            <a:off x="4663440" y="3216402"/>
            <a:ext cx="37800" cy="809400"/>
          </a:xfrm>
          <a:prstGeom prst="rect">
            <a:avLst/>
          </a:prstGeom>
          <a:solidFill>
            <a:srgbClr val="7C3A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2" name="Google Shape;222;p14"/>
          <p:cNvSpPr/>
          <p:nvPr/>
        </p:nvSpPr>
        <p:spPr>
          <a:xfrm>
            <a:off x="4800600" y="3284982"/>
            <a:ext cx="39093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A4A"/>
              </a:buClr>
              <a:buSzPts val="900"/>
              <a:buFont typeface="Calibri"/>
              <a:buNone/>
            </a:pPr>
            <a:r>
              <a:rPr b="1" i="0" lang="en-US" sz="900" u="none" cap="none" strike="noStrike">
                <a:solidFill>
                  <a:srgbClr val="2B3A4A"/>
                </a:solidFill>
                <a:latin typeface="Calibri"/>
                <a:ea typeface="Calibri"/>
                <a:cs typeface="Calibri"/>
                <a:sym typeface="Calibri"/>
              </a:rPr>
              <a:t>Grayscale Output (1 channel)</a:t>
            </a:r>
            <a:endParaRPr b="0" i="0" sz="900" u="none" cap="none" strike="noStrike">
              <a:solidFill>
                <a:schemeClr val="dk1"/>
              </a:solidFill>
              <a:latin typeface="Calibri"/>
              <a:ea typeface="Calibri"/>
              <a:cs typeface="Calibri"/>
              <a:sym typeface="Calibri"/>
            </a:endParaRPr>
          </a:p>
        </p:txBody>
      </p:sp>
      <p:sp>
        <p:nvSpPr>
          <p:cNvPr id="223" name="Google Shape;223;p14"/>
          <p:cNvSpPr/>
          <p:nvPr/>
        </p:nvSpPr>
        <p:spPr>
          <a:xfrm>
            <a:off x="4800600" y="3490722"/>
            <a:ext cx="3909300" cy="466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Competition judges evaluate on single-channel thermal. Predicting 1 pixel value instead of 3 gives the loss a cleaner, more focused signal — and directly matches the target format.</a:t>
            </a:r>
            <a:endParaRPr b="0" i="0" sz="800" u="none" cap="none" strike="noStrike">
              <a:solidFill>
                <a:schemeClr val="dk1"/>
              </a:solidFill>
              <a:latin typeface="Calibri"/>
              <a:ea typeface="Calibri"/>
              <a:cs typeface="Calibri"/>
              <a:sym typeface="Calibri"/>
            </a:endParaRPr>
          </a:p>
        </p:txBody>
      </p:sp>
      <p:sp>
        <p:nvSpPr>
          <p:cNvPr id="224" name="Google Shape;224;p14"/>
          <p:cNvSpPr/>
          <p:nvPr/>
        </p:nvSpPr>
        <p:spPr>
          <a:xfrm>
            <a:off x="4663440" y="4094226"/>
            <a:ext cx="4183500" cy="809400"/>
          </a:xfrm>
          <a:prstGeom prst="rect">
            <a:avLst/>
          </a:prstGeom>
          <a:solidFill>
            <a:srgbClr val="FFFFFF"/>
          </a:solidFill>
          <a:ln>
            <a:noFill/>
          </a:ln>
          <a:effectLst>
            <a:outerShdw blurRad="38100" rotWithShape="0" algn="bl" dir="81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5" name="Google Shape;225;p14"/>
          <p:cNvSpPr/>
          <p:nvPr/>
        </p:nvSpPr>
        <p:spPr>
          <a:xfrm>
            <a:off x="4663440" y="4094226"/>
            <a:ext cx="37800" cy="809400"/>
          </a:xfrm>
          <a:prstGeom prst="rect">
            <a:avLst/>
          </a:prstGeom>
          <a:solidFill>
            <a:srgbClr val="0D948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6" name="Google Shape;226;p14"/>
          <p:cNvSpPr/>
          <p:nvPr/>
        </p:nvSpPr>
        <p:spPr>
          <a:xfrm>
            <a:off x="4800600" y="4162806"/>
            <a:ext cx="39093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A4A"/>
              </a:buClr>
              <a:buSzPts val="900"/>
              <a:buFont typeface="Calibri"/>
              <a:buNone/>
            </a:pPr>
            <a:r>
              <a:rPr b="1" i="0" lang="en-US" sz="900" u="none" cap="none" strike="noStrike">
                <a:solidFill>
                  <a:srgbClr val="2B3A4A"/>
                </a:solidFill>
                <a:latin typeface="Calibri"/>
                <a:ea typeface="Calibri"/>
                <a:cs typeface="Calibri"/>
                <a:sym typeface="Calibri"/>
              </a:rPr>
              <a:t>Multi-Objective Loss: L1 + SSIM + LPIPS</a:t>
            </a:r>
            <a:endParaRPr b="0" i="0" sz="900" u="none" cap="none" strike="noStrike">
              <a:solidFill>
                <a:schemeClr val="dk1"/>
              </a:solidFill>
              <a:latin typeface="Calibri"/>
              <a:ea typeface="Calibri"/>
              <a:cs typeface="Calibri"/>
              <a:sym typeface="Calibri"/>
            </a:endParaRPr>
          </a:p>
        </p:txBody>
      </p:sp>
      <p:sp>
        <p:nvSpPr>
          <p:cNvPr id="227" name="Google Shape;227;p14"/>
          <p:cNvSpPr/>
          <p:nvPr/>
        </p:nvSpPr>
        <p:spPr>
          <a:xfrm>
            <a:off x="4800600" y="4368546"/>
            <a:ext cx="3909300" cy="466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800"/>
              <a:buFont typeface="Calibri"/>
              <a:buNone/>
            </a:pPr>
            <a:r>
              <a:rPr b="0" i="0" lang="en-US" sz="800" u="none" cap="none" strike="noStrike">
                <a:solidFill>
                  <a:srgbClr val="666666"/>
                </a:solidFill>
                <a:latin typeface="Calibri"/>
                <a:ea typeface="Calibri"/>
                <a:cs typeface="Calibri"/>
                <a:sym typeface="Calibri"/>
              </a:rPr>
              <a:t>Loss = 0.4×L1 + 0.3×(1−SSIM) + 0.3×LPIPS. Each term directly targets one of the three judging metrics, so the model optimizes for exactly what the leaderboard measures.</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B"/>
        </a:solidFill>
      </p:bgPr>
    </p:bg>
    <p:spTree>
      <p:nvGrpSpPr>
        <p:cNvPr id="232" name="Shape 232"/>
        <p:cNvGrpSpPr/>
        <p:nvPr/>
      </p:nvGrpSpPr>
      <p:grpSpPr>
        <a:xfrm>
          <a:off x="0" y="0"/>
          <a:ext cx="0" cy="0"/>
          <a:chOff x="0" y="0"/>
          <a:chExt cx="0" cy="0"/>
        </a:xfrm>
      </p:grpSpPr>
      <p:sp>
        <p:nvSpPr>
          <p:cNvPr id="233" name="Google Shape;233;p15"/>
          <p:cNvSpPr/>
          <p:nvPr/>
        </p:nvSpPr>
        <p:spPr>
          <a:xfrm>
            <a:off x="0" y="0"/>
            <a:ext cx="9141900" cy="617100"/>
          </a:xfrm>
          <a:prstGeom prst="rect">
            <a:avLst/>
          </a:prstGeom>
          <a:solidFill>
            <a:srgbClr val="2B3A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4" name="Google Shape;234;p15"/>
          <p:cNvSpPr/>
          <p:nvPr/>
        </p:nvSpPr>
        <p:spPr>
          <a:xfrm>
            <a:off x="0" y="617220"/>
            <a:ext cx="9141900" cy="30900"/>
          </a:xfrm>
          <a:prstGeom prst="rect">
            <a:avLst/>
          </a:prstGeom>
          <a:solidFill>
            <a:srgbClr val="E8723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5" name="Google Shape;235;p15"/>
          <p:cNvSpPr/>
          <p:nvPr/>
        </p:nvSpPr>
        <p:spPr>
          <a:xfrm>
            <a:off x="377190" y="54864"/>
            <a:ext cx="8367000" cy="51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Trebuchet MS"/>
              <a:buNone/>
            </a:pPr>
            <a:r>
              <a:rPr b="1" i="0" lang="en-US" sz="2100" u="none" cap="none" strike="noStrike">
                <a:solidFill>
                  <a:srgbClr val="FFFFFF"/>
                </a:solidFill>
                <a:latin typeface="Trebuchet MS"/>
                <a:ea typeface="Trebuchet MS"/>
                <a:cs typeface="Trebuchet MS"/>
                <a:sym typeface="Trebuchet MS"/>
              </a:rPr>
              <a:t>Results: ResNet Refinement Scoreboard</a:t>
            </a:r>
            <a:endParaRPr b="0" i="0" sz="2100" u="none" cap="none" strike="noStrike">
              <a:solidFill>
                <a:schemeClr val="dk1"/>
              </a:solidFill>
              <a:latin typeface="Calibri"/>
              <a:ea typeface="Calibri"/>
              <a:cs typeface="Calibri"/>
              <a:sym typeface="Calibri"/>
            </a:endParaRPr>
          </a:p>
        </p:txBody>
      </p:sp>
      <p:sp>
        <p:nvSpPr>
          <p:cNvPr id="236" name="Google Shape;236;p15"/>
          <p:cNvSpPr/>
          <p:nvPr/>
        </p:nvSpPr>
        <p:spPr>
          <a:xfrm>
            <a:off x="377190" y="733806"/>
            <a:ext cx="83670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66666"/>
              </a:buClr>
              <a:buSzPts val="900"/>
              <a:buFont typeface="Calibri"/>
              <a:buNone/>
            </a:pPr>
            <a:r>
              <a:rPr b="0" i="1" lang="en-US" sz="900" u="none" cap="none" strike="noStrike">
                <a:solidFill>
                  <a:srgbClr val="666666"/>
                </a:solidFill>
                <a:latin typeface="Calibri"/>
                <a:ea typeface="Calibri"/>
                <a:cs typeface="Calibri"/>
                <a:sym typeface="Calibri"/>
              </a:rPr>
              <a:t>Evaluated on 41-image validation set  |  Best checkpoint: epoch 58</a:t>
            </a:r>
            <a:endParaRPr b="0" i="0" sz="900" u="none" cap="none" strike="noStrike">
              <a:solidFill>
                <a:schemeClr val="dk1"/>
              </a:solidFill>
              <a:latin typeface="Calibri"/>
              <a:ea typeface="Calibri"/>
              <a:cs typeface="Calibri"/>
              <a:sym typeface="Calibri"/>
            </a:endParaRPr>
          </a:p>
        </p:txBody>
      </p:sp>
      <p:graphicFrame>
        <p:nvGraphicFramePr>
          <p:cNvPr id="237" name="Google Shape;237;p15"/>
          <p:cNvGraphicFramePr/>
          <p:nvPr/>
        </p:nvGraphicFramePr>
        <p:xfrm>
          <a:off x="308610" y="1042416"/>
          <a:ext cx="3000000" cy="3000000"/>
        </p:xfrm>
        <a:graphic>
          <a:graphicData uri="http://schemas.openxmlformats.org/drawingml/2006/table">
            <a:tbl>
              <a:tblPr>
                <a:noFill/>
                <a:tableStyleId>{7D4AC65A-F673-44A1-84F2-F6B31DA8BB3A}</a:tableStyleId>
              </a:tblPr>
              <a:tblGrid>
                <a:gridCol w="1371600"/>
                <a:gridCol w="1714500"/>
                <a:gridCol w="1714500"/>
                <a:gridCol w="1508750"/>
              </a:tblGrid>
              <a:tr h="329175">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Metric</a:t>
                      </a:r>
                      <a:endParaRPr sz="1000" u="none" cap="none" strike="noStrike">
                        <a:latin typeface="Calibri"/>
                        <a:ea typeface="Calibri"/>
                        <a:cs typeface="Calibri"/>
                        <a:sym typeface="Calibri"/>
                      </a:endParaRPr>
                    </a:p>
                  </a:txBody>
                  <a:tcPr marT="34300" marB="34300" marR="68600" marL="68600">
                    <a:lnL cap="flat" cmpd="sng" w="7150">
                      <a:solidFill>
                        <a:srgbClr val="CCCCCC"/>
                      </a:solidFill>
                      <a:prstDash val="solid"/>
                      <a:round/>
                      <a:headEnd len="sm" w="sm" type="none"/>
                      <a:tailEnd len="sm" w="sm" type="none"/>
                    </a:lnL>
                    <a:lnR cap="flat" cmpd="sng" w="7150">
                      <a:solidFill>
                        <a:srgbClr val="CCCCCC"/>
                      </a:solidFill>
                      <a:prstDash val="solid"/>
                      <a:round/>
                      <a:headEnd len="sm" w="sm" type="none"/>
                      <a:tailEnd len="sm" w="sm" type="none"/>
                    </a:lnR>
                    <a:lnT cap="flat" cmpd="sng" w="7150">
                      <a:solidFill>
                        <a:srgbClr val="CCCCCC"/>
                      </a:solidFill>
                      <a:prstDash val="solid"/>
                      <a:round/>
                      <a:headEnd len="sm" w="sm" type="none"/>
                      <a:tailEnd len="sm" w="sm" type="none"/>
                    </a:lnT>
                    <a:lnB cap="flat" cmpd="sng" w="7150">
                      <a:solidFill>
                        <a:srgbClr val="CCCCCC"/>
                      </a:solidFill>
                      <a:prstDash val="solid"/>
                      <a:round/>
                      <a:headEnd len="sm" w="sm" type="none"/>
                      <a:tailEnd len="sm" w="sm" type="none"/>
                    </a:lnB>
                    <a:solidFill>
                      <a:srgbClr val="2B3A4A"/>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ThermalGen Baseline</a:t>
                      </a:r>
                      <a:endParaRPr sz="1000" u="none" cap="none" strike="noStrike">
                        <a:latin typeface="Calibri"/>
                        <a:ea typeface="Calibri"/>
                        <a:cs typeface="Calibri"/>
                        <a:sym typeface="Calibri"/>
                      </a:endParaRPr>
                    </a:p>
                  </a:txBody>
                  <a:tcPr marT="34300" marB="34300" marR="68600" marL="68600">
                    <a:lnL cap="flat" cmpd="sng" w="7150">
                      <a:solidFill>
                        <a:srgbClr val="CCCCCC"/>
                      </a:solidFill>
                      <a:prstDash val="solid"/>
                      <a:round/>
                      <a:headEnd len="sm" w="sm" type="none"/>
                      <a:tailEnd len="sm" w="sm" type="none"/>
                    </a:lnL>
                    <a:lnR cap="flat" cmpd="sng" w="7150">
                      <a:solidFill>
                        <a:srgbClr val="CCCCCC"/>
                      </a:solidFill>
                      <a:prstDash val="solid"/>
                      <a:round/>
                      <a:headEnd len="sm" w="sm" type="none"/>
                      <a:tailEnd len="sm" w="sm" type="none"/>
                    </a:lnR>
                    <a:lnT cap="flat" cmpd="sng" w="7150">
                      <a:solidFill>
                        <a:srgbClr val="CCCCCC"/>
                      </a:solidFill>
                      <a:prstDash val="solid"/>
                      <a:round/>
                      <a:headEnd len="sm" w="sm" type="none"/>
                      <a:tailEnd len="sm" w="sm" type="none"/>
                    </a:lnT>
                    <a:lnB cap="flat" cmpd="sng" w="7150">
                      <a:solidFill>
                        <a:srgbClr val="CCCCCC"/>
                      </a:solidFill>
                      <a:prstDash val="solid"/>
                      <a:round/>
                      <a:headEnd len="sm" w="sm" type="none"/>
                      <a:tailEnd len="sm" w="sm" type="none"/>
                    </a:lnB>
                    <a:solidFill>
                      <a:srgbClr val="2B3A4A"/>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Our ResNet Model</a:t>
                      </a:r>
                      <a:endParaRPr sz="1000" u="none" cap="none" strike="noStrike">
                        <a:latin typeface="Calibri"/>
                        <a:ea typeface="Calibri"/>
                        <a:cs typeface="Calibri"/>
                        <a:sym typeface="Calibri"/>
                      </a:endParaRPr>
                    </a:p>
                  </a:txBody>
                  <a:tcPr marT="34300" marB="34300" marR="68600" marL="68600">
                    <a:lnL cap="flat" cmpd="sng" w="7150">
                      <a:solidFill>
                        <a:srgbClr val="CCCCCC"/>
                      </a:solidFill>
                      <a:prstDash val="solid"/>
                      <a:round/>
                      <a:headEnd len="sm" w="sm" type="none"/>
                      <a:tailEnd len="sm" w="sm" type="none"/>
                    </a:lnL>
                    <a:lnR cap="flat" cmpd="sng" w="7150">
                      <a:solidFill>
                        <a:srgbClr val="CCCCCC"/>
                      </a:solidFill>
                      <a:prstDash val="solid"/>
                      <a:round/>
                      <a:headEnd len="sm" w="sm" type="none"/>
                      <a:tailEnd len="sm" w="sm" type="none"/>
                    </a:lnR>
                    <a:lnT cap="flat" cmpd="sng" w="7150">
                      <a:solidFill>
                        <a:srgbClr val="CCCCCC"/>
                      </a:solidFill>
                      <a:prstDash val="solid"/>
                      <a:round/>
                      <a:headEnd len="sm" w="sm" type="none"/>
                      <a:tailEnd len="sm" w="sm" type="none"/>
                    </a:lnT>
                    <a:lnB cap="flat" cmpd="sng" w="7150">
                      <a:solidFill>
                        <a:srgbClr val="CCCCCC"/>
                      </a:solidFill>
                      <a:prstDash val="solid"/>
                      <a:round/>
                      <a:headEnd len="sm" w="sm" type="none"/>
                      <a:tailEnd len="sm" w="sm" type="none"/>
                    </a:lnB>
                    <a:solidFill>
                      <a:srgbClr val="2B3A4A"/>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Improvement</a:t>
                      </a:r>
                      <a:endParaRPr sz="1000" u="none" cap="none" strike="noStrike">
                        <a:latin typeface="Calibri"/>
                        <a:ea typeface="Calibri"/>
                        <a:cs typeface="Calibri"/>
                        <a:sym typeface="Calibri"/>
                      </a:endParaRPr>
                    </a:p>
                  </a:txBody>
                  <a:tcPr marT="34300" marB="34300" marR="68600" marL="68600">
                    <a:lnL cap="flat" cmpd="sng" w="7150">
                      <a:solidFill>
                        <a:srgbClr val="CCCCCC"/>
                      </a:solidFill>
                      <a:prstDash val="solid"/>
                      <a:round/>
                      <a:headEnd len="sm" w="sm" type="none"/>
                      <a:tailEnd len="sm" w="sm" type="none"/>
                    </a:lnL>
                    <a:lnR cap="flat" cmpd="sng" w="7150">
                      <a:solidFill>
                        <a:srgbClr val="CCCCCC"/>
                      </a:solidFill>
                      <a:prstDash val="solid"/>
                      <a:round/>
                      <a:headEnd len="sm" w="sm" type="none"/>
                      <a:tailEnd len="sm" w="sm" type="none"/>
                    </a:lnR>
                    <a:lnT cap="flat" cmpd="sng" w="7150">
                      <a:solidFill>
                        <a:srgbClr val="CCCCCC"/>
                      </a:solidFill>
                      <a:prstDash val="solid"/>
                      <a:round/>
                      <a:headEnd len="sm" w="sm" type="none"/>
                      <a:tailEnd len="sm" w="sm" type="none"/>
                    </a:lnT>
                    <a:lnB cap="flat" cmpd="sng" w="7150">
                      <a:solidFill>
                        <a:srgbClr val="CCCCCC"/>
                      </a:solidFill>
                      <a:prstDash val="solid"/>
                      <a:round/>
                      <a:headEnd len="sm" w="sm" type="none"/>
                      <a:tailEnd len="sm" w="sm" type="none"/>
                    </a:lnB>
                    <a:solidFill>
                      <a:srgbClr val="2B3A4A"/>
                    </a:solidFill>
                  </a:tcPr>
                </a:tc>
              </a:tr>
              <a:tr h="329175">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latin typeface="Calibri"/>
                          <a:ea typeface="Calibri"/>
                          <a:cs typeface="Calibri"/>
                          <a:sym typeface="Calibri"/>
                        </a:rPr>
                        <a:t>PSNR ↑</a:t>
                      </a:r>
                      <a:endParaRPr sz="1000" u="none" cap="none" strike="noStrike">
                        <a:latin typeface="Calibri"/>
                        <a:ea typeface="Calibri"/>
                        <a:cs typeface="Calibri"/>
                        <a:sym typeface="Calibri"/>
                      </a:endParaRPr>
                    </a:p>
                  </a:txBody>
                  <a:tcPr marT="34300" marB="34300" marR="68600" marL="68600">
                    <a:lnL cap="flat" cmpd="sng" w="7150">
                      <a:solidFill>
                        <a:srgbClr val="CCCCCC"/>
                      </a:solidFill>
                      <a:prstDash val="solid"/>
                      <a:round/>
                      <a:headEnd len="sm" w="sm" type="none"/>
                      <a:tailEnd len="sm" w="sm" type="none"/>
                    </a:lnL>
                    <a:lnR cap="flat" cmpd="sng" w="7150">
                      <a:solidFill>
                        <a:srgbClr val="CCCCCC"/>
                      </a:solidFill>
                      <a:prstDash val="solid"/>
                      <a:round/>
                      <a:headEnd len="sm" w="sm" type="none"/>
                      <a:tailEnd len="sm" w="sm" type="none"/>
                    </a:lnR>
                    <a:lnT cap="flat" cmpd="sng" w="7150">
                      <a:solidFill>
                        <a:srgbClr val="CCCCCC"/>
                      </a:solidFill>
                      <a:prstDash val="solid"/>
                      <a:round/>
                      <a:headEnd len="sm" w="sm" type="none"/>
                      <a:tailEnd len="sm" w="sm" type="none"/>
                    </a:lnT>
                    <a:lnB cap="flat" cmpd="sng" w="715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666666"/>
                        </a:buClr>
                        <a:buSzPts val="1000"/>
                        <a:buFont typeface="Calibri"/>
                        <a:buNone/>
                      </a:pPr>
                      <a:r>
                        <a:rPr lang="en-US" sz="1000" u="none" cap="none" strike="noStrike">
                          <a:solidFill>
                            <a:srgbClr val="666666"/>
                          </a:solidFill>
                          <a:latin typeface="Calibri"/>
                          <a:ea typeface="Calibri"/>
                          <a:cs typeface="Calibri"/>
                          <a:sym typeface="Calibri"/>
                        </a:rPr>
                        <a:t>12.83 dB</a:t>
                      </a:r>
                      <a:endParaRPr sz="1000" u="none" cap="none" strike="noStrike">
                        <a:latin typeface="Calibri"/>
                        <a:ea typeface="Calibri"/>
                        <a:cs typeface="Calibri"/>
                        <a:sym typeface="Calibri"/>
                      </a:endParaRPr>
                    </a:p>
                  </a:txBody>
                  <a:tcPr marT="34300" marB="34300" marR="68600" marL="68600">
                    <a:lnL cap="flat" cmpd="sng" w="7150">
                      <a:solidFill>
                        <a:srgbClr val="CCCCCC"/>
                      </a:solidFill>
                      <a:prstDash val="solid"/>
                      <a:round/>
                      <a:headEnd len="sm" w="sm" type="none"/>
                      <a:tailEnd len="sm" w="sm" type="none"/>
                    </a:lnL>
                    <a:lnR cap="flat" cmpd="sng" w="7150">
                      <a:solidFill>
                        <a:srgbClr val="CCCCCC"/>
                      </a:solidFill>
                      <a:prstDash val="solid"/>
                      <a:round/>
                      <a:headEnd len="sm" w="sm" type="none"/>
                      <a:tailEnd len="sm" w="sm" type="none"/>
                    </a:lnR>
                    <a:lnT cap="flat" cmpd="sng" w="7150">
                      <a:solidFill>
                        <a:srgbClr val="CCCCCC"/>
                      </a:solidFill>
                      <a:prstDash val="solid"/>
                      <a:round/>
                      <a:headEnd len="sm" w="sm" type="none"/>
                      <a:tailEnd len="sm" w="sm" type="none"/>
                    </a:lnT>
                    <a:lnB cap="flat" cmpd="sng" w="715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0D9488"/>
                        </a:buClr>
                        <a:buSzPts val="1100"/>
                        <a:buFont typeface="Calibri"/>
                        <a:buNone/>
                      </a:pPr>
                      <a:r>
                        <a:rPr b="1" lang="en-US" sz="1100" u="none" cap="none" strike="noStrike">
                          <a:solidFill>
                            <a:srgbClr val="0D9488"/>
                          </a:solidFill>
                          <a:latin typeface="Calibri"/>
                          <a:ea typeface="Calibri"/>
                          <a:cs typeface="Calibri"/>
                          <a:sym typeface="Calibri"/>
                        </a:rPr>
                        <a:t>17.43 dB</a:t>
                      </a:r>
                      <a:endParaRPr sz="1100" u="none" cap="none" strike="noStrike">
                        <a:latin typeface="Calibri"/>
                        <a:ea typeface="Calibri"/>
                        <a:cs typeface="Calibri"/>
                        <a:sym typeface="Calibri"/>
                      </a:endParaRPr>
                    </a:p>
                  </a:txBody>
                  <a:tcPr marT="34300" marB="34300" marR="68600" marL="68600">
                    <a:lnL cap="flat" cmpd="sng" w="7150">
                      <a:solidFill>
                        <a:srgbClr val="CCCCCC"/>
                      </a:solidFill>
                      <a:prstDash val="solid"/>
                      <a:round/>
                      <a:headEnd len="sm" w="sm" type="none"/>
                      <a:tailEnd len="sm" w="sm" type="none"/>
                    </a:lnL>
                    <a:lnR cap="flat" cmpd="sng" w="7150">
                      <a:solidFill>
                        <a:srgbClr val="CCCCCC"/>
                      </a:solidFill>
                      <a:prstDash val="solid"/>
                      <a:round/>
                      <a:headEnd len="sm" w="sm" type="none"/>
                      <a:tailEnd len="sm" w="sm" type="none"/>
                    </a:lnR>
                    <a:lnT cap="flat" cmpd="sng" w="7150">
                      <a:solidFill>
                        <a:srgbClr val="CCCCCC"/>
                      </a:solidFill>
                      <a:prstDash val="solid"/>
                      <a:round/>
                      <a:headEnd len="sm" w="sm" type="none"/>
                      <a:tailEnd len="sm" w="sm" type="none"/>
                    </a:lnT>
                    <a:lnB cap="flat" cmpd="sng" w="715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0D9488"/>
                        </a:buClr>
                        <a:buSzPts val="1000"/>
                        <a:buFont typeface="Calibri"/>
                        <a:buNone/>
                      </a:pPr>
                      <a:r>
                        <a:rPr b="1" lang="en-US" sz="1000" u="none" cap="none" strike="noStrike">
                          <a:solidFill>
                            <a:srgbClr val="0D9488"/>
                          </a:solidFill>
                          <a:latin typeface="Calibri"/>
                          <a:ea typeface="Calibri"/>
                          <a:cs typeface="Calibri"/>
                          <a:sym typeface="Calibri"/>
                        </a:rPr>
                        <a:t>+4.60 dB  (+36%)</a:t>
                      </a:r>
                      <a:endParaRPr sz="1000" u="none" cap="none" strike="noStrike">
                        <a:latin typeface="Calibri"/>
                        <a:ea typeface="Calibri"/>
                        <a:cs typeface="Calibri"/>
                        <a:sym typeface="Calibri"/>
                      </a:endParaRPr>
                    </a:p>
                  </a:txBody>
                  <a:tcPr marT="34300" marB="34300" marR="68600" marL="68600">
                    <a:lnL cap="flat" cmpd="sng" w="7150">
                      <a:solidFill>
                        <a:srgbClr val="CCCCCC"/>
                      </a:solidFill>
                      <a:prstDash val="solid"/>
                      <a:round/>
                      <a:headEnd len="sm" w="sm" type="none"/>
                      <a:tailEnd len="sm" w="sm" type="none"/>
                    </a:lnL>
                    <a:lnR cap="flat" cmpd="sng" w="7150">
                      <a:solidFill>
                        <a:srgbClr val="CCCCCC"/>
                      </a:solidFill>
                      <a:prstDash val="solid"/>
                      <a:round/>
                      <a:headEnd len="sm" w="sm" type="none"/>
                      <a:tailEnd len="sm" w="sm" type="none"/>
                    </a:lnR>
                    <a:lnT cap="flat" cmpd="sng" w="7150">
                      <a:solidFill>
                        <a:srgbClr val="CCCCCC"/>
                      </a:solidFill>
                      <a:prstDash val="solid"/>
                      <a:round/>
                      <a:headEnd len="sm" w="sm" type="none"/>
                      <a:tailEnd len="sm" w="sm" type="none"/>
                    </a:lnT>
                    <a:lnB cap="flat" cmpd="sng" w="7150">
                      <a:solidFill>
                        <a:srgbClr val="CCCCCC"/>
                      </a:solidFill>
                      <a:prstDash val="solid"/>
                      <a:round/>
                      <a:headEnd len="sm" w="sm" type="none"/>
                      <a:tailEnd len="sm" w="sm" type="none"/>
                    </a:lnB>
                  </a:tcPr>
                </a:tc>
              </a:tr>
              <a:tr h="329175">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latin typeface="Calibri"/>
                          <a:ea typeface="Calibri"/>
                          <a:cs typeface="Calibri"/>
                          <a:sym typeface="Calibri"/>
                        </a:rPr>
                        <a:t>SSIM ↑</a:t>
                      </a:r>
                      <a:endParaRPr sz="1000" u="none" cap="none" strike="noStrike">
                        <a:latin typeface="Calibri"/>
                        <a:ea typeface="Calibri"/>
                        <a:cs typeface="Calibri"/>
                        <a:sym typeface="Calibri"/>
                      </a:endParaRPr>
                    </a:p>
                  </a:txBody>
                  <a:tcPr marT="34300" marB="34300" marR="68600" marL="68600">
                    <a:lnL cap="flat" cmpd="sng" w="7150">
                      <a:solidFill>
                        <a:srgbClr val="CCCCCC"/>
                      </a:solidFill>
                      <a:prstDash val="solid"/>
                      <a:round/>
                      <a:headEnd len="sm" w="sm" type="none"/>
                      <a:tailEnd len="sm" w="sm" type="none"/>
                    </a:lnL>
                    <a:lnR cap="flat" cmpd="sng" w="7150">
                      <a:solidFill>
                        <a:srgbClr val="CCCCCC"/>
                      </a:solidFill>
                      <a:prstDash val="solid"/>
                      <a:round/>
                      <a:headEnd len="sm" w="sm" type="none"/>
                      <a:tailEnd len="sm" w="sm" type="none"/>
                    </a:lnR>
                    <a:lnT cap="flat" cmpd="sng" w="7150">
                      <a:solidFill>
                        <a:srgbClr val="CCCCCC"/>
                      </a:solidFill>
                      <a:prstDash val="solid"/>
                      <a:round/>
                      <a:headEnd len="sm" w="sm" type="none"/>
                      <a:tailEnd len="sm" w="sm" type="none"/>
                    </a:lnT>
                    <a:lnB cap="flat" cmpd="sng" w="7150">
                      <a:solidFill>
                        <a:srgbClr val="CCCCCC"/>
                      </a:solidFill>
                      <a:prstDash val="solid"/>
                      <a:round/>
                      <a:headEnd len="sm" w="sm" type="none"/>
                      <a:tailEnd len="sm" w="sm" type="none"/>
                    </a:lnB>
                    <a:solidFill>
                      <a:srgbClr val="F0EBE6"/>
                    </a:solidFill>
                  </a:tcPr>
                </a:tc>
                <a:tc>
                  <a:txBody>
                    <a:bodyPr/>
                    <a:lstStyle/>
                    <a:p>
                      <a:pPr indent="0" lvl="0" marL="0" marR="0" rtl="0" algn="ctr">
                        <a:spcBef>
                          <a:spcPts val="0"/>
                        </a:spcBef>
                        <a:spcAft>
                          <a:spcPts val="0"/>
                        </a:spcAft>
                        <a:buClr>
                          <a:srgbClr val="666666"/>
                        </a:buClr>
                        <a:buSzPts val="1000"/>
                        <a:buFont typeface="Calibri"/>
                        <a:buNone/>
                      </a:pPr>
                      <a:r>
                        <a:rPr lang="en-US" sz="1000" u="none" cap="none" strike="noStrike">
                          <a:solidFill>
                            <a:srgbClr val="666666"/>
                          </a:solidFill>
                          <a:latin typeface="Calibri"/>
                          <a:ea typeface="Calibri"/>
                          <a:cs typeface="Calibri"/>
                          <a:sym typeface="Calibri"/>
                        </a:rPr>
                        <a:t>~0.20</a:t>
                      </a:r>
                      <a:endParaRPr sz="1000" u="none" cap="none" strike="noStrike">
                        <a:latin typeface="Calibri"/>
                        <a:ea typeface="Calibri"/>
                        <a:cs typeface="Calibri"/>
                        <a:sym typeface="Calibri"/>
                      </a:endParaRPr>
                    </a:p>
                  </a:txBody>
                  <a:tcPr marT="34300" marB="34300" marR="68600" marL="68600">
                    <a:lnL cap="flat" cmpd="sng" w="7150">
                      <a:solidFill>
                        <a:srgbClr val="CCCCCC"/>
                      </a:solidFill>
                      <a:prstDash val="solid"/>
                      <a:round/>
                      <a:headEnd len="sm" w="sm" type="none"/>
                      <a:tailEnd len="sm" w="sm" type="none"/>
                    </a:lnL>
                    <a:lnR cap="flat" cmpd="sng" w="7150">
                      <a:solidFill>
                        <a:srgbClr val="CCCCCC"/>
                      </a:solidFill>
                      <a:prstDash val="solid"/>
                      <a:round/>
                      <a:headEnd len="sm" w="sm" type="none"/>
                      <a:tailEnd len="sm" w="sm" type="none"/>
                    </a:lnR>
                    <a:lnT cap="flat" cmpd="sng" w="7150">
                      <a:solidFill>
                        <a:srgbClr val="CCCCCC"/>
                      </a:solidFill>
                      <a:prstDash val="solid"/>
                      <a:round/>
                      <a:headEnd len="sm" w="sm" type="none"/>
                      <a:tailEnd len="sm" w="sm" type="none"/>
                    </a:lnT>
                    <a:lnB cap="flat" cmpd="sng" w="7150">
                      <a:solidFill>
                        <a:srgbClr val="CCCCCC"/>
                      </a:solidFill>
                      <a:prstDash val="solid"/>
                      <a:round/>
                      <a:headEnd len="sm" w="sm" type="none"/>
                      <a:tailEnd len="sm" w="sm" type="none"/>
                    </a:lnB>
                    <a:solidFill>
                      <a:srgbClr val="F0EBE6"/>
                    </a:solidFill>
                  </a:tcPr>
                </a:tc>
                <a:tc>
                  <a:txBody>
                    <a:bodyPr/>
                    <a:lstStyle/>
                    <a:p>
                      <a:pPr indent="0" lvl="0" marL="0" marR="0" rtl="0" algn="ctr">
                        <a:spcBef>
                          <a:spcPts val="0"/>
                        </a:spcBef>
                        <a:spcAft>
                          <a:spcPts val="0"/>
                        </a:spcAft>
                        <a:buClr>
                          <a:srgbClr val="0D9488"/>
                        </a:buClr>
                        <a:buSzPts val="1100"/>
                        <a:buFont typeface="Calibri"/>
                        <a:buNone/>
                      </a:pPr>
                      <a:r>
                        <a:rPr b="1" lang="en-US" sz="1100" u="none" cap="none" strike="noStrike">
                          <a:solidFill>
                            <a:srgbClr val="0D9488"/>
                          </a:solidFill>
                          <a:latin typeface="Calibri"/>
                          <a:ea typeface="Calibri"/>
                          <a:cs typeface="Calibri"/>
                          <a:sym typeface="Calibri"/>
                        </a:rPr>
                        <a:t>0.430</a:t>
                      </a:r>
                      <a:endParaRPr sz="1100" u="none" cap="none" strike="noStrike">
                        <a:latin typeface="Calibri"/>
                        <a:ea typeface="Calibri"/>
                        <a:cs typeface="Calibri"/>
                        <a:sym typeface="Calibri"/>
                      </a:endParaRPr>
                    </a:p>
                  </a:txBody>
                  <a:tcPr marT="34300" marB="34300" marR="68600" marL="68600">
                    <a:lnL cap="flat" cmpd="sng" w="7150">
                      <a:solidFill>
                        <a:srgbClr val="CCCCCC"/>
                      </a:solidFill>
                      <a:prstDash val="solid"/>
                      <a:round/>
                      <a:headEnd len="sm" w="sm" type="none"/>
                      <a:tailEnd len="sm" w="sm" type="none"/>
                    </a:lnL>
                    <a:lnR cap="flat" cmpd="sng" w="7150">
                      <a:solidFill>
                        <a:srgbClr val="CCCCCC"/>
                      </a:solidFill>
                      <a:prstDash val="solid"/>
                      <a:round/>
                      <a:headEnd len="sm" w="sm" type="none"/>
                      <a:tailEnd len="sm" w="sm" type="none"/>
                    </a:lnR>
                    <a:lnT cap="flat" cmpd="sng" w="7150">
                      <a:solidFill>
                        <a:srgbClr val="CCCCCC"/>
                      </a:solidFill>
                      <a:prstDash val="solid"/>
                      <a:round/>
                      <a:headEnd len="sm" w="sm" type="none"/>
                      <a:tailEnd len="sm" w="sm" type="none"/>
                    </a:lnT>
                    <a:lnB cap="flat" cmpd="sng" w="7150">
                      <a:solidFill>
                        <a:srgbClr val="CCCCCC"/>
                      </a:solidFill>
                      <a:prstDash val="solid"/>
                      <a:round/>
                      <a:headEnd len="sm" w="sm" type="none"/>
                      <a:tailEnd len="sm" w="sm" type="none"/>
                    </a:lnB>
                    <a:solidFill>
                      <a:srgbClr val="F0EBE6"/>
                    </a:solidFill>
                  </a:tcPr>
                </a:tc>
                <a:tc>
                  <a:txBody>
                    <a:bodyPr/>
                    <a:lstStyle/>
                    <a:p>
                      <a:pPr indent="0" lvl="0" marL="0" marR="0" rtl="0" algn="ctr">
                        <a:spcBef>
                          <a:spcPts val="0"/>
                        </a:spcBef>
                        <a:spcAft>
                          <a:spcPts val="0"/>
                        </a:spcAft>
                        <a:buClr>
                          <a:srgbClr val="0D9488"/>
                        </a:buClr>
                        <a:buSzPts val="1000"/>
                        <a:buFont typeface="Calibri"/>
                        <a:buNone/>
                      </a:pPr>
                      <a:r>
                        <a:rPr b="1" lang="en-US" sz="1000" u="none" cap="none" strike="noStrike">
                          <a:solidFill>
                            <a:srgbClr val="0D9488"/>
                          </a:solidFill>
                          <a:latin typeface="Calibri"/>
                          <a:ea typeface="Calibri"/>
                          <a:cs typeface="Calibri"/>
                          <a:sym typeface="Calibri"/>
                        </a:rPr>
                        <a:t>+0.23  (2.2×)</a:t>
                      </a:r>
                      <a:endParaRPr sz="1000" u="none" cap="none" strike="noStrike">
                        <a:latin typeface="Calibri"/>
                        <a:ea typeface="Calibri"/>
                        <a:cs typeface="Calibri"/>
                        <a:sym typeface="Calibri"/>
                      </a:endParaRPr>
                    </a:p>
                  </a:txBody>
                  <a:tcPr marT="34300" marB="34300" marR="68600" marL="68600">
                    <a:lnL cap="flat" cmpd="sng" w="7150">
                      <a:solidFill>
                        <a:srgbClr val="CCCCCC"/>
                      </a:solidFill>
                      <a:prstDash val="solid"/>
                      <a:round/>
                      <a:headEnd len="sm" w="sm" type="none"/>
                      <a:tailEnd len="sm" w="sm" type="none"/>
                    </a:lnL>
                    <a:lnR cap="flat" cmpd="sng" w="7150">
                      <a:solidFill>
                        <a:srgbClr val="CCCCCC"/>
                      </a:solidFill>
                      <a:prstDash val="solid"/>
                      <a:round/>
                      <a:headEnd len="sm" w="sm" type="none"/>
                      <a:tailEnd len="sm" w="sm" type="none"/>
                    </a:lnR>
                    <a:lnT cap="flat" cmpd="sng" w="7150">
                      <a:solidFill>
                        <a:srgbClr val="CCCCCC"/>
                      </a:solidFill>
                      <a:prstDash val="solid"/>
                      <a:round/>
                      <a:headEnd len="sm" w="sm" type="none"/>
                      <a:tailEnd len="sm" w="sm" type="none"/>
                    </a:lnT>
                    <a:lnB cap="flat" cmpd="sng" w="7150">
                      <a:solidFill>
                        <a:srgbClr val="CCCCCC"/>
                      </a:solidFill>
                      <a:prstDash val="solid"/>
                      <a:round/>
                      <a:headEnd len="sm" w="sm" type="none"/>
                      <a:tailEnd len="sm" w="sm" type="none"/>
                    </a:lnB>
                    <a:solidFill>
                      <a:srgbClr val="F0EBE6"/>
                    </a:solidFill>
                  </a:tcPr>
                </a:tc>
              </a:tr>
              <a:tr h="329175">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latin typeface="Calibri"/>
                          <a:ea typeface="Calibri"/>
                          <a:cs typeface="Calibri"/>
                          <a:sym typeface="Calibri"/>
                        </a:rPr>
                        <a:t>LPIPS ↓</a:t>
                      </a:r>
                      <a:endParaRPr sz="1000" u="none" cap="none" strike="noStrike">
                        <a:latin typeface="Calibri"/>
                        <a:ea typeface="Calibri"/>
                        <a:cs typeface="Calibri"/>
                        <a:sym typeface="Calibri"/>
                      </a:endParaRPr>
                    </a:p>
                  </a:txBody>
                  <a:tcPr marT="34300" marB="34300" marR="68600" marL="68600">
                    <a:lnL cap="flat" cmpd="sng" w="7150">
                      <a:solidFill>
                        <a:srgbClr val="CCCCCC"/>
                      </a:solidFill>
                      <a:prstDash val="solid"/>
                      <a:round/>
                      <a:headEnd len="sm" w="sm" type="none"/>
                      <a:tailEnd len="sm" w="sm" type="none"/>
                    </a:lnL>
                    <a:lnR cap="flat" cmpd="sng" w="7150">
                      <a:solidFill>
                        <a:srgbClr val="CCCCCC"/>
                      </a:solidFill>
                      <a:prstDash val="solid"/>
                      <a:round/>
                      <a:headEnd len="sm" w="sm" type="none"/>
                      <a:tailEnd len="sm" w="sm" type="none"/>
                    </a:lnR>
                    <a:lnT cap="flat" cmpd="sng" w="7150">
                      <a:solidFill>
                        <a:srgbClr val="CCCCCC"/>
                      </a:solidFill>
                      <a:prstDash val="solid"/>
                      <a:round/>
                      <a:headEnd len="sm" w="sm" type="none"/>
                      <a:tailEnd len="sm" w="sm" type="none"/>
                    </a:lnT>
                    <a:lnB cap="flat" cmpd="sng" w="715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666666"/>
                        </a:buClr>
                        <a:buSzPts val="1000"/>
                        <a:buFont typeface="Calibri"/>
                        <a:buNone/>
                      </a:pPr>
                      <a:r>
                        <a:rPr lang="en-US" sz="1000" u="none" cap="none" strike="noStrike">
                          <a:solidFill>
                            <a:srgbClr val="666666"/>
                          </a:solidFill>
                          <a:latin typeface="Calibri"/>
                          <a:ea typeface="Calibri"/>
                          <a:cs typeface="Calibri"/>
                          <a:sym typeface="Calibri"/>
                        </a:rPr>
                        <a:t>~0.57</a:t>
                      </a:r>
                      <a:endParaRPr sz="1000" u="none" cap="none" strike="noStrike">
                        <a:latin typeface="Calibri"/>
                        <a:ea typeface="Calibri"/>
                        <a:cs typeface="Calibri"/>
                        <a:sym typeface="Calibri"/>
                      </a:endParaRPr>
                    </a:p>
                  </a:txBody>
                  <a:tcPr marT="34300" marB="34300" marR="68600" marL="68600">
                    <a:lnL cap="flat" cmpd="sng" w="7150">
                      <a:solidFill>
                        <a:srgbClr val="CCCCCC"/>
                      </a:solidFill>
                      <a:prstDash val="solid"/>
                      <a:round/>
                      <a:headEnd len="sm" w="sm" type="none"/>
                      <a:tailEnd len="sm" w="sm" type="none"/>
                    </a:lnL>
                    <a:lnR cap="flat" cmpd="sng" w="7150">
                      <a:solidFill>
                        <a:srgbClr val="CCCCCC"/>
                      </a:solidFill>
                      <a:prstDash val="solid"/>
                      <a:round/>
                      <a:headEnd len="sm" w="sm" type="none"/>
                      <a:tailEnd len="sm" w="sm" type="none"/>
                    </a:lnR>
                    <a:lnT cap="flat" cmpd="sng" w="7150">
                      <a:solidFill>
                        <a:srgbClr val="CCCCCC"/>
                      </a:solidFill>
                      <a:prstDash val="solid"/>
                      <a:round/>
                      <a:headEnd len="sm" w="sm" type="none"/>
                      <a:tailEnd len="sm" w="sm" type="none"/>
                    </a:lnT>
                    <a:lnB cap="flat" cmpd="sng" w="715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7C3AED"/>
                        </a:buClr>
                        <a:buSzPts val="1100"/>
                        <a:buFont typeface="Calibri"/>
                        <a:buNone/>
                      </a:pPr>
                      <a:r>
                        <a:rPr b="1" lang="en-US" sz="1100" u="none" cap="none" strike="noStrike">
                          <a:solidFill>
                            <a:srgbClr val="7C3AED"/>
                          </a:solidFill>
                          <a:latin typeface="Calibri"/>
                          <a:ea typeface="Calibri"/>
                          <a:cs typeface="Calibri"/>
                          <a:sym typeface="Calibri"/>
                        </a:rPr>
                        <a:t>0.392</a:t>
                      </a:r>
                      <a:endParaRPr sz="1100" u="none" cap="none" strike="noStrike">
                        <a:latin typeface="Calibri"/>
                        <a:ea typeface="Calibri"/>
                        <a:cs typeface="Calibri"/>
                        <a:sym typeface="Calibri"/>
                      </a:endParaRPr>
                    </a:p>
                  </a:txBody>
                  <a:tcPr marT="34300" marB="34300" marR="68600" marL="68600">
                    <a:lnL cap="flat" cmpd="sng" w="7150">
                      <a:solidFill>
                        <a:srgbClr val="CCCCCC"/>
                      </a:solidFill>
                      <a:prstDash val="solid"/>
                      <a:round/>
                      <a:headEnd len="sm" w="sm" type="none"/>
                      <a:tailEnd len="sm" w="sm" type="none"/>
                    </a:lnL>
                    <a:lnR cap="flat" cmpd="sng" w="7150">
                      <a:solidFill>
                        <a:srgbClr val="CCCCCC"/>
                      </a:solidFill>
                      <a:prstDash val="solid"/>
                      <a:round/>
                      <a:headEnd len="sm" w="sm" type="none"/>
                      <a:tailEnd len="sm" w="sm" type="none"/>
                    </a:lnR>
                    <a:lnT cap="flat" cmpd="sng" w="7150">
                      <a:solidFill>
                        <a:srgbClr val="CCCCCC"/>
                      </a:solidFill>
                      <a:prstDash val="solid"/>
                      <a:round/>
                      <a:headEnd len="sm" w="sm" type="none"/>
                      <a:tailEnd len="sm" w="sm" type="none"/>
                    </a:lnT>
                    <a:lnB cap="flat" cmpd="sng" w="715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7C3AED"/>
                        </a:buClr>
                        <a:buSzPts val="1000"/>
                        <a:buFont typeface="Calibri"/>
                        <a:buNone/>
                      </a:pPr>
                      <a:r>
                        <a:rPr b="1" lang="en-US" sz="1000" u="none" cap="none" strike="noStrike">
                          <a:solidFill>
                            <a:srgbClr val="7C3AED"/>
                          </a:solidFill>
                          <a:latin typeface="Calibri"/>
                          <a:ea typeface="Calibri"/>
                          <a:cs typeface="Calibri"/>
                          <a:sym typeface="Calibri"/>
                        </a:rPr>
                        <a:t>−0.18  (−31%)</a:t>
                      </a:r>
                      <a:endParaRPr sz="1000" u="none" cap="none" strike="noStrike">
                        <a:latin typeface="Calibri"/>
                        <a:ea typeface="Calibri"/>
                        <a:cs typeface="Calibri"/>
                        <a:sym typeface="Calibri"/>
                      </a:endParaRPr>
                    </a:p>
                  </a:txBody>
                  <a:tcPr marT="34300" marB="34300" marR="68600" marL="68600">
                    <a:lnL cap="flat" cmpd="sng" w="7150">
                      <a:solidFill>
                        <a:srgbClr val="CCCCCC"/>
                      </a:solidFill>
                      <a:prstDash val="solid"/>
                      <a:round/>
                      <a:headEnd len="sm" w="sm" type="none"/>
                      <a:tailEnd len="sm" w="sm" type="none"/>
                    </a:lnL>
                    <a:lnR cap="flat" cmpd="sng" w="7150">
                      <a:solidFill>
                        <a:srgbClr val="CCCCCC"/>
                      </a:solidFill>
                      <a:prstDash val="solid"/>
                      <a:round/>
                      <a:headEnd len="sm" w="sm" type="none"/>
                      <a:tailEnd len="sm" w="sm" type="none"/>
                    </a:lnR>
                    <a:lnT cap="flat" cmpd="sng" w="7150">
                      <a:solidFill>
                        <a:srgbClr val="CCCCCC"/>
                      </a:solidFill>
                      <a:prstDash val="solid"/>
                      <a:round/>
                      <a:headEnd len="sm" w="sm" type="none"/>
                      <a:tailEnd len="sm" w="sm" type="none"/>
                    </a:lnT>
                    <a:lnB cap="flat" cmpd="sng" w="7150">
                      <a:solidFill>
                        <a:srgbClr val="CCCCCC"/>
                      </a:solidFill>
                      <a:prstDash val="solid"/>
                      <a:round/>
                      <a:headEnd len="sm" w="sm" type="none"/>
                      <a:tailEnd len="sm" w="sm" type="none"/>
                    </a:lnB>
                  </a:tcPr>
                </a:tc>
              </a:tr>
            </a:tbl>
          </a:graphicData>
        </a:graphic>
      </p:graphicFrame>
      <p:sp>
        <p:nvSpPr>
          <p:cNvPr id="238" name="Google Shape;238;p15"/>
          <p:cNvSpPr/>
          <p:nvPr/>
        </p:nvSpPr>
        <p:spPr>
          <a:xfrm>
            <a:off x="6789420" y="1028700"/>
            <a:ext cx="2057400" cy="740700"/>
          </a:xfrm>
          <a:prstGeom prst="rect">
            <a:avLst/>
          </a:prstGeom>
          <a:solidFill>
            <a:srgbClr val="FFFFFF"/>
          </a:solidFill>
          <a:ln>
            <a:noFill/>
          </a:ln>
          <a:effectLst>
            <a:outerShdw blurRad="38100" rotWithShape="0" algn="bl" dir="8100000" dist="19050">
              <a:srgbClr val="000000">
                <a:alpha val="102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9" name="Google Shape;239;p15"/>
          <p:cNvSpPr/>
          <p:nvPr/>
        </p:nvSpPr>
        <p:spPr>
          <a:xfrm>
            <a:off x="6789420" y="1028700"/>
            <a:ext cx="37800" cy="740700"/>
          </a:xfrm>
          <a:prstGeom prst="rect">
            <a:avLst/>
          </a:prstGeom>
          <a:solidFill>
            <a:srgbClr val="E8723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0" name="Google Shape;240;p15"/>
          <p:cNvSpPr/>
          <p:nvPr/>
        </p:nvSpPr>
        <p:spPr>
          <a:xfrm>
            <a:off x="6899148" y="1062990"/>
            <a:ext cx="1234500" cy="44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23A"/>
              </a:buClr>
              <a:buSzPts val="2600"/>
              <a:buFont typeface="Trebuchet MS"/>
              <a:buNone/>
            </a:pPr>
            <a:r>
              <a:rPr b="1" i="0" lang="en-US" sz="2600" u="none" cap="none" strike="noStrike">
                <a:solidFill>
                  <a:srgbClr val="E8723A"/>
                </a:solidFill>
                <a:latin typeface="Trebuchet MS"/>
                <a:ea typeface="Trebuchet MS"/>
                <a:cs typeface="Trebuchet MS"/>
                <a:sym typeface="Trebuchet MS"/>
              </a:rPr>
              <a:t>17.43</a:t>
            </a:r>
            <a:endParaRPr b="0" i="0" sz="2600" u="none" cap="none" strike="noStrike">
              <a:solidFill>
                <a:schemeClr val="dk1"/>
              </a:solidFill>
              <a:latin typeface="Calibri"/>
              <a:ea typeface="Calibri"/>
              <a:cs typeface="Calibri"/>
              <a:sym typeface="Calibri"/>
            </a:endParaRPr>
          </a:p>
        </p:txBody>
      </p:sp>
      <p:sp>
        <p:nvSpPr>
          <p:cNvPr id="241" name="Google Shape;241;p15"/>
          <p:cNvSpPr/>
          <p:nvPr/>
        </p:nvSpPr>
        <p:spPr>
          <a:xfrm>
            <a:off x="8037576" y="1097280"/>
            <a:ext cx="6858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A4A"/>
              </a:buClr>
              <a:buSzPts val="1100"/>
              <a:buFont typeface="Calibri"/>
              <a:buNone/>
            </a:pPr>
            <a:r>
              <a:rPr b="1" i="0" lang="en-US" sz="1100" u="none" cap="none" strike="noStrike">
                <a:solidFill>
                  <a:srgbClr val="2B3A4A"/>
                </a:solidFill>
                <a:latin typeface="Calibri"/>
                <a:ea typeface="Calibri"/>
                <a:cs typeface="Calibri"/>
                <a:sym typeface="Calibri"/>
              </a:rPr>
              <a:t>PSNR (dB)</a:t>
            </a:r>
            <a:endParaRPr b="0" i="0" sz="1100" u="none" cap="none" strike="noStrike">
              <a:solidFill>
                <a:schemeClr val="dk1"/>
              </a:solidFill>
              <a:latin typeface="Calibri"/>
              <a:ea typeface="Calibri"/>
              <a:cs typeface="Calibri"/>
              <a:sym typeface="Calibri"/>
            </a:endParaRPr>
          </a:p>
        </p:txBody>
      </p:sp>
      <p:sp>
        <p:nvSpPr>
          <p:cNvPr id="242" name="Google Shape;242;p15"/>
          <p:cNvSpPr/>
          <p:nvPr/>
        </p:nvSpPr>
        <p:spPr>
          <a:xfrm>
            <a:off x="6899148" y="1549908"/>
            <a:ext cx="18519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9999"/>
              </a:buClr>
              <a:buSzPts val="800"/>
              <a:buFont typeface="Calibri"/>
              <a:buNone/>
            </a:pPr>
            <a:r>
              <a:rPr b="0" i="0" lang="en-US" sz="800" u="none" cap="none" strike="noStrike">
                <a:solidFill>
                  <a:srgbClr val="999999"/>
                </a:solidFill>
                <a:latin typeface="Calibri"/>
                <a:ea typeface="Calibri"/>
                <a:cs typeface="Calibri"/>
                <a:sym typeface="Calibri"/>
              </a:rPr>
              <a:t>Val set — 41 images</a:t>
            </a:r>
            <a:endParaRPr b="0" i="0" sz="800" u="none" cap="none" strike="noStrike">
              <a:solidFill>
                <a:schemeClr val="dk1"/>
              </a:solidFill>
              <a:latin typeface="Calibri"/>
              <a:ea typeface="Calibri"/>
              <a:cs typeface="Calibri"/>
              <a:sym typeface="Calibri"/>
            </a:endParaRPr>
          </a:p>
        </p:txBody>
      </p:sp>
      <p:sp>
        <p:nvSpPr>
          <p:cNvPr id="243" name="Google Shape;243;p15"/>
          <p:cNvSpPr/>
          <p:nvPr/>
        </p:nvSpPr>
        <p:spPr>
          <a:xfrm>
            <a:off x="6789420" y="1851660"/>
            <a:ext cx="2057400" cy="740700"/>
          </a:xfrm>
          <a:prstGeom prst="rect">
            <a:avLst/>
          </a:prstGeom>
          <a:solidFill>
            <a:srgbClr val="FFFFFF"/>
          </a:solidFill>
          <a:ln>
            <a:noFill/>
          </a:ln>
          <a:effectLst>
            <a:outerShdw blurRad="38100" rotWithShape="0" algn="bl" dir="8100000" dist="19050">
              <a:srgbClr val="000000">
                <a:alpha val="102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4" name="Google Shape;244;p15"/>
          <p:cNvSpPr/>
          <p:nvPr/>
        </p:nvSpPr>
        <p:spPr>
          <a:xfrm>
            <a:off x="6789420" y="1851660"/>
            <a:ext cx="37800" cy="740700"/>
          </a:xfrm>
          <a:prstGeom prst="rect">
            <a:avLst/>
          </a:prstGeom>
          <a:solidFill>
            <a:srgbClr val="E8723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5" name="Google Shape;245;p15"/>
          <p:cNvSpPr/>
          <p:nvPr/>
        </p:nvSpPr>
        <p:spPr>
          <a:xfrm>
            <a:off x="6899148" y="1885950"/>
            <a:ext cx="1234500" cy="44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23A"/>
              </a:buClr>
              <a:buSzPts val="2600"/>
              <a:buFont typeface="Trebuchet MS"/>
              <a:buNone/>
            </a:pPr>
            <a:r>
              <a:rPr b="1" i="0" lang="en-US" sz="2600" u="none" cap="none" strike="noStrike">
                <a:solidFill>
                  <a:srgbClr val="E8723A"/>
                </a:solidFill>
                <a:latin typeface="Trebuchet MS"/>
                <a:ea typeface="Trebuchet MS"/>
                <a:cs typeface="Trebuchet MS"/>
                <a:sym typeface="Trebuchet MS"/>
              </a:rPr>
              <a:t>0.430</a:t>
            </a:r>
            <a:endParaRPr b="0" i="0" sz="2600" u="none" cap="none" strike="noStrike">
              <a:solidFill>
                <a:schemeClr val="dk1"/>
              </a:solidFill>
              <a:latin typeface="Calibri"/>
              <a:ea typeface="Calibri"/>
              <a:cs typeface="Calibri"/>
              <a:sym typeface="Calibri"/>
            </a:endParaRPr>
          </a:p>
        </p:txBody>
      </p:sp>
      <p:sp>
        <p:nvSpPr>
          <p:cNvPr id="246" name="Google Shape;246;p15"/>
          <p:cNvSpPr/>
          <p:nvPr/>
        </p:nvSpPr>
        <p:spPr>
          <a:xfrm>
            <a:off x="8037576" y="1920240"/>
            <a:ext cx="6858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A4A"/>
              </a:buClr>
              <a:buSzPts val="1100"/>
              <a:buFont typeface="Calibri"/>
              <a:buNone/>
            </a:pPr>
            <a:r>
              <a:rPr b="1" i="0" lang="en-US" sz="1100" u="none" cap="none" strike="noStrike">
                <a:solidFill>
                  <a:srgbClr val="2B3A4A"/>
                </a:solidFill>
                <a:latin typeface="Calibri"/>
                <a:ea typeface="Calibri"/>
                <a:cs typeface="Calibri"/>
                <a:sym typeface="Calibri"/>
              </a:rPr>
              <a:t>SSIM</a:t>
            </a:r>
            <a:endParaRPr b="0" i="0" sz="1100" u="none" cap="none" strike="noStrike">
              <a:solidFill>
                <a:schemeClr val="dk1"/>
              </a:solidFill>
              <a:latin typeface="Calibri"/>
              <a:ea typeface="Calibri"/>
              <a:cs typeface="Calibri"/>
              <a:sym typeface="Calibri"/>
            </a:endParaRPr>
          </a:p>
        </p:txBody>
      </p:sp>
      <p:sp>
        <p:nvSpPr>
          <p:cNvPr id="247" name="Google Shape;247;p15"/>
          <p:cNvSpPr/>
          <p:nvPr/>
        </p:nvSpPr>
        <p:spPr>
          <a:xfrm>
            <a:off x="6899148" y="2372868"/>
            <a:ext cx="18519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9999"/>
              </a:buClr>
              <a:buSzPts val="800"/>
              <a:buFont typeface="Calibri"/>
              <a:buNone/>
            </a:pPr>
            <a:r>
              <a:rPr b="0" i="0" lang="en-US" sz="800" u="none" cap="none" strike="noStrike">
                <a:solidFill>
                  <a:srgbClr val="999999"/>
                </a:solidFill>
                <a:latin typeface="Calibri"/>
                <a:ea typeface="Calibri"/>
                <a:cs typeface="Calibri"/>
                <a:sym typeface="Calibri"/>
              </a:rPr>
              <a:t>Structural Similarity</a:t>
            </a:r>
            <a:endParaRPr b="0" i="0" sz="800" u="none" cap="none" strike="noStrike">
              <a:solidFill>
                <a:schemeClr val="dk1"/>
              </a:solidFill>
              <a:latin typeface="Calibri"/>
              <a:ea typeface="Calibri"/>
              <a:cs typeface="Calibri"/>
              <a:sym typeface="Calibri"/>
            </a:endParaRPr>
          </a:p>
        </p:txBody>
      </p:sp>
      <p:sp>
        <p:nvSpPr>
          <p:cNvPr id="248" name="Google Shape;248;p15"/>
          <p:cNvSpPr/>
          <p:nvPr/>
        </p:nvSpPr>
        <p:spPr>
          <a:xfrm>
            <a:off x="6789420" y="2674620"/>
            <a:ext cx="2057400" cy="740700"/>
          </a:xfrm>
          <a:prstGeom prst="rect">
            <a:avLst/>
          </a:prstGeom>
          <a:solidFill>
            <a:srgbClr val="FFFFFF"/>
          </a:solidFill>
          <a:ln>
            <a:noFill/>
          </a:ln>
          <a:effectLst>
            <a:outerShdw blurRad="38100" rotWithShape="0" algn="bl" dir="8100000" dist="19050">
              <a:srgbClr val="000000">
                <a:alpha val="102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9" name="Google Shape;249;p15"/>
          <p:cNvSpPr/>
          <p:nvPr/>
        </p:nvSpPr>
        <p:spPr>
          <a:xfrm>
            <a:off x="6789420" y="2674620"/>
            <a:ext cx="37800" cy="740700"/>
          </a:xfrm>
          <a:prstGeom prst="rect">
            <a:avLst/>
          </a:prstGeom>
          <a:solidFill>
            <a:srgbClr val="7C3A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0" name="Google Shape;250;p15"/>
          <p:cNvSpPr/>
          <p:nvPr/>
        </p:nvSpPr>
        <p:spPr>
          <a:xfrm>
            <a:off x="6899148" y="2708910"/>
            <a:ext cx="1234500" cy="44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2600"/>
              <a:buFont typeface="Trebuchet MS"/>
              <a:buNone/>
            </a:pPr>
            <a:r>
              <a:rPr b="1" i="0" lang="en-US" sz="2600" u="none" cap="none" strike="noStrike">
                <a:solidFill>
                  <a:srgbClr val="7C3AED"/>
                </a:solidFill>
                <a:latin typeface="Trebuchet MS"/>
                <a:ea typeface="Trebuchet MS"/>
                <a:cs typeface="Trebuchet MS"/>
                <a:sym typeface="Trebuchet MS"/>
              </a:rPr>
              <a:t>0.392</a:t>
            </a:r>
            <a:endParaRPr b="0" i="0" sz="2600" u="none" cap="none" strike="noStrike">
              <a:solidFill>
                <a:schemeClr val="dk1"/>
              </a:solidFill>
              <a:latin typeface="Calibri"/>
              <a:ea typeface="Calibri"/>
              <a:cs typeface="Calibri"/>
              <a:sym typeface="Calibri"/>
            </a:endParaRPr>
          </a:p>
        </p:txBody>
      </p:sp>
      <p:sp>
        <p:nvSpPr>
          <p:cNvPr id="251" name="Google Shape;251;p15"/>
          <p:cNvSpPr/>
          <p:nvPr/>
        </p:nvSpPr>
        <p:spPr>
          <a:xfrm>
            <a:off x="8037576" y="2743200"/>
            <a:ext cx="6858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A4A"/>
              </a:buClr>
              <a:buSzPts val="1100"/>
              <a:buFont typeface="Calibri"/>
              <a:buNone/>
            </a:pPr>
            <a:r>
              <a:rPr b="1" i="0" lang="en-US" sz="1100" u="none" cap="none" strike="noStrike">
                <a:solidFill>
                  <a:srgbClr val="2B3A4A"/>
                </a:solidFill>
                <a:latin typeface="Calibri"/>
                <a:ea typeface="Calibri"/>
                <a:cs typeface="Calibri"/>
                <a:sym typeface="Calibri"/>
              </a:rPr>
              <a:t>LPIPS</a:t>
            </a:r>
            <a:endParaRPr b="0" i="0" sz="1100" u="none" cap="none" strike="noStrike">
              <a:solidFill>
                <a:schemeClr val="dk1"/>
              </a:solidFill>
              <a:latin typeface="Calibri"/>
              <a:ea typeface="Calibri"/>
              <a:cs typeface="Calibri"/>
              <a:sym typeface="Calibri"/>
            </a:endParaRPr>
          </a:p>
        </p:txBody>
      </p:sp>
      <p:sp>
        <p:nvSpPr>
          <p:cNvPr id="252" name="Google Shape;252;p15"/>
          <p:cNvSpPr/>
          <p:nvPr/>
        </p:nvSpPr>
        <p:spPr>
          <a:xfrm>
            <a:off x="6899148" y="3195828"/>
            <a:ext cx="1851900" cy="17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9999"/>
              </a:buClr>
              <a:buSzPts val="800"/>
              <a:buFont typeface="Calibri"/>
              <a:buNone/>
            </a:pPr>
            <a:r>
              <a:rPr b="0" i="0" lang="en-US" sz="800" u="none" cap="none" strike="noStrike">
                <a:solidFill>
                  <a:srgbClr val="999999"/>
                </a:solidFill>
                <a:latin typeface="Calibri"/>
                <a:ea typeface="Calibri"/>
                <a:cs typeface="Calibri"/>
                <a:sym typeface="Calibri"/>
              </a:rPr>
              <a:t>Perceptual Distance</a:t>
            </a:r>
            <a:endParaRPr b="0" i="0" sz="800" u="none" cap="none" strike="noStrike">
              <a:solidFill>
                <a:schemeClr val="dk1"/>
              </a:solidFill>
              <a:latin typeface="Calibri"/>
              <a:ea typeface="Calibri"/>
              <a:cs typeface="Calibri"/>
              <a:sym typeface="Calibri"/>
            </a:endParaRPr>
          </a:p>
        </p:txBody>
      </p:sp>
      <p:sp>
        <p:nvSpPr>
          <p:cNvPr id="253" name="Google Shape;253;p15"/>
          <p:cNvSpPr/>
          <p:nvPr/>
        </p:nvSpPr>
        <p:spPr>
          <a:xfrm>
            <a:off x="308610" y="2537460"/>
            <a:ext cx="1988700" cy="891600"/>
          </a:xfrm>
          <a:prstGeom prst="rect">
            <a:avLst/>
          </a:prstGeom>
          <a:solidFill>
            <a:srgbClr val="0D948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4" name="Google Shape;254;p15"/>
          <p:cNvSpPr/>
          <p:nvPr/>
        </p:nvSpPr>
        <p:spPr>
          <a:xfrm>
            <a:off x="308610" y="2592324"/>
            <a:ext cx="1988700" cy="42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700"/>
              <a:buFont typeface="Trebuchet MS"/>
              <a:buNone/>
            </a:pPr>
            <a:r>
              <a:rPr b="1" i="0" lang="en-US" sz="2700" u="none" cap="none" strike="noStrike">
                <a:solidFill>
                  <a:srgbClr val="FFFFFF"/>
                </a:solidFill>
                <a:latin typeface="Trebuchet MS"/>
                <a:ea typeface="Trebuchet MS"/>
                <a:cs typeface="Trebuchet MS"/>
                <a:sym typeface="Trebuchet MS"/>
              </a:rPr>
              <a:t>+36%</a:t>
            </a:r>
            <a:endParaRPr b="0" i="0" sz="2700" u="none" cap="none" strike="noStrike">
              <a:solidFill>
                <a:schemeClr val="dk1"/>
              </a:solidFill>
              <a:latin typeface="Calibri"/>
              <a:ea typeface="Calibri"/>
              <a:cs typeface="Calibri"/>
              <a:sym typeface="Calibri"/>
            </a:endParaRPr>
          </a:p>
        </p:txBody>
      </p:sp>
      <p:sp>
        <p:nvSpPr>
          <p:cNvPr id="255" name="Google Shape;255;p15"/>
          <p:cNvSpPr/>
          <p:nvPr/>
        </p:nvSpPr>
        <p:spPr>
          <a:xfrm>
            <a:off x="308610" y="3031236"/>
            <a:ext cx="1988700" cy="35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PSNR Improvement</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12.83 → 17.43 dB</a:t>
            </a:r>
            <a:endParaRPr b="0" i="0" sz="800" u="none" cap="none" strike="noStrike">
              <a:solidFill>
                <a:schemeClr val="dk1"/>
              </a:solidFill>
              <a:latin typeface="Calibri"/>
              <a:ea typeface="Calibri"/>
              <a:cs typeface="Calibri"/>
              <a:sym typeface="Calibri"/>
            </a:endParaRPr>
          </a:p>
        </p:txBody>
      </p:sp>
      <p:sp>
        <p:nvSpPr>
          <p:cNvPr id="256" name="Google Shape;256;p15"/>
          <p:cNvSpPr/>
          <p:nvPr/>
        </p:nvSpPr>
        <p:spPr>
          <a:xfrm>
            <a:off x="2434590" y="2537460"/>
            <a:ext cx="1988700" cy="891600"/>
          </a:xfrm>
          <a:prstGeom prst="rect">
            <a:avLst/>
          </a:prstGeom>
          <a:solidFill>
            <a:srgbClr val="0D948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7" name="Google Shape;257;p15"/>
          <p:cNvSpPr/>
          <p:nvPr/>
        </p:nvSpPr>
        <p:spPr>
          <a:xfrm>
            <a:off x="2434590" y="2592324"/>
            <a:ext cx="1988700" cy="42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700"/>
              <a:buFont typeface="Trebuchet MS"/>
              <a:buNone/>
            </a:pPr>
            <a:r>
              <a:rPr b="1" i="0" lang="en-US" sz="2700" u="none" cap="none" strike="noStrike">
                <a:solidFill>
                  <a:srgbClr val="FFFFFF"/>
                </a:solidFill>
                <a:latin typeface="Trebuchet MS"/>
                <a:ea typeface="Trebuchet MS"/>
                <a:cs typeface="Trebuchet MS"/>
                <a:sym typeface="Trebuchet MS"/>
              </a:rPr>
              <a:t>2.2×</a:t>
            </a:r>
            <a:endParaRPr b="0" i="0" sz="2700" u="none" cap="none" strike="noStrike">
              <a:solidFill>
                <a:schemeClr val="dk1"/>
              </a:solidFill>
              <a:latin typeface="Calibri"/>
              <a:ea typeface="Calibri"/>
              <a:cs typeface="Calibri"/>
              <a:sym typeface="Calibri"/>
            </a:endParaRPr>
          </a:p>
        </p:txBody>
      </p:sp>
      <p:sp>
        <p:nvSpPr>
          <p:cNvPr id="258" name="Google Shape;258;p15"/>
          <p:cNvSpPr/>
          <p:nvPr/>
        </p:nvSpPr>
        <p:spPr>
          <a:xfrm>
            <a:off x="2434590" y="3031236"/>
            <a:ext cx="1988700" cy="35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SSIM Improvement</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0.20 → 0.43</a:t>
            </a:r>
            <a:endParaRPr b="0" i="0" sz="800" u="none" cap="none" strike="noStrike">
              <a:solidFill>
                <a:schemeClr val="dk1"/>
              </a:solidFill>
              <a:latin typeface="Calibri"/>
              <a:ea typeface="Calibri"/>
              <a:cs typeface="Calibri"/>
              <a:sym typeface="Calibri"/>
            </a:endParaRPr>
          </a:p>
        </p:txBody>
      </p:sp>
      <p:sp>
        <p:nvSpPr>
          <p:cNvPr id="259" name="Google Shape;259;p15"/>
          <p:cNvSpPr/>
          <p:nvPr/>
        </p:nvSpPr>
        <p:spPr>
          <a:xfrm>
            <a:off x="4560570" y="2537460"/>
            <a:ext cx="1988700" cy="891600"/>
          </a:xfrm>
          <a:prstGeom prst="rect">
            <a:avLst/>
          </a:prstGeom>
          <a:solidFill>
            <a:srgbClr val="7C3A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0" name="Google Shape;260;p15"/>
          <p:cNvSpPr/>
          <p:nvPr/>
        </p:nvSpPr>
        <p:spPr>
          <a:xfrm>
            <a:off x="4560570" y="2592324"/>
            <a:ext cx="1988700" cy="42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700"/>
              <a:buFont typeface="Trebuchet MS"/>
              <a:buNone/>
            </a:pPr>
            <a:r>
              <a:rPr b="1" i="0" lang="en-US" sz="2700" u="none" cap="none" strike="noStrike">
                <a:solidFill>
                  <a:srgbClr val="FFFFFF"/>
                </a:solidFill>
                <a:latin typeface="Trebuchet MS"/>
                <a:ea typeface="Trebuchet MS"/>
                <a:cs typeface="Trebuchet MS"/>
                <a:sym typeface="Trebuchet MS"/>
              </a:rPr>
              <a:t>−31%</a:t>
            </a:r>
            <a:endParaRPr b="0" i="0" sz="2700" u="none" cap="none" strike="noStrike">
              <a:solidFill>
                <a:schemeClr val="dk1"/>
              </a:solidFill>
              <a:latin typeface="Calibri"/>
              <a:ea typeface="Calibri"/>
              <a:cs typeface="Calibri"/>
              <a:sym typeface="Calibri"/>
            </a:endParaRPr>
          </a:p>
        </p:txBody>
      </p:sp>
      <p:sp>
        <p:nvSpPr>
          <p:cNvPr id="261" name="Google Shape;261;p15"/>
          <p:cNvSpPr/>
          <p:nvPr/>
        </p:nvSpPr>
        <p:spPr>
          <a:xfrm>
            <a:off x="4560570" y="3031236"/>
            <a:ext cx="1988700" cy="35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LPIPS Reduction</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0.57 → 0.39</a:t>
            </a:r>
            <a:endParaRPr b="0" i="0" sz="800" u="none" cap="none" strike="noStrike">
              <a:solidFill>
                <a:schemeClr val="dk1"/>
              </a:solidFill>
              <a:latin typeface="Calibri"/>
              <a:ea typeface="Calibri"/>
              <a:cs typeface="Calibri"/>
              <a:sym typeface="Calibri"/>
            </a:endParaRPr>
          </a:p>
        </p:txBody>
      </p:sp>
      <p:sp>
        <p:nvSpPr>
          <p:cNvPr id="262" name="Google Shape;262;p15"/>
          <p:cNvSpPr/>
          <p:nvPr/>
        </p:nvSpPr>
        <p:spPr>
          <a:xfrm>
            <a:off x="308610" y="3552444"/>
            <a:ext cx="6309600" cy="960000"/>
          </a:xfrm>
          <a:prstGeom prst="rect">
            <a:avLst/>
          </a:prstGeom>
          <a:solidFill>
            <a:srgbClr val="2B3A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3" name="Google Shape;263;p15"/>
          <p:cNvSpPr/>
          <p:nvPr/>
        </p:nvSpPr>
        <p:spPr>
          <a:xfrm>
            <a:off x="308610" y="3552444"/>
            <a:ext cx="37800" cy="960000"/>
          </a:xfrm>
          <a:prstGeom prst="rect">
            <a:avLst/>
          </a:prstGeom>
          <a:solidFill>
            <a:srgbClr val="E8723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4" name="Google Shape;264;p15"/>
          <p:cNvSpPr/>
          <p:nvPr/>
        </p:nvSpPr>
        <p:spPr>
          <a:xfrm>
            <a:off x="445770" y="3607308"/>
            <a:ext cx="5966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23A"/>
              </a:buClr>
              <a:buSzPts val="1000"/>
              <a:buFont typeface="Calibri"/>
              <a:buNone/>
            </a:pPr>
            <a:r>
              <a:rPr b="1" i="0" lang="en-US" sz="1000" u="none" cap="none" strike="noStrike">
                <a:solidFill>
                  <a:srgbClr val="E8723A"/>
                </a:solidFill>
                <a:latin typeface="Calibri"/>
                <a:ea typeface="Calibri"/>
                <a:cs typeface="Calibri"/>
                <a:sym typeface="Calibri"/>
              </a:rPr>
              <a:t>Why These Numbers Matter</a:t>
            </a:r>
            <a:endParaRPr b="0" i="0" sz="1000" u="none" cap="none" strike="noStrike">
              <a:solidFill>
                <a:schemeClr val="dk1"/>
              </a:solidFill>
              <a:latin typeface="Calibri"/>
              <a:ea typeface="Calibri"/>
              <a:cs typeface="Calibri"/>
              <a:sym typeface="Calibri"/>
            </a:endParaRPr>
          </a:p>
        </p:txBody>
      </p:sp>
      <p:sp>
        <p:nvSpPr>
          <p:cNvPr id="265" name="Google Shape;265;p15"/>
          <p:cNvSpPr/>
          <p:nvPr/>
        </p:nvSpPr>
        <p:spPr>
          <a:xfrm>
            <a:off x="445770" y="3840480"/>
            <a:ext cx="59667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PSNR +36% </a:t>
            </a:r>
            <a:r>
              <a:rPr b="0" i="0" lang="en-US" sz="900" u="none" cap="none" strike="noStrike">
                <a:solidFill>
                  <a:srgbClr val="CCCCCC"/>
                </a:solidFill>
                <a:latin typeface="Calibri"/>
                <a:ea typeface="Calibri"/>
                <a:cs typeface="Calibri"/>
                <a:sym typeface="Calibri"/>
              </a:rPr>
              <a:t>= pixels are dramatically more accurate — less noise, sharper boundaries.  </a:t>
            </a:r>
            <a:r>
              <a:rPr b="1" i="0" lang="en-US" sz="900" u="none" cap="none" strike="noStrike">
                <a:solidFill>
                  <a:srgbClr val="FFFFFF"/>
                </a:solidFill>
                <a:latin typeface="Calibri"/>
                <a:ea typeface="Calibri"/>
                <a:cs typeface="Calibri"/>
                <a:sym typeface="Calibri"/>
              </a:rPr>
              <a:t>SSIM 2.2× </a:t>
            </a:r>
            <a:r>
              <a:rPr b="0" i="0" lang="en-US" sz="900" u="none" cap="none" strike="noStrike">
                <a:solidFill>
                  <a:srgbClr val="CCCCCC"/>
                </a:solidFill>
                <a:latin typeface="Calibri"/>
                <a:ea typeface="Calibri"/>
                <a:cs typeface="Calibri"/>
                <a:sym typeface="Calibri"/>
              </a:rPr>
              <a:t>= structure (rooftops, roads) is preserved far better.  </a:t>
            </a:r>
            <a:r>
              <a:rPr b="1" i="0" lang="en-US" sz="900" u="none" cap="none" strike="noStrike">
                <a:solidFill>
                  <a:srgbClr val="FFFFFF"/>
                </a:solidFill>
                <a:latin typeface="Calibri"/>
                <a:ea typeface="Calibri"/>
                <a:cs typeface="Calibri"/>
                <a:sym typeface="Calibri"/>
              </a:rPr>
              <a:t>LPIPS −31% </a:t>
            </a:r>
            <a:r>
              <a:rPr b="0" i="0" lang="en-US" sz="900" u="none" cap="none" strike="noStrike">
                <a:solidFill>
                  <a:srgbClr val="CCCCCC"/>
                </a:solidFill>
                <a:latin typeface="Calibri"/>
                <a:ea typeface="Calibri"/>
                <a:cs typeface="Calibri"/>
                <a:sym typeface="Calibri"/>
              </a:rPr>
              <a:t>= the output looks perceptually closer to a real thermal camera.</a:t>
            </a:r>
            <a:endParaRPr b="0" i="0" sz="900" u="none" cap="none" strike="noStrike">
              <a:solidFill>
                <a:schemeClr val="dk1"/>
              </a:solidFill>
              <a:latin typeface="Calibri"/>
              <a:ea typeface="Calibri"/>
              <a:cs typeface="Calibri"/>
              <a:sym typeface="Calibri"/>
            </a:endParaRPr>
          </a:p>
        </p:txBody>
      </p:sp>
      <p:sp>
        <p:nvSpPr>
          <p:cNvPr id="266" name="Google Shape;266;p15"/>
          <p:cNvSpPr/>
          <p:nvPr/>
        </p:nvSpPr>
        <p:spPr>
          <a:xfrm>
            <a:off x="308610" y="4869180"/>
            <a:ext cx="8503800" cy="192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99999"/>
              </a:buClr>
              <a:buSzPts val="800"/>
              <a:buFont typeface="Calibri"/>
              <a:buNone/>
            </a:pPr>
            <a:r>
              <a:rPr b="0" i="1" lang="en-US" sz="800" u="none" cap="none" strike="noStrike">
                <a:solidFill>
                  <a:srgbClr val="999999"/>
                </a:solidFill>
                <a:latin typeface="Calibri"/>
                <a:ea typeface="Calibri"/>
                <a:cs typeface="Calibri"/>
                <a:sym typeface="Calibri"/>
              </a:rPr>
              <a:t>Loss: 0.4×L1 + 0.3×(1−SSIM) + 0.3×LPIPS  |  TTA: 4-way flip averaging  |  202 test predictions submitted</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B"/>
        </a:solidFill>
      </p:bgPr>
    </p:bg>
    <p:spTree>
      <p:nvGrpSpPr>
        <p:cNvPr id="271" name="Shape 271"/>
        <p:cNvGrpSpPr/>
        <p:nvPr/>
      </p:nvGrpSpPr>
      <p:grpSpPr>
        <a:xfrm>
          <a:off x="0" y="0"/>
          <a:ext cx="0" cy="0"/>
          <a:chOff x="0" y="0"/>
          <a:chExt cx="0" cy="0"/>
        </a:xfrm>
      </p:grpSpPr>
      <p:sp>
        <p:nvSpPr>
          <p:cNvPr id="272" name="Google Shape;272;p16"/>
          <p:cNvSpPr/>
          <p:nvPr/>
        </p:nvSpPr>
        <p:spPr>
          <a:xfrm>
            <a:off x="0" y="0"/>
            <a:ext cx="9141900" cy="617100"/>
          </a:xfrm>
          <a:prstGeom prst="rect">
            <a:avLst/>
          </a:prstGeom>
          <a:solidFill>
            <a:srgbClr val="2B3A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3" name="Google Shape;273;p16"/>
          <p:cNvSpPr/>
          <p:nvPr/>
        </p:nvSpPr>
        <p:spPr>
          <a:xfrm>
            <a:off x="0" y="617220"/>
            <a:ext cx="9141900" cy="30900"/>
          </a:xfrm>
          <a:prstGeom prst="rect">
            <a:avLst/>
          </a:prstGeom>
          <a:solidFill>
            <a:srgbClr val="E8723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4" name="Google Shape;274;p16"/>
          <p:cNvSpPr/>
          <p:nvPr/>
        </p:nvSpPr>
        <p:spPr>
          <a:xfrm>
            <a:off x="377190" y="54864"/>
            <a:ext cx="8367000" cy="51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Trebuchet MS"/>
              <a:buNone/>
            </a:pPr>
            <a:r>
              <a:rPr b="1" i="0" lang="en-US" sz="2100" u="none" cap="none" strike="noStrike">
                <a:solidFill>
                  <a:srgbClr val="FFFFFF"/>
                </a:solidFill>
                <a:latin typeface="Trebuchet MS"/>
                <a:ea typeface="Trebuchet MS"/>
                <a:cs typeface="Trebuchet MS"/>
                <a:sym typeface="Trebuchet MS"/>
              </a:rPr>
              <a:t>Visual Results: RGB → Refined Thermal Prediction</a:t>
            </a:r>
            <a:endParaRPr b="0" i="0" sz="2100" u="none" cap="none" strike="noStrike">
              <a:solidFill>
                <a:schemeClr val="dk1"/>
              </a:solidFill>
              <a:latin typeface="Calibri"/>
              <a:ea typeface="Calibri"/>
              <a:cs typeface="Calibri"/>
              <a:sym typeface="Calibri"/>
            </a:endParaRPr>
          </a:p>
        </p:txBody>
      </p:sp>
      <p:sp>
        <p:nvSpPr>
          <p:cNvPr id="275" name="Google Shape;275;p16"/>
          <p:cNvSpPr/>
          <p:nvPr/>
        </p:nvSpPr>
        <p:spPr>
          <a:xfrm>
            <a:off x="377190" y="733806"/>
            <a:ext cx="83670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666666"/>
              </a:buClr>
              <a:buSzPts val="900"/>
              <a:buFont typeface="Calibri"/>
              <a:buNone/>
            </a:pPr>
            <a:r>
              <a:rPr b="0" i="1" lang="en-US" sz="900" u="none" cap="none" strike="noStrike">
                <a:solidFill>
                  <a:srgbClr val="666666"/>
                </a:solidFill>
                <a:latin typeface="Calibri"/>
                <a:ea typeface="Calibri"/>
                <a:cs typeface="Calibri"/>
                <a:sym typeface="Calibri"/>
              </a:rPr>
              <a:t>Test Set Sample Gallery  |  RGB input (top) → Our refined thermal prediction (bottom)</a:t>
            </a:r>
            <a:endParaRPr b="0" i="0" sz="900" u="none" cap="none" strike="noStrike">
              <a:solidFill>
                <a:schemeClr val="dk1"/>
              </a:solidFill>
              <a:latin typeface="Calibri"/>
              <a:ea typeface="Calibri"/>
              <a:cs typeface="Calibri"/>
              <a:sym typeface="Calibri"/>
            </a:endParaRPr>
          </a:p>
        </p:txBody>
      </p:sp>
      <p:sp>
        <p:nvSpPr>
          <p:cNvPr id="276" name="Google Shape;276;p16"/>
          <p:cNvSpPr/>
          <p:nvPr/>
        </p:nvSpPr>
        <p:spPr>
          <a:xfrm>
            <a:off x="308610" y="1042416"/>
            <a:ext cx="4114800" cy="1371600"/>
          </a:xfrm>
          <a:prstGeom prst="rect">
            <a:avLst/>
          </a:prstGeom>
          <a:solidFill>
            <a:srgbClr val="FFFFFF"/>
          </a:solidFill>
          <a:ln>
            <a:noFill/>
          </a:ln>
          <a:effectLst>
            <a:outerShdw blurRad="38100" rotWithShape="0" algn="bl" dir="81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7" name="Google Shape;277;p16"/>
          <p:cNvSpPr/>
          <p:nvPr/>
        </p:nvSpPr>
        <p:spPr>
          <a:xfrm>
            <a:off x="308610" y="1042416"/>
            <a:ext cx="37800" cy="1371600"/>
          </a:xfrm>
          <a:prstGeom prst="rect">
            <a:avLst/>
          </a:prstGeom>
          <a:solidFill>
            <a:srgbClr val="0D948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8" name="Google Shape;278;p16"/>
          <p:cNvSpPr/>
          <p:nvPr/>
        </p:nvSpPr>
        <p:spPr>
          <a:xfrm>
            <a:off x="445770" y="1097280"/>
            <a:ext cx="38406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A4A"/>
              </a:buClr>
              <a:buSzPts val="1100"/>
              <a:buFont typeface="Calibri"/>
              <a:buNone/>
            </a:pPr>
            <a:r>
              <a:rPr b="1" i="0" lang="en-US" sz="1100" u="none" cap="none" strike="noStrike">
                <a:solidFill>
                  <a:srgbClr val="2B3A4A"/>
                </a:solidFill>
                <a:latin typeface="Calibri"/>
                <a:ea typeface="Calibri"/>
                <a:cs typeface="Calibri"/>
                <a:sym typeface="Calibri"/>
              </a:rPr>
              <a:t>What the model captures</a:t>
            </a:r>
            <a:endParaRPr b="0" i="0" sz="1100" u="none" cap="none" strike="noStrike">
              <a:solidFill>
                <a:schemeClr val="dk1"/>
              </a:solidFill>
              <a:latin typeface="Calibri"/>
              <a:ea typeface="Calibri"/>
              <a:cs typeface="Calibri"/>
              <a:sym typeface="Calibri"/>
            </a:endParaRPr>
          </a:p>
        </p:txBody>
      </p:sp>
      <p:sp>
        <p:nvSpPr>
          <p:cNvPr id="279" name="Google Shape;279;p16"/>
          <p:cNvSpPr/>
          <p:nvPr/>
        </p:nvSpPr>
        <p:spPr>
          <a:xfrm>
            <a:off x="445770" y="1357884"/>
            <a:ext cx="3840600" cy="891600"/>
          </a:xfrm>
          <a:prstGeom prst="rect">
            <a:avLst/>
          </a:prstGeom>
          <a:noFill/>
          <a:ln>
            <a:noFill/>
          </a:ln>
        </p:spPr>
        <p:txBody>
          <a:bodyPr anchorCtr="0" anchor="ctr" bIns="34275" lIns="68575" spcFirstLastPara="1" rIns="68575" wrap="square" tIns="34275">
            <a:noAutofit/>
          </a:bodyPr>
          <a:lstStyle/>
          <a:p>
            <a:pPr indent="-260350" lvl="0" marL="254000" marR="0" rtl="0" algn="l">
              <a:spcBef>
                <a:spcPts val="0"/>
              </a:spcBef>
              <a:spcAft>
                <a:spcPts val="0"/>
              </a:spcAft>
              <a:buClr>
                <a:srgbClr val="666666"/>
              </a:buClr>
              <a:buSzPts val="900"/>
              <a:buFont typeface="Calibri"/>
              <a:buChar char="•"/>
            </a:pPr>
            <a:r>
              <a:rPr b="0" i="0" lang="en-US" sz="900" u="none" cap="none" strike="noStrike">
                <a:solidFill>
                  <a:srgbClr val="666666"/>
                </a:solidFill>
                <a:latin typeface="Calibri"/>
                <a:ea typeface="Calibri"/>
                <a:cs typeface="Calibri"/>
                <a:sym typeface="Calibri"/>
              </a:rPr>
              <a:t>Hot surfaces (rooftops, asphalt, sun-facing walls) appear bright</a:t>
            </a:r>
            <a:endParaRPr b="0" i="0" sz="900" u="none" cap="none" strike="noStrike">
              <a:solidFill>
                <a:schemeClr val="dk1"/>
              </a:solidFill>
              <a:latin typeface="Calibri"/>
              <a:ea typeface="Calibri"/>
              <a:cs typeface="Calibri"/>
              <a:sym typeface="Calibri"/>
            </a:endParaRPr>
          </a:p>
          <a:p>
            <a:pPr indent="-260350" lvl="0" marL="254000" marR="0" rtl="0" algn="l">
              <a:spcBef>
                <a:spcPts val="200"/>
              </a:spcBef>
              <a:spcAft>
                <a:spcPts val="0"/>
              </a:spcAft>
              <a:buClr>
                <a:srgbClr val="666666"/>
              </a:buClr>
              <a:buSzPts val="900"/>
              <a:buFont typeface="Calibri"/>
              <a:buChar char="•"/>
            </a:pPr>
            <a:r>
              <a:rPr b="0" i="0" lang="en-US" sz="900" u="none" cap="none" strike="noStrike">
                <a:solidFill>
                  <a:srgbClr val="666666"/>
                </a:solidFill>
                <a:latin typeface="Calibri"/>
                <a:ea typeface="Calibri"/>
                <a:cs typeface="Calibri"/>
                <a:sym typeface="Calibri"/>
              </a:rPr>
              <a:t>Cool areas (trees, shadows, open sky) rendered dark and distinct</a:t>
            </a:r>
            <a:endParaRPr b="0" i="0" sz="900" u="none" cap="none" strike="noStrike">
              <a:solidFill>
                <a:schemeClr val="dk1"/>
              </a:solidFill>
              <a:latin typeface="Calibri"/>
              <a:ea typeface="Calibri"/>
              <a:cs typeface="Calibri"/>
              <a:sym typeface="Calibri"/>
            </a:endParaRPr>
          </a:p>
          <a:p>
            <a:pPr indent="-260350" lvl="0" marL="254000" marR="0" rtl="0" algn="l">
              <a:spcBef>
                <a:spcPts val="200"/>
              </a:spcBef>
              <a:spcAft>
                <a:spcPts val="0"/>
              </a:spcAft>
              <a:buClr>
                <a:srgbClr val="666666"/>
              </a:buClr>
              <a:buSzPts val="900"/>
              <a:buFont typeface="Calibri"/>
              <a:buChar char="•"/>
            </a:pPr>
            <a:r>
              <a:rPr b="0" i="0" lang="en-US" sz="900" u="none" cap="none" strike="noStrike">
                <a:solidFill>
                  <a:srgbClr val="666666"/>
                </a:solidFill>
                <a:latin typeface="Calibri"/>
                <a:ea typeface="Calibri"/>
                <a:cs typeface="Calibri"/>
                <a:sym typeface="Calibri"/>
              </a:rPr>
              <a:t>Building footprints and road edges are spatially aligned with RGB</a:t>
            </a:r>
            <a:endParaRPr b="0" i="0" sz="900" u="none" cap="none" strike="noStrike">
              <a:solidFill>
                <a:schemeClr val="dk1"/>
              </a:solidFill>
              <a:latin typeface="Calibri"/>
              <a:ea typeface="Calibri"/>
              <a:cs typeface="Calibri"/>
              <a:sym typeface="Calibri"/>
            </a:endParaRPr>
          </a:p>
          <a:p>
            <a:pPr indent="-260350" lvl="0" marL="254000" marR="0" rtl="0" algn="l">
              <a:spcBef>
                <a:spcPts val="200"/>
              </a:spcBef>
              <a:spcAft>
                <a:spcPts val="0"/>
              </a:spcAft>
              <a:buClr>
                <a:srgbClr val="666666"/>
              </a:buClr>
              <a:buSzPts val="900"/>
              <a:buFont typeface="Calibri"/>
              <a:buChar char="•"/>
            </a:pPr>
            <a:r>
              <a:rPr b="0" i="0" lang="en-US" sz="900" u="none" cap="none" strike="noStrike">
                <a:solidFill>
                  <a:srgbClr val="666666"/>
                </a:solidFill>
                <a:latin typeface="Calibri"/>
                <a:ea typeface="Calibri"/>
                <a:cs typeface="Calibri"/>
                <a:sym typeface="Calibri"/>
              </a:rPr>
              <a:t>Relative temperature gradients across urban materials are consistent</a:t>
            </a:r>
            <a:endParaRPr b="0" i="0" sz="900" u="none" cap="none" strike="noStrike">
              <a:solidFill>
                <a:schemeClr val="dk1"/>
              </a:solidFill>
              <a:latin typeface="Calibri"/>
              <a:ea typeface="Calibri"/>
              <a:cs typeface="Calibri"/>
              <a:sym typeface="Calibri"/>
            </a:endParaRPr>
          </a:p>
        </p:txBody>
      </p:sp>
      <p:sp>
        <p:nvSpPr>
          <p:cNvPr id="280" name="Google Shape;280;p16"/>
          <p:cNvSpPr/>
          <p:nvPr/>
        </p:nvSpPr>
        <p:spPr>
          <a:xfrm>
            <a:off x="4629150" y="1042416"/>
            <a:ext cx="4183500" cy="1371600"/>
          </a:xfrm>
          <a:prstGeom prst="rect">
            <a:avLst/>
          </a:prstGeom>
          <a:solidFill>
            <a:srgbClr val="2B3A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1" name="Google Shape;281;p16"/>
          <p:cNvSpPr/>
          <p:nvPr/>
        </p:nvSpPr>
        <p:spPr>
          <a:xfrm>
            <a:off x="4629150" y="1042416"/>
            <a:ext cx="37800" cy="1371600"/>
          </a:xfrm>
          <a:prstGeom prst="rect">
            <a:avLst/>
          </a:prstGeom>
          <a:solidFill>
            <a:srgbClr val="E8723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2" name="Google Shape;282;p16"/>
          <p:cNvSpPr/>
          <p:nvPr/>
        </p:nvSpPr>
        <p:spPr>
          <a:xfrm>
            <a:off x="4766310" y="1097280"/>
            <a:ext cx="39093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23A"/>
              </a:buClr>
              <a:buSzPts val="1100"/>
              <a:buFont typeface="Calibri"/>
              <a:buNone/>
            </a:pPr>
            <a:r>
              <a:rPr b="1" i="0" lang="en-US" sz="1100" u="none" cap="none" strike="noStrike">
                <a:solidFill>
                  <a:srgbClr val="E8723A"/>
                </a:solidFill>
                <a:latin typeface="Calibri"/>
                <a:ea typeface="Calibri"/>
                <a:cs typeface="Calibri"/>
                <a:sym typeface="Calibri"/>
              </a:rPr>
              <a:t>Submission Details</a:t>
            </a:r>
            <a:endParaRPr b="0" i="0" sz="1100" u="none" cap="none" strike="noStrike">
              <a:solidFill>
                <a:schemeClr val="dk1"/>
              </a:solidFill>
              <a:latin typeface="Calibri"/>
              <a:ea typeface="Calibri"/>
              <a:cs typeface="Calibri"/>
              <a:sym typeface="Calibri"/>
            </a:endParaRPr>
          </a:p>
        </p:txBody>
      </p:sp>
      <p:sp>
        <p:nvSpPr>
          <p:cNvPr id="283" name="Google Shape;283;p16"/>
          <p:cNvSpPr/>
          <p:nvPr/>
        </p:nvSpPr>
        <p:spPr>
          <a:xfrm>
            <a:off x="4766310" y="1357884"/>
            <a:ext cx="3909300" cy="891600"/>
          </a:xfrm>
          <a:prstGeom prst="rect">
            <a:avLst/>
          </a:prstGeom>
          <a:noFill/>
          <a:ln>
            <a:noFill/>
          </a:ln>
        </p:spPr>
        <p:txBody>
          <a:bodyPr anchorCtr="0" anchor="ctr" bIns="34275" lIns="68575" spcFirstLastPara="1" rIns="68575" wrap="square" tIns="34275">
            <a:noAutofit/>
          </a:bodyPr>
          <a:lstStyle/>
          <a:p>
            <a:pPr indent="-260350" lvl="0" marL="254000" marR="0" rtl="0" algn="l">
              <a:spcBef>
                <a:spcPts val="0"/>
              </a:spcBef>
              <a:spcAft>
                <a:spcPts val="0"/>
              </a:spcAft>
              <a:buClr>
                <a:srgbClr val="CCCCCC"/>
              </a:buClr>
              <a:buSzPts val="900"/>
              <a:buFont typeface="Calibri"/>
              <a:buChar char="•"/>
            </a:pPr>
            <a:r>
              <a:rPr b="0" i="0" lang="en-US" sz="900" u="none" cap="none" strike="noStrike">
                <a:solidFill>
                  <a:srgbClr val="CCCCCC"/>
                </a:solidFill>
                <a:latin typeface="Calibri"/>
                <a:ea typeface="Calibri"/>
                <a:cs typeface="Calibri"/>
                <a:sym typeface="Calibri"/>
              </a:rPr>
              <a:t>202 test predictions generated with TTA (4-flip averaging)</a:t>
            </a:r>
            <a:endParaRPr b="0" i="0" sz="900" u="none" cap="none" strike="noStrike">
              <a:solidFill>
                <a:schemeClr val="dk1"/>
              </a:solidFill>
              <a:latin typeface="Calibri"/>
              <a:ea typeface="Calibri"/>
              <a:cs typeface="Calibri"/>
              <a:sym typeface="Calibri"/>
            </a:endParaRPr>
          </a:p>
          <a:p>
            <a:pPr indent="-260350" lvl="0" marL="254000" marR="0" rtl="0" algn="l">
              <a:spcBef>
                <a:spcPts val="200"/>
              </a:spcBef>
              <a:spcAft>
                <a:spcPts val="0"/>
              </a:spcAft>
              <a:buClr>
                <a:srgbClr val="CCCCCC"/>
              </a:buClr>
              <a:buSzPts val="900"/>
              <a:buFont typeface="Calibri"/>
              <a:buChar char="•"/>
            </a:pPr>
            <a:r>
              <a:rPr b="0" i="0" lang="en-US" sz="900" u="none" cap="none" strike="noStrike">
                <a:solidFill>
                  <a:srgbClr val="CCCCCC"/>
                </a:solidFill>
                <a:latin typeface="Calibri"/>
                <a:ea typeface="Calibri"/>
                <a:cs typeface="Calibri"/>
                <a:sym typeface="Calibri"/>
              </a:rPr>
              <a:t>Output: grayscale 640×512 — matches competition ground-truth resolution</a:t>
            </a:r>
            <a:endParaRPr b="0" i="0" sz="900" u="none" cap="none" strike="noStrike">
              <a:solidFill>
                <a:schemeClr val="dk1"/>
              </a:solidFill>
              <a:latin typeface="Calibri"/>
              <a:ea typeface="Calibri"/>
              <a:cs typeface="Calibri"/>
              <a:sym typeface="Calibri"/>
            </a:endParaRPr>
          </a:p>
          <a:p>
            <a:pPr indent="-260350" lvl="0" marL="254000" marR="0" rtl="0" algn="l">
              <a:spcBef>
                <a:spcPts val="200"/>
              </a:spcBef>
              <a:spcAft>
                <a:spcPts val="0"/>
              </a:spcAft>
              <a:buClr>
                <a:srgbClr val="FFFFFF"/>
              </a:buClr>
              <a:buSzPts val="900"/>
              <a:buFont typeface="Calibri"/>
              <a:buChar char="•"/>
            </a:pPr>
            <a:r>
              <a:rPr b="1" i="0" lang="en-US" sz="900" u="none" cap="none" strike="noStrike">
                <a:solidFill>
                  <a:srgbClr val="FFFFFF"/>
                </a:solidFill>
                <a:latin typeface="Calibri"/>
                <a:ea typeface="Calibri"/>
                <a:cs typeface="Calibri"/>
                <a:sym typeface="Calibri"/>
              </a:rPr>
              <a:t>Val PSNR: 17.43 dB — best of all approaches we tested this hackathon</a:t>
            </a:r>
            <a:endParaRPr b="0" i="0" sz="900" u="none" cap="none" strike="noStrike">
              <a:solidFill>
                <a:schemeClr val="dk1"/>
              </a:solidFill>
              <a:latin typeface="Calibri"/>
              <a:ea typeface="Calibri"/>
              <a:cs typeface="Calibri"/>
              <a:sym typeface="Calibri"/>
            </a:endParaRPr>
          </a:p>
          <a:p>
            <a:pPr indent="-260350" lvl="0" marL="254000" marR="0" rtl="0" algn="l">
              <a:spcBef>
                <a:spcPts val="200"/>
              </a:spcBef>
              <a:spcAft>
                <a:spcPts val="0"/>
              </a:spcAft>
              <a:buClr>
                <a:srgbClr val="CCCCCC"/>
              </a:buClr>
              <a:buSzPts val="900"/>
              <a:buFont typeface="Calibri"/>
              <a:buChar char="•"/>
            </a:pPr>
            <a:r>
              <a:rPr b="0" i="0" lang="en-US" sz="900" u="none" cap="none" strike="noStrike">
                <a:solidFill>
                  <a:srgbClr val="CCCCCC"/>
                </a:solidFill>
                <a:latin typeface="Calibri"/>
                <a:ea typeface="Calibri"/>
                <a:cs typeface="Calibri"/>
                <a:sym typeface="Calibri"/>
              </a:rPr>
              <a:t>Metadata fusion (weather + AlphaEarth) gave ~2 dB over RGB-only baseline</a:t>
            </a:r>
            <a:endParaRPr b="0" i="0" sz="900" u="none" cap="none" strike="noStrike">
              <a:solidFill>
                <a:schemeClr val="dk1"/>
              </a:solidFill>
              <a:latin typeface="Calibri"/>
              <a:ea typeface="Calibri"/>
              <a:cs typeface="Calibri"/>
              <a:sym typeface="Calibri"/>
            </a:endParaRPr>
          </a:p>
        </p:txBody>
      </p:sp>
      <p:sp>
        <p:nvSpPr>
          <p:cNvPr id="284" name="Google Shape;284;p16"/>
          <p:cNvSpPr/>
          <p:nvPr/>
        </p:nvSpPr>
        <p:spPr>
          <a:xfrm>
            <a:off x="308610" y="2503170"/>
            <a:ext cx="2640300" cy="425100"/>
          </a:xfrm>
          <a:prstGeom prst="rect">
            <a:avLst/>
          </a:prstGeom>
          <a:solidFill>
            <a:srgbClr val="E8723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5" name="Google Shape;285;p16"/>
          <p:cNvSpPr/>
          <p:nvPr/>
        </p:nvSpPr>
        <p:spPr>
          <a:xfrm>
            <a:off x="308610" y="2503170"/>
            <a:ext cx="2640300" cy="42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Trebuchet MS"/>
              <a:buNone/>
            </a:pPr>
            <a:r>
              <a:rPr b="1" i="0" lang="en-US" sz="1500" u="none" cap="none" strike="noStrike">
                <a:solidFill>
                  <a:srgbClr val="FFFFFF"/>
                </a:solidFill>
                <a:latin typeface="Trebuchet MS"/>
                <a:ea typeface="Trebuchet MS"/>
                <a:cs typeface="Trebuchet MS"/>
                <a:sym typeface="Trebuchet MS"/>
              </a:rPr>
              <a:t>17.43  PSNR</a:t>
            </a:r>
            <a:endParaRPr b="0" i="0" sz="1500" u="none" cap="none" strike="noStrike">
              <a:solidFill>
                <a:schemeClr val="dk1"/>
              </a:solidFill>
              <a:latin typeface="Calibri"/>
              <a:ea typeface="Calibri"/>
              <a:cs typeface="Calibri"/>
              <a:sym typeface="Calibri"/>
            </a:endParaRPr>
          </a:p>
        </p:txBody>
      </p:sp>
      <p:sp>
        <p:nvSpPr>
          <p:cNvPr id="286" name="Google Shape;286;p16"/>
          <p:cNvSpPr/>
          <p:nvPr/>
        </p:nvSpPr>
        <p:spPr>
          <a:xfrm>
            <a:off x="3086100" y="2503170"/>
            <a:ext cx="2640300" cy="425100"/>
          </a:xfrm>
          <a:prstGeom prst="rect">
            <a:avLst/>
          </a:prstGeom>
          <a:solidFill>
            <a:srgbClr val="0D948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7" name="Google Shape;287;p16"/>
          <p:cNvSpPr/>
          <p:nvPr/>
        </p:nvSpPr>
        <p:spPr>
          <a:xfrm>
            <a:off x="3086100" y="2503170"/>
            <a:ext cx="2640300" cy="42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Trebuchet MS"/>
              <a:buNone/>
            </a:pPr>
            <a:r>
              <a:rPr b="1" i="0" lang="en-US" sz="1500" u="none" cap="none" strike="noStrike">
                <a:solidFill>
                  <a:srgbClr val="FFFFFF"/>
                </a:solidFill>
                <a:latin typeface="Trebuchet MS"/>
                <a:ea typeface="Trebuchet MS"/>
                <a:cs typeface="Trebuchet MS"/>
                <a:sym typeface="Trebuchet MS"/>
              </a:rPr>
              <a:t>0.430  SSIM</a:t>
            </a:r>
            <a:endParaRPr b="0" i="0" sz="1500" u="none" cap="none" strike="noStrike">
              <a:solidFill>
                <a:schemeClr val="dk1"/>
              </a:solidFill>
              <a:latin typeface="Calibri"/>
              <a:ea typeface="Calibri"/>
              <a:cs typeface="Calibri"/>
              <a:sym typeface="Calibri"/>
            </a:endParaRPr>
          </a:p>
        </p:txBody>
      </p:sp>
      <p:sp>
        <p:nvSpPr>
          <p:cNvPr id="288" name="Google Shape;288;p16"/>
          <p:cNvSpPr/>
          <p:nvPr/>
        </p:nvSpPr>
        <p:spPr>
          <a:xfrm>
            <a:off x="5863590" y="2503170"/>
            <a:ext cx="2640300" cy="425100"/>
          </a:xfrm>
          <a:prstGeom prst="rect">
            <a:avLst/>
          </a:prstGeom>
          <a:solidFill>
            <a:srgbClr val="7C3A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9" name="Google Shape;289;p16"/>
          <p:cNvSpPr/>
          <p:nvPr/>
        </p:nvSpPr>
        <p:spPr>
          <a:xfrm>
            <a:off x="5863590" y="2503170"/>
            <a:ext cx="2640300" cy="425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Trebuchet MS"/>
              <a:buNone/>
            </a:pPr>
            <a:r>
              <a:rPr b="1" i="0" lang="en-US" sz="1500" u="none" cap="none" strike="noStrike">
                <a:solidFill>
                  <a:srgbClr val="FFFFFF"/>
                </a:solidFill>
                <a:latin typeface="Trebuchet MS"/>
                <a:ea typeface="Trebuchet MS"/>
                <a:cs typeface="Trebuchet MS"/>
                <a:sym typeface="Trebuchet MS"/>
              </a:rPr>
              <a:t>0.392  LPIPS</a:t>
            </a:r>
            <a:endParaRPr b="0" i="0" sz="1500" u="none" cap="none" strike="noStrike">
              <a:solidFill>
                <a:schemeClr val="dk1"/>
              </a:solidFill>
              <a:latin typeface="Calibri"/>
              <a:ea typeface="Calibri"/>
              <a:cs typeface="Calibri"/>
              <a:sym typeface="Calibri"/>
            </a:endParaRPr>
          </a:p>
        </p:txBody>
      </p:sp>
      <p:sp>
        <p:nvSpPr>
          <p:cNvPr id="290" name="Google Shape;290;p16"/>
          <p:cNvSpPr/>
          <p:nvPr/>
        </p:nvSpPr>
        <p:spPr>
          <a:xfrm>
            <a:off x="0" y="3017520"/>
            <a:ext cx="9141900" cy="41100"/>
          </a:xfrm>
          <a:prstGeom prst="rect">
            <a:avLst/>
          </a:prstGeom>
          <a:solidFill>
            <a:srgbClr val="E8723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1" name="Google Shape;291;p16"/>
          <p:cNvSpPr/>
          <p:nvPr/>
        </p:nvSpPr>
        <p:spPr>
          <a:xfrm>
            <a:off x="0" y="3058668"/>
            <a:ext cx="9141900" cy="2085000"/>
          </a:xfrm>
          <a:prstGeom prst="rect">
            <a:avLst/>
          </a:prstGeom>
          <a:solidFill>
            <a:srgbClr val="E8E3D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2" name="Google Shape;292;p16"/>
          <p:cNvSpPr/>
          <p:nvPr/>
        </p:nvSpPr>
        <p:spPr>
          <a:xfrm>
            <a:off x="342900" y="3806190"/>
            <a:ext cx="8456100"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999999"/>
              </a:buClr>
              <a:buSzPts val="1000"/>
              <a:buFont typeface="Calibri"/>
              <a:buNone/>
            </a:pPr>
            <a:r>
              <a:rPr b="0" i="1" lang="en-US" sz="1000" u="none" cap="none" strike="noStrike">
                <a:solidFill>
                  <a:srgbClr val="999999"/>
                </a:solidFill>
                <a:latin typeface="Calibri"/>
                <a:ea typeface="Calibri"/>
                <a:cs typeface="Calibri"/>
                <a:sym typeface="Calibri"/>
              </a:rPr>
              <a:t>↓  Insert your RGB → Prediction side-by-side comparison image here  ↓</a:t>
            </a:r>
            <a:endParaRPr b="0" i="0" sz="1000" u="none" cap="none" strike="noStrike">
              <a:solidFill>
                <a:schemeClr val="dk1"/>
              </a:solidFill>
              <a:latin typeface="Calibri"/>
              <a:ea typeface="Calibri"/>
              <a:cs typeface="Calibri"/>
              <a:sym typeface="Calibri"/>
            </a:endParaRPr>
          </a:p>
        </p:txBody>
      </p:sp>
      <p:sp>
        <p:nvSpPr>
          <p:cNvPr id="293" name="Google Shape;293;p16"/>
          <p:cNvSpPr/>
          <p:nvPr/>
        </p:nvSpPr>
        <p:spPr>
          <a:xfrm>
            <a:off x="342900" y="4183380"/>
            <a:ext cx="8456100" cy="2400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999999"/>
              </a:buClr>
              <a:buSzPts val="800"/>
              <a:buFont typeface="Calibri"/>
              <a:buNone/>
            </a:pPr>
            <a:r>
              <a:rPr b="0" i="1" lang="en-US" sz="800" u="none" cap="none" strike="noStrike">
                <a:solidFill>
                  <a:srgbClr val="999999"/>
                </a:solidFill>
                <a:latin typeface="Calibri"/>
                <a:ea typeface="Calibri"/>
                <a:cs typeface="Calibri"/>
                <a:sym typeface="Calibri"/>
              </a:rPr>
              <a:t>(Image from Notebook 4 — test predictions panel)</a:t>
            </a:r>
            <a:endParaRPr b="0" i="0" sz="800" u="none" cap="none" strike="noStrike">
              <a:solidFill>
                <a:schemeClr val="dk1"/>
              </a:solidFill>
              <a:latin typeface="Calibri"/>
              <a:ea typeface="Calibri"/>
              <a:cs typeface="Calibri"/>
              <a:sym typeface="Calibri"/>
            </a:endParaRPr>
          </a:p>
        </p:txBody>
      </p:sp>
      <p:pic>
        <p:nvPicPr>
          <p:cNvPr id="294" name="Google Shape;294;p16"/>
          <p:cNvPicPr preferRelativeResize="0"/>
          <p:nvPr/>
        </p:nvPicPr>
        <p:blipFill>
          <a:blip r:embed="rId3">
            <a:alphaModFix/>
          </a:blip>
          <a:stretch>
            <a:fillRect/>
          </a:stretch>
        </p:blipFill>
        <p:spPr>
          <a:xfrm>
            <a:off x="1377528" y="3017425"/>
            <a:ext cx="6233646" cy="2085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B"/>
        </a:solidFill>
      </p:bgPr>
    </p:bg>
    <p:spTree>
      <p:nvGrpSpPr>
        <p:cNvPr id="299" name="Shape 299"/>
        <p:cNvGrpSpPr/>
        <p:nvPr/>
      </p:nvGrpSpPr>
      <p:grpSpPr>
        <a:xfrm>
          <a:off x="0" y="0"/>
          <a:ext cx="0" cy="0"/>
          <a:chOff x="0" y="0"/>
          <a:chExt cx="0" cy="0"/>
        </a:xfrm>
      </p:grpSpPr>
      <p:sp>
        <p:nvSpPr>
          <p:cNvPr id="300" name="Google Shape;300;p17"/>
          <p:cNvSpPr/>
          <p:nvPr/>
        </p:nvSpPr>
        <p:spPr>
          <a:xfrm>
            <a:off x="0" y="0"/>
            <a:ext cx="9144000" cy="822900"/>
          </a:xfrm>
          <a:prstGeom prst="rect">
            <a:avLst/>
          </a:prstGeom>
          <a:solidFill>
            <a:srgbClr val="0F20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7"/>
          <p:cNvSpPr/>
          <p:nvPr/>
        </p:nvSpPr>
        <p:spPr>
          <a:xfrm>
            <a:off x="731520" y="91440"/>
            <a:ext cx="76809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Trebuchet MS"/>
              <a:buNone/>
            </a:pPr>
            <a:r>
              <a:rPr b="1" i="0" lang="en-US" sz="2600" u="none" cap="none" strike="noStrike">
                <a:solidFill>
                  <a:srgbClr val="FFFFFF"/>
                </a:solidFill>
                <a:latin typeface="Trebuchet MS"/>
                <a:ea typeface="Trebuchet MS"/>
                <a:cs typeface="Trebuchet MS"/>
                <a:sym typeface="Trebuchet MS"/>
              </a:rPr>
              <a:t>End-to-End: ThermalGenWithAlphaEarth</a:t>
            </a:r>
            <a:endParaRPr b="0" i="0" sz="2600" u="none" cap="none" strike="noStrike">
              <a:solidFill>
                <a:schemeClr val="dk1"/>
              </a:solidFill>
              <a:latin typeface="Calibri"/>
              <a:ea typeface="Calibri"/>
              <a:cs typeface="Calibri"/>
              <a:sym typeface="Calibri"/>
            </a:endParaRPr>
          </a:p>
        </p:txBody>
      </p:sp>
      <p:sp>
        <p:nvSpPr>
          <p:cNvPr id="302" name="Google Shape;302;p17"/>
          <p:cNvSpPr/>
          <p:nvPr/>
        </p:nvSpPr>
        <p:spPr>
          <a:xfrm>
            <a:off x="548640" y="960120"/>
            <a:ext cx="8046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A fine-tuned ThermalGen model with native AlphaEarth satellite embedding fusion — trained and evaluated on the aligned split manifest</a:t>
            </a:r>
            <a:endParaRPr b="0" i="0" sz="1000" u="none" cap="none" strike="noStrike">
              <a:solidFill>
                <a:schemeClr val="dk1"/>
              </a:solidFill>
              <a:latin typeface="Calibri"/>
              <a:ea typeface="Calibri"/>
              <a:cs typeface="Calibri"/>
              <a:sym typeface="Calibri"/>
            </a:endParaRPr>
          </a:p>
        </p:txBody>
      </p:sp>
      <p:sp>
        <p:nvSpPr>
          <p:cNvPr id="303" name="Google Shape;303;p17"/>
          <p:cNvSpPr/>
          <p:nvPr/>
        </p:nvSpPr>
        <p:spPr>
          <a:xfrm>
            <a:off x="365760" y="1417320"/>
            <a:ext cx="4206300" cy="3291900"/>
          </a:xfrm>
          <a:prstGeom prst="rect">
            <a:avLst/>
          </a:prstGeom>
          <a:solidFill>
            <a:srgbClr val="0F2027"/>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7"/>
          <p:cNvSpPr/>
          <p:nvPr/>
        </p:nvSpPr>
        <p:spPr>
          <a:xfrm>
            <a:off x="548640" y="1508760"/>
            <a:ext cx="3840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1600"/>
              <a:buFont typeface="Trebuchet MS"/>
              <a:buNone/>
            </a:pPr>
            <a:r>
              <a:rPr b="1" i="0" lang="en-US" sz="1600" u="none" cap="none" strike="noStrike">
                <a:solidFill>
                  <a:srgbClr val="F4A261"/>
                </a:solidFill>
                <a:latin typeface="Trebuchet MS"/>
                <a:ea typeface="Trebuchet MS"/>
                <a:cs typeface="Trebuchet MS"/>
                <a:sym typeface="Trebuchet MS"/>
              </a:rPr>
              <a:t>Model Configuration</a:t>
            </a:r>
            <a:endParaRPr b="0" i="0" sz="1600" u="none" cap="none" strike="noStrike">
              <a:solidFill>
                <a:schemeClr val="dk1"/>
              </a:solidFill>
              <a:latin typeface="Calibri"/>
              <a:ea typeface="Calibri"/>
              <a:cs typeface="Calibri"/>
              <a:sym typeface="Calibri"/>
            </a:endParaRPr>
          </a:p>
        </p:txBody>
      </p:sp>
      <p:sp>
        <p:nvSpPr>
          <p:cNvPr id="305" name="Google Shape;305;p17"/>
          <p:cNvSpPr/>
          <p:nvPr/>
        </p:nvSpPr>
        <p:spPr>
          <a:xfrm>
            <a:off x="548640" y="1920240"/>
            <a:ext cx="3840600" cy="25602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FFFFFF"/>
              </a:buClr>
              <a:buSzPts val="1000"/>
              <a:buFont typeface="Calibri"/>
              <a:buChar char="•"/>
            </a:pPr>
            <a:r>
              <a:rPr b="0" i="0" lang="en-US" sz="1000" u="none" cap="none" strike="noStrike">
                <a:solidFill>
                  <a:srgbClr val="FFFFFF"/>
                </a:solidFill>
                <a:latin typeface="Calibri"/>
                <a:ea typeface="Calibri"/>
                <a:cs typeface="Calibri"/>
                <a:sym typeface="Calibri"/>
              </a:rPr>
              <a:t>Model: ThermalGenWithAlphaEarth (concat fusion)</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FFFFFF"/>
              </a:buClr>
              <a:buSzPts val="1000"/>
              <a:buFont typeface="Calibri"/>
              <a:buChar char="•"/>
            </a:pPr>
            <a:r>
              <a:rPr b="0" i="0" lang="en-US" sz="1000" u="none" cap="none" strike="noStrike">
                <a:solidFill>
                  <a:srgbClr val="FFFFFF"/>
                </a:solidFill>
                <a:latin typeface="Calibri"/>
                <a:ea typeface="Calibri"/>
                <a:cs typeface="Calibri"/>
                <a:sym typeface="Calibri"/>
              </a:rPr>
              <a:t>AlphaEarth encoder: 64 channels, 512 latent dim</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FFFFFF"/>
              </a:buClr>
              <a:buSzPts val="1000"/>
              <a:buFont typeface="Calibri"/>
              <a:buChar char="•"/>
            </a:pPr>
            <a:r>
              <a:rPr b="0" i="0" lang="en-US" sz="1000" u="none" cap="none" strike="noStrike">
                <a:solidFill>
                  <a:srgbClr val="FFFFFF"/>
                </a:solidFill>
                <a:latin typeface="Calibri"/>
                <a:ea typeface="Calibri"/>
                <a:cs typeface="Calibri"/>
                <a:sym typeface="Calibri"/>
              </a:rPr>
              <a:t>Style embeddings + spatial AlphaEarth features</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FFFFFF"/>
              </a:buClr>
              <a:buSzPts val="1000"/>
              <a:buFont typeface="Calibri"/>
              <a:buChar char="•"/>
            </a:pPr>
            <a:r>
              <a:rPr b="0" i="0" lang="en-US" sz="1000" u="none" cap="none" strike="noStrike">
                <a:solidFill>
                  <a:srgbClr val="FFFFFF"/>
                </a:solidFill>
                <a:latin typeface="Calibri"/>
                <a:ea typeface="Calibri"/>
                <a:cs typeface="Calibri"/>
                <a:sym typeface="Calibri"/>
              </a:rPr>
              <a:t>Trained on aligned split: 199 train / 42 val / 44 test</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FFFFFF"/>
              </a:buClr>
              <a:buSzPts val="1000"/>
              <a:buFont typeface="Calibri"/>
              <a:buChar char="•"/>
            </a:pPr>
            <a:r>
              <a:rPr b="0" i="0" lang="en-US" sz="1000" u="none" cap="none" strike="noStrike">
                <a:solidFill>
                  <a:srgbClr val="FFFFFF"/>
                </a:solidFill>
                <a:latin typeface="Calibri"/>
                <a:ea typeface="Calibri"/>
                <a:cs typeface="Calibri"/>
                <a:sym typeface="Calibri"/>
              </a:rPr>
              <a:t>Best checkpoint: epoch 33 (best_psnr.pth)</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FFFFFF"/>
              </a:buClr>
              <a:buSzPts val="1000"/>
              <a:buFont typeface="Calibri"/>
              <a:buChar char="•"/>
            </a:pPr>
            <a:r>
              <a:rPr b="0" i="0" lang="en-US" sz="1000" u="none" cap="none" strike="noStrike">
                <a:solidFill>
                  <a:srgbClr val="FFFFFF"/>
                </a:solidFill>
                <a:latin typeface="Calibri"/>
                <a:ea typeface="Calibri"/>
                <a:cs typeface="Calibri"/>
                <a:sym typeface="Calibri"/>
              </a:rPr>
              <a:t>Train loss: 0.2876  |  Val loss: 0.3062</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FFFFFF"/>
              </a:buClr>
              <a:buSzPts val="1000"/>
              <a:buFont typeface="Calibri"/>
              <a:buChar char="•"/>
            </a:pPr>
            <a:r>
              <a:rPr b="0" i="0" lang="en-US" sz="1000" u="none" cap="none" strike="noStrike">
                <a:solidFill>
                  <a:srgbClr val="FFFFFF"/>
                </a:solidFill>
                <a:latin typeface="Calibri"/>
                <a:ea typeface="Calibri"/>
                <a:cs typeface="Calibri"/>
                <a:sym typeface="Calibri"/>
              </a:rPr>
              <a:t>Val PSNR: 13.69 dB  |  Val SSIM: 0.042</a:t>
            </a:r>
            <a:endParaRPr b="0" i="0" sz="1000" u="none" cap="none" strike="noStrike">
              <a:solidFill>
                <a:schemeClr val="dk1"/>
              </a:solidFill>
              <a:latin typeface="Calibri"/>
              <a:ea typeface="Calibri"/>
              <a:cs typeface="Calibri"/>
              <a:sym typeface="Calibri"/>
            </a:endParaRPr>
          </a:p>
        </p:txBody>
      </p:sp>
      <p:sp>
        <p:nvSpPr>
          <p:cNvPr id="306" name="Google Shape;306;p17"/>
          <p:cNvSpPr/>
          <p:nvPr/>
        </p:nvSpPr>
        <p:spPr>
          <a:xfrm>
            <a:off x="4937760" y="1417320"/>
            <a:ext cx="3840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5D26"/>
              </a:buClr>
              <a:buSzPts val="1600"/>
              <a:buFont typeface="Trebuchet MS"/>
              <a:buNone/>
            </a:pPr>
            <a:r>
              <a:rPr b="1" i="0" lang="en-US" sz="1600" u="none" cap="none" strike="noStrike">
                <a:solidFill>
                  <a:srgbClr val="E85D26"/>
                </a:solidFill>
                <a:latin typeface="Trebuchet MS"/>
                <a:ea typeface="Trebuchet MS"/>
                <a:cs typeface="Trebuchet MS"/>
                <a:sym typeface="Trebuchet MS"/>
              </a:rPr>
              <a:t>Test Split Results (44 samples)</a:t>
            </a:r>
            <a:endParaRPr b="0" i="0" sz="1600" u="none" cap="none" strike="noStrike">
              <a:solidFill>
                <a:schemeClr val="dk1"/>
              </a:solidFill>
              <a:latin typeface="Calibri"/>
              <a:ea typeface="Calibri"/>
              <a:cs typeface="Calibri"/>
              <a:sym typeface="Calibri"/>
            </a:endParaRPr>
          </a:p>
        </p:txBody>
      </p:sp>
      <p:sp>
        <p:nvSpPr>
          <p:cNvPr id="307" name="Google Shape;307;p17"/>
          <p:cNvSpPr/>
          <p:nvPr/>
        </p:nvSpPr>
        <p:spPr>
          <a:xfrm>
            <a:off x="4937760" y="1874520"/>
            <a:ext cx="3840600" cy="11886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7"/>
          <p:cNvSpPr/>
          <p:nvPr/>
        </p:nvSpPr>
        <p:spPr>
          <a:xfrm>
            <a:off x="4937760" y="1874520"/>
            <a:ext cx="63900" cy="11886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7"/>
          <p:cNvSpPr/>
          <p:nvPr/>
        </p:nvSpPr>
        <p:spPr>
          <a:xfrm>
            <a:off x="5212080" y="1920240"/>
            <a:ext cx="1828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3800"/>
              <a:buFont typeface="Trebuchet MS"/>
              <a:buNone/>
            </a:pPr>
            <a:r>
              <a:rPr b="1" i="0" lang="en-US" sz="3800" u="none" cap="none" strike="noStrike">
                <a:solidFill>
                  <a:srgbClr val="0D9488"/>
                </a:solidFill>
                <a:latin typeface="Trebuchet MS"/>
                <a:ea typeface="Trebuchet MS"/>
                <a:cs typeface="Trebuchet MS"/>
                <a:sym typeface="Trebuchet MS"/>
              </a:rPr>
              <a:t>14.49</a:t>
            </a:r>
            <a:endParaRPr b="0" i="0" sz="3800" u="none" cap="none" strike="noStrike">
              <a:solidFill>
                <a:schemeClr val="dk1"/>
              </a:solidFill>
              <a:latin typeface="Calibri"/>
              <a:ea typeface="Calibri"/>
              <a:cs typeface="Calibri"/>
              <a:sym typeface="Calibri"/>
            </a:endParaRPr>
          </a:p>
        </p:txBody>
      </p:sp>
      <p:sp>
        <p:nvSpPr>
          <p:cNvPr id="310" name="Google Shape;310;p17"/>
          <p:cNvSpPr/>
          <p:nvPr/>
        </p:nvSpPr>
        <p:spPr>
          <a:xfrm>
            <a:off x="6949440" y="1965960"/>
            <a:ext cx="1371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00"/>
              <a:buFont typeface="Trebuchet MS"/>
              <a:buNone/>
            </a:pPr>
            <a:r>
              <a:rPr b="1" i="0" lang="en-US" sz="1600" u="none" cap="none" strike="noStrike">
                <a:solidFill>
                  <a:srgbClr val="1E293B"/>
                </a:solidFill>
                <a:latin typeface="Trebuchet MS"/>
                <a:ea typeface="Trebuchet MS"/>
                <a:cs typeface="Trebuchet MS"/>
                <a:sym typeface="Trebuchet MS"/>
              </a:rPr>
              <a:t>PSNR</a:t>
            </a:r>
            <a:endParaRPr b="0" i="0" sz="1600" u="none" cap="none" strike="noStrike">
              <a:solidFill>
                <a:schemeClr val="dk1"/>
              </a:solidFill>
              <a:latin typeface="Calibri"/>
              <a:ea typeface="Calibri"/>
              <a:cs typeface="Calibri"/>
              <a:sym typeface="Calibri"/>
            </a:endParaRPr>
          </a:p>
        </p:txBody>
      </p:sp>
      <p:sp>
        <p:nvSpPr>
          <p:cNvPr id="311" name="Google Shape;311;p17"/>
          <p:cNvSpPr/>
          <p:nvPr/>
        </p:nvSpPr>
        <p:spPr>
          <a:xfrm>
            <a:off x="6949440" y="2286000"/>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 1.69 std dev</a:t>
            </a:r>
            <a:endParaRPr b="0" i="0" sz="1000" u="none" cap="none" strike="noStrike">
              <a:solidFill>
                <a:schemeClr val="dk1"/>
              </a:solidFill>
              <a:latin typeface="Calibri"/>
              <a:ea typeface="Calibri"/>
              <a:cs typeface="Calibri"/>
              <a:sym typeface="Calibri"/>
            </a:endParaRPr>
          </a:p>
        </p:txBody>
      </p:sp>
      <p:sp>
        <p:nvSpPr>
          <p:cNvPr id="312" name="Google Shape;312;p17"/>
          <p:cNvSpPr/>
          <p:nvPr/>
        </p:nvSpPr>
        <p:spPr>
          <a:xfrm>
            <a:off x="5212080" y="2606040"/>
            <a:ext cx="3383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Peak Signal-to-Noise Ratio on held-out test set</a:t>
            </a:r>
            <a:endParaRPr b="0" i="0" sz="900" u="none" cap="none" strike="noStrike">
              <a:solidFill>
                <a:schemeClr val="dk1"/>
              </a:solidFill>
              <a:latin typeface="Calibri"/>
              <a:ea typeface="Calibri"/>
              <a:cs typeface="Calibri"/>
              <a:sym typeface="Calibri"/>
            </a:endParaRPr>
          </a:p>
        </p:txBody>
      </p:sp>
      <p:sp>
        <p:nvSpPr>
          <p:cNvPr id="313" name="Google Shape;313;p17"/>
          <p:cNvSpPr/>
          <p:nvPr/>
        </p:nvSpPr>
        <p:spPr>
          <a:xfrm>
            <a:off x="4937760" y="3246120"/>
            <a:ext cx="3840600" cy="11886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7"/>
          <p:cNvSpPr/>
          <p:nvPr/>
        </p:nvSpPr>
        <p:spPr>
          <a:xfrm>
            <a:off x="4937760" y="3246120"/>
            <a:ext cx="63900" cy="118860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7"/>
          <p:cNvSpPr/>
          <p:nvPr/>
        </p:nvSpPr>
        <p:spPr>
          <a:xfrm>
            <a:off x="5212080" y="3291840"/>
            <a:ext cx="1828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3800"/>
              <a:buFont typeface="Trebuchet MS"/>
              <a:buNone/>
            </a:pPr>
            <a:r>
              <a:rPr b="1" i="0" lang="en-US" sz="3800" u="none" cap="none" strike="noStrike">
                <a:solidFill>
                  <a:srgbClr val="F59E0B"/>
                </a:solidFill>
                <a:latin typeface="Trebuchet MS"/>
                <a:ea typeface="Trebuchet MS"/>
                <a:cs typeface="Trebuchet MS"/>
                <a:sym typeface="Trebuchet MS"/>
              </a:rPr>
              <a:t>0.039</a:t>
            </a:r>
            <a:endParaRPr b="0" i="0" sz="3800" u="none" cap="none" strike="noStrike">
              <a:solidFill>
                <a:schemeClr val="dk1"/>
              </a:solidFill>
              <a:latin typeface="Calibri"/>
              <a:ea typeface="Calibri"/>
              <a:cs typeface="Calibri"/>
              <a:sym typeface="Calibri"/>
            </a:endParaRPr>
          </a:p>
        </p:txBody>
      </p:sp>
      <p:sp>
        <p:nvSpPr>
          <p:cNvPr id="316" name="Google Shape;316;p17"/>
          <p:cNvSpPr/>
          <p:nvPr/>
        </p:nvSpPr>
        <p:spPr>
          <a:xfrm>
            <a:off x="6949440" y="3337560"/>
            <a:ext cx="1371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00"/>
              <a:buFont typeface="Trebuchet MS"/>
              <a:buNone/>
            </a:pPr>
            <a:r>
              <a:rPr b="1" i="0" lang="en-US" sz="1600" u="none" cap="none" strike="noStrike">
                <a:solidFill>
                  <a:srgbClr val="1E293B"/>
                </a:solidFill>
                <a:latin typeface="Trebuchet MS"/>
                <a:ea typeface="Trebuchet MS"/>
                <a:cs typeface="Trebuchet MS"/>
                <a:sym typeface="Trebuchet MS"/>
              </a:rPr>
              <a:t>SSIM</a:t>
            </a:r>
            <a:endParaRPr b="0" i="0" sz="1600" u="none" cap="none" strike="noStrike">
              <a:solidFill>
                <a:schemeClr val="dk1"/>
              </a:solidFill>
              <a:latin typeface="Calibri"/>
              <a:ea typeface="Calibri"/>
              <a:cs typeface="Calibri"/>
              <a:sym typeface="Calibri"/>
            </a:endParaRPr>
          </a:p>
        </p:txBody>
      </p:sp>
      <p:sp>
        <p:nvSpPr>
          <p:cNvPr id="317" name="Google Shape;317;p17"/>
          <p:cNvSpPr/>
          <p:nvPr/>
        </p:nvSpPr>
        <p:spPr>
          <a:xfrm>
            <a:off x="6949440" y="3657600"/>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 0.031 std dev</a:t>
            </a:r>
            <a:endParaRPr b="0" i="0" sz="1000" u="none" cap="none" strike="noStrike">
              <a:solidFill>
                <a:schemeClr val="dk1"/>
              </a:solidFill>
              <a:latin typeface="Calibri"/>
              <a:ea typeface="Calibri"/>
              <a:cs typeface="Calibri"/>
              <a:sym typeface="Calibri"/>
            </a:endParaRPr>
          </a:p>
        </p:txBody>
      </p:sp>
      <p:sp>
        <p:nvSpPr>
          <p:cNvPr id="318" name="Google Shape;318;p17"/>
          <p:cNvSpPr/>
          <p:nvPr/>
        </p:nvSpPr>
        <p:spPr>
          <a:xfrm>
            <a:off x="5212080" y="3977640"/>
            <a:ext cx="3383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Low SSIM suggests structural misalignment — room for further tuning</a:t>
            </a:r>
            <a:endParaRPr b="0" i="0" sz="900" u="none" cap="none" strike="noStrike">
              <a:solidFill>
                <a:schemeClr val="dk1"/>
              </a:solidFill>
              <a:latin typeface="Calibri"/>
              <a:ea typeface="Calibri"/>
              <a:cs typeface="Calibri"/>
              <a:sym typeface="Calibri"/>
            </a:endParaRPr>
          </a:p>
        </p:txBody>
      </p:sp>
      <p:sp>
        <p:nvSpPr>
          <p:cNvPr id="319" name="Google Shape;319;p17"/>
          <p:cNvSpPr/>
          <p:nvPr/>
        </p:nvSpPr>
        <p:spPr>
          <a:xfrm>
            <a:off x="365760" y="4572000"/>
            <a:ext cx="8412600" cy="457200"/>
          </a:xfrm>
          <a:prstGeom prst="rect">
            <a:avLst/>
          </a:prstGeom>
          <a:solidFill>
            <a:srgbClr val="1A3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7"/>
          <p:cNvSpPr/>
          <p:nvPr/>
        </p:nvSpPr>
        <p:spPr>
          <a:xfrm>
            <a:off x="548640" y="4590288"/>
            <a:ext cx="8046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This end-to-end approach achieves strong PSNR (14.49) on the test split without a separate refinement stage, demonstrating that native AlphaEarth fusion within ThermalGen is a promising direction. SSIM remains low, suggesting the model captures intensity patterns but not fine structural detail.</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B"/>
        </a:solidFill>
      </p:bgPr>
    </p:bg>
    <p:spTree>
      <p:nvGrpSpPr>
        <p:cNvPr id="325" name="Shape 325"/>
        <p:cNvGrpSpPr/>
        <p:nvPr/>
      </p:nvGrpSpPr>
      <p:grpSpPr>
        <a:xfrm>
          <a:off x="0" y="0"/>
          <a:ext cx="0" cy="0"/>
          <a:chOff x="0" y="0"/>
          <a:chExt cx="0" cy="0"/>
        </a:xfrm>
      </p:grpSpPr>
      <p:sp>
        <p:nvSpPr>
          <p:cNvPr id="326" name="Google Shape;326;p18"/>
          <p:cNvSpPr/>
          <p:nvPr/>
        </p:nvSpPr>
        <p:spPr>
          <a:xfrm>
            <a:off x="0" y="0"/>
            <a:ext cx="9144000" cy="822900"/>
          </a:xfrm>
          <a:prstGeom prst="rect">
            <a:avLst/>
          </a:prstGeom>
          <a:solidFill>
            <a:srgbClr val="0F20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8"/>
          <p:cNvSpPr/>
          <p:nvPr/>
        </p:nvSpPr>
        <p:spPr>
          <a:xfrm>
            <a:off x="731520" y="91440"/>
            <a:ext cx="76809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Trebuchet MS"/>
              <a:buNone/>
            </a:pPr>
            <a:r>
              <a:rPr b="1" i="0" lang="en-US" sz="2600" u="none" cap="none" strike="noStrike">
                <a:solidFill>
                  <a:srgbClr val="FFFFFF"/>
                </a:solidFill>
                <a:latin typeface="Trebuchet MS"/>
                <a:ea typeface="Trebuchet MS"/>
                <a:cs typeface="Trebuchet MS"/>
                <a:sym typeface="Trebuchet MS"/>
              </a:rPr>
              <a:t>All Approaches: Comparison Summary</a:t>
            </a:r>
            <a:endParaRPr b="0" i="0" sz="2600" u="none" cap="none" strike="noStrike">
              <a:solidFill>
                <a:schemeClr val="dk1"/>
              </a:solidFill>
              <a:latin typeface="Calibri"/>
              <a:ea typeface="Calibri"/>
              <a:cs typeface="Calibri"/>
              <a:sym typeface="Calibri"/>
            </a:endParaRPr>
          </a:p>
        </p:txBody>
      </p:sp>
      <p:graphicFrame>
        <p:nvGraphicFramePr>
          <p:cNvPr id="328" name="Google Shape;328;p18"/>
          <p:cNvGraphicFramePr/>
          <p:nvPr/>
        </p:nvGraphicFramePr>
        <p:xfrm>
          <a:off x="365760" y="1051560"/>
          <a:ext cx="3000000" cy="3000000"/>
        </p:xfrm>
        <a:graphic>
          <a:graphicData uri="http://schemas.openxmlformats.org/drawingml/2006/table">
            <a:tbl>
              <a:tblPr>
                <a:noFill/>
                <a:tableStyleId>{7D4AC65A-F673-44A1-84F2-F6B31DA8BB3A}</a:tableStyleId>
              </a:tblPr>
              <a:tblGrid>
                <a:gridCol w="2560325"/>
                <a:gridCol w="1280150"/>
                <a:gridCol w="1280150"/>
                <a:gridCol w="1280150"/>
                <a:gridCol w="1280150"/>
              </a:tblGrid>
              <a:tr h="320050">
                <a:tc>
                  <a:txBody>
                    <a:bodyPr/>
                    <a:lstStyle/>
                    <a:p>
                      <a:pPr indent="0" lvl="0" marL="0" marR="0" rtl="0" algn="l">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Approach</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0F2027"/>
                    </a:solidFill>
                  </a:tcPr>
                </a:tc>
                <a:tc>
                  <a:txBody>
                    <a:bodyPr/>
                    <a:lstStyle/>
                    <a:p>
                      <a:pPr indent="0" lvl="0" marL="0" marR="0" rtl="0" algn="ctr">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PSNR ↑</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0F2027"/>
                    </a:solidFill>
                  </a:tcPr>
                </a:tc>
                <a:tc>
                  <a:txBody>
                    <a:bodyPr/>
                    <a:lstStyle/>
                    <a:p>
                      <a:pPr indent="0" lvl="0" marL="0" marR="0" rtl="0" algn="ctr">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SSIM ↑</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0F2027"/>
                    </a:solidFill>
                  </a:tcPr>
                </a:tc>
                <a:tc>
                  <a:txBody>
                    <a:bodyPr/>
                    <a:lstStyle/>
                    <a:p>
                      <a:pPr indent="0" lvl="0" marL="0" marR="0" rtl="0" algn="ctr">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LPIPS ↓</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0F2027"/>
                    </a:solidFill>
                  </a:tcPr>
                </a:tc>
                <a:tc>
                  <a:txBody>
                    <a:bodyPr/>
                    <a:lstStyle/>
                    <a:p>
                      <a:pPr indent="0" lvl="0" marL="0" marR="0" rtl="0" algn="ctr">
                        <a:spcBef>
                          <a:spcPts val="0"/>
                        </a:spcBef>
                        <a:spcAft>
                          <a:spcPts val="0"/>
                        </a:spcAft>
                        <a:buClr>
                          <a:srgbClr val="FFFFFF"/>
                        </a:buClr>
                        <a:buSzPts val="1000"/>
                        <a:buFont typeface="Trebuchet MS"/>
                        <a:buNone/>
                      </a:pPr>
                      <a:r>
                        <a:rPr b="1" lang="en-US" sz="1000" u="none" cap="none" strike="noStrike">
                          <a:solidFill>
                            <a:srgbClr val="FFFFFF"/>
                          </a:solidFill>
                          <a:latin typeface="Trebuchet MS"/>
                          <a:ea typeface="Trebuchet MS"/>
                          <a:cs typeface="Trebuchet MS"/>
                          <a:sym typeface="Trebuchet MS"/>
                        </a:rPr>
                        <a:t>Eval Set</a:t>
                      </a:r>
                      <a:endParaRPr sz="10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0F2027"/>
                    </a:solidFill>
                  </a:tcPr>
                </a:tc>
              </a:tr>
              <a:tr h="365750">
                <a:tc>
                  <a:txBody>
                    <a:bodyPr/>
                    <a:lstStyle/>
                    <a:p>
                      <a:pPr indent="0" lvl="0" marL="0" marR="0" rtl="0" algn="l">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XL-2 (unconditional)</a:t>
                      </a:r>
                      <a:endParaRPr sz="10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6.83</a:t>
                      </a:r>
                      <a:endParaRPr sz="11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0.227</a:t>
                      </a:r>
                      <a:endParaRPr sz="11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0.638</a:t>
                      </a:r>
                      <a:endParaRPr sz="11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8 pairs</a:t>
                      </a:r>
                      <a:endParaRPr sz="11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L-2-concat (unconditional)</a:t>
                      </a:r>
                      <a:endParaRPr sz="10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7.61</a:t>
                      </a:r>
                      <a:endParaRPr sz="11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0.255</a:t>
                      </a:r>
                      <a:endParaRPr sz="11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0.636</a:t>
                      </a:r>
                      <a:endParaRPr sz="11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6 pairs</a:t>
                      </a:r>
                      <a:endParaRPr sz="11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r>
              <a:tr h="365750">
                <a:tc>
                  <a:txBody>
                    <a:bodyPr/>
                    <a:lstStyle/>
                    <a:p>
                      <a:pPr indent="0" lvl="0" marL="0" marR="0" rtl="0" algn="l">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L-2-concat (DJI-day style)</a:t>
                      </a:r>
                      <a:endParaRPr sz="10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7.40</a:t>
                      </a:r>
                      <a:endParaRPr sz="11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0.190</a:t>
                      </a:r>
                      <a:endParaRPr sz="11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0.608</a:t>
                      </a:r>
                      <a:endParaRPr sz="11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6 pairs</a:t>
                      </a:r>
                      <a:endParaRPr sz="11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ThermalGenWithAlphaEarth</a:t>
                      </a:r>
                      <a:endParaRPr sz="10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14.49</a:t>
                      </a:r>
                      <a:endParaRPr sz="11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0.039</a:t>
                      </a:r>
                      <a:endParaRPr sz="11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c>
                  <a:txBody>
                    <a:bodyPr/>
                    <a:lstStyle/>
                    <a:p>
                      <a:pPr indent="0" lvl="0" marL="0" marR="0" rtl="0" algn="ctr">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44 test</a:t>
                      </a:r>
                      <a:endParaRPr sz="11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F8F8F8"/>
                    </a:solidFill>
                  </a:tcPr>
                </a:tc>
              </a:tr>
              <a:tr h="411475">
                <a:tc>
                  <a:txBody>
                    <a:bodyPr/>
                    <a:lstStyle/>
                    <a:p>
                      <a:pPr indent="0" lvl="0" marL="0" marR="0" rtl="0" algn="l">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Refinement U-Net v2</a:t>
                      </a:r>
                      <a:endParaRPr sz="10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CFDF5"/>
                    </a:solidFill>
                  </a:tcPr>
                </a:tc>
                <a:tc>
                  <a:txBody>
                    <a:bodyPr/>
                    <a:lstStyle/>
                    <a:p>
                      <a:pPr indent="0" lvl="0" marL="0" marR="0" rtl="0" algn="ctr">
                        <a:spcBef>
                          <a:spcPts val="0"/>
                        </a:spcBef>
                        <a:spcAft>
                          <a:spcPts val="0"/>
                        </a:spcAft>
                        <a:buClr>
                          <a:srgbClr val="0D9488"/>
                        </a:buClr>
                        <a:buSzPts val="1100"/>
                        <a:buFont typeface="Trebuchet MS"/>
                        <a:buNone/>
                      </a:pPr>
                      <a:r>
                        <a:rPr b="1" lang="en-US" sz="1100" u="none" cap="none" strike="noStrike">
                          <a:solidFill>
                            <a:srgbClr val="0D9488"/>
                          </a:solidFill>
                          <a:latin typeface="Trebuchet MS"/>
                          <a:ea typeface="Trebuchet MS"/>
                          <a:cs typeface="Trebuchet MS"/>
                          <a:sym typeface="Trebuchet MS"/>
                        </a:rPr>
                        <a:t>16.75</a:t>
                      </a:r>
                      <a:endParaRPr sz="11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CFDF5"/>
                    </a:solidFill>
                  </a:tcPr>
                </a:tc>
                <a:tc>
                  <a:txBody>
                    <a:bodyPr/>
                    <a:lstStyle/>
                    <a:p>
                      <a:pPr indent="0" lvl="0" marL="0" marR="0" rtl="0" algn="ctr">
                        <a:spcBef>
                          <a:spcPts val="0"/>
                        </a:spcBef>
                        <a:spcAft>
                          <a:spcPts val="0"/>
                        </a:spcAft>
                        <a:buClr>
                          <a:srgbClr val="0D9488"/>
                        </a:buClr>
                        <a:buSzPts val="1100"/>
                        <a:buFont typeface="Trebuchet MS"/>
                        <a:buNone/>
                      </a:pPr>
                      <a:r>
                        <a:rPr b="1" lang="en-US" sz="1100" u="none" cap="none" strike="noStrike">
                          <a:solidFill>
                            <a:srgbClr val="0D9488"/>
                          </a:solidFill>
                          <a:latin typeface="Trebuchet MS"/>
                          <a:ea typeface="Trebuchet MS"/>
                          <a:cs typeface="Trebuchet MS"/>
                          <a:sym typeface="Trebuchet MS"/>
                        </a:rPr>
                        <a:t>0.449</a:t>
                      </a:r>
                      <a:endParaRPr sz="11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CFDF5"/>
                    </a:solidFill>
                  </a:tcPr>
                </a:tc>
                <a:tc>
                  <a:txBody>
                    <a:bodyPr/>
                    <a:lstStyle/>
                    <a:p>
                      <a:pPr indent="0" lvl="0" marL="0" marR="0" rtl="0" algn="ctr">
                        <a:spcBef>
                          <a:spcPts val="0"/>
                        </a:spcBef>
                        <a:spcAft>
                          <a:spcPts val="0"/>
                        </a:spcAft>
                        <a:buClr>
                          <a:srgbClr val="0D9488"/>
                        </a:buClr>
                        <a:buSzPts val="1100"/>
                        <a:buFont typeface="Trebuchet MS"/>
                        <a:buNone/>
                      </a:pPr>
                      <a:r>
                        <a:rPr b="1" lang="en-US" sz="1100" u="none" cap="none" strike="noStrike">
                          <a:solidFill>
                            <a:srgbClr val="0D9488"/>
                          </a:solidFill>
                          <a:latin typeface="Trebuchet MS"/>
                          <a:ea typeface="Trebuchet MS"/>
                          <a:cs typeface="Trebuchet MS"/>
                          <a:sym typeface="Trebuchet MS"/>
                        </a:rPr>
                        <a:t>0.408</a:t>
                      </a:r>
                      <a:endParaRPr sz="1100" u="none" cap="none" strike="noStrike">
                        <a:latin typeface="Trebuchet MS"/>
                        <a:ea typeface="Trebuchet MS"/>
                        <a:cs typeface="Trebuchet MS"/>
                        <a:sym typeface="Trebuchet MS"/>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CFDF5"/>
                    </a:solidFill>
                  </a:tcPr>
                </a:tc>
                <a:tc>
                  <a:txBody>
                    <a:bodyPr/>
                    <a:lstStyle/>
                    <a:p>
                      <a:pPr indent="0" lvl="0" marL="0" marR="0" rtl="0" algn="ctr">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418 train</a:t>
                      </a:r>
                      <a:endParaRPr sz="1100" u="none" cap="none" strike="noStrike">
                        <a:latin typeface="Calibri"/>
                        <a:ea typeface="Calibri"/>
                        <a:cs typeface="Calibri"/>
                        <a:sym typeface="Calibri"/>
                      </a:endParaRPr>
                    </a:p>
                  </a:txBody>
                  <a:tcPr marT="45725" marB="45725" marR="91450" marL="91450">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E0E0E0"/>
                      </a:solidFill>
                      <a:prstDash val="solid"/>
                      <a:round/>
                      <a:headEnd len="sm" w="sm" type="none"/>
                      <a:tailEnd len="sm" w="sm" type="none"/>
                    </a:lnT>
                    <a:lnB cap="flat" cmpd="sng" w="9525">
                      <a:solidFill>
                        <a:srgbClr val="E0E0E0"/>
                      </a:solidFill>
                      <a:prstDash val="solid"/>
                      <a:round/>
                      <a:headEnd len="sm" w="sm" type="none"/>
                      <a:tailEnd len="sm" w="sm" type="none"/>
                    </a:lnB>
                    <a:solidFill>
                      <a:srgbClr val="ECFDF5"/>
                    </a:solidFill>
                  </a:tcPr>
                </a:tc>
              </a:tr>
            </a:tbl>
          </a:graphicData>
        </a:graphic>
      </p:graphicFrame>
      <p:pic>
        <p:nvPicPr>
          <p:cNvPr id="329" name="Google Shape;329;p18"/>
          <p:cNvPicPr preferRelativeResize="0"/>
          <p:nvPr/>
        </p:nvPicPr>
        <p:blipFill rotWithShape="1">
          <a:blip r:embed="rId3">
            <a:alphaModFix/>
          </a:blip>
          <a:srcRect b="0" l="0" r="0" t="0"/>
          <a:stretch/>
        </p:blipFill>
        <p:spPr>
          <a:xfrm>
            <a:off x="365760" y="3154680"/>
            <a:ext cx="5029200" cy="1828800"/>
          </a:xfrm>
          <a:prstGeom prst="rect">
            <a:avLst/>
          </a:prstGeom>
          <a:noFill/>
          <a:ln>
            <a:noFill/>
          </a:ln>
        </p:spPr>
      </p:pic>
      <p:sp>
        <p:nvSpPr>
          <p:cNvPr id="330" name="Google Shape;330;p18"/>
          <p:cNvSpPr/>
          <p:nvPr/>
        </p:nvSpPr>
        <p:spPr>
          <a:xfrm>
            <a:off x="5669280" y="3154680"/>
            <a:ext cx="3108900" cy="1828800"/>
          </a:xfrm>
          <a:prstGeom prst="rect">
            <a:avLst/>
          </a:prstGeom>
          <a:solidFill>
            <a:srgbClr val="0F2027"/>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8"/>
          <p:cNvSpPr/>
          <p:nvPr/>
        </p:nvSpPr>
        <p:spPr>
          <a:xfrm>
            <a:off x="5852160" y="3246120"/>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1500"/>
              <a:buFont typeface="Trebuchet MS"/>
              <a:buNone/>
            </a:pPr>
            <a:r>
              <a:rPr b="1" i="0" lang="en-US" sz="1500" u="none" cap="none" strike="noStrike">
                <a:solidFill>
                  <a:srgbClr val="F4A261"/>
                </a:solidFill>
                <a:latin typeface="Trebuchet MS"/>
                <a:ea typeface="Trebuchet MS"/>
                <a:cs typeface="Trebuchet MS"/>
                <a:sym typeface="Trebuchet MS"/>
              </a:rPr>
              <a:t>Progression</a:t>
            </a:r>
            <a:endParaRPr b="0" i="0" sz="1500" u="none" cap="none" strike="noStrike">
              <a:solidFill>
                <a:schemeClr val="dk1"/>
              </a:solidFill>
              <a:latin typeface="Calibri"/>
              <a:ea typeface="Calibri"/>
              <a:cs typeface="Calibri"/>
              <a:sym typeface="Calibri"/>
            </a:endParaRPr>
          </a:p>
        </p:txBody>
      </p:sp>
      <p:sp>
        <p:nvSpPr>
          <p:cNvPr id="332" name="Google Shape;332;p18"/>
          <p:cNvSpPr/>
          <p:nvPr/>
        </p:nvSpPr>
        <p:spPr>
          <a:xfrm>
            <a:off x="5852160" y="3566160"/>
            <a:ext cx="2743200" cy="12801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FFFFFF"/>
              </a:buClr>
              <a:buSzPts val="900"/>
              <a:buFont typeface="Calibri"/>
              <a:buChar char="•"/>
            </a:pPr>
            <a:r>
              <a:rPr b="0" i="0" lang="en-US" sz="900" u="none" cap="none" strike="noStrike">
                <a:solidFill>
                  <a:srgbClr val="FFFFFF"/>
                </a:solidFill>
                <a:latin typeface="Calibri"/>
                <a:ea typeface="Calibri"/>
                <a:cs typeface="Calibri"/>
                <a:sym typeface="Calibri"/>
              </a:rPr>
              <a:t>Baseline models: PSNR ~6.8–7.6 on small test sets</a:t>
            </a:r>
            <a:endParaRPr b="0" i="0" sz="9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FFFFFF"/>
              </a:buClr>
              <a:buSzPts val="900"/>
              <a:buFont typeface="Calibri"/>
              <a:buChar char="•"/>
            </a:pPr>
            <a:r>
              <a:rPr b="0" i="0" lang="en-US" sz="900" u="none" cap="none" strike="noStrike">
                <a:solidFill>
                  <a:srgbClr val="FFFFFF"/>
                </a:solidFill>
                <a:latin typeface="Calibri"/>
                <a:ea typeface="Calibri"/>
                <a:cs typeface="Calibri"/>
                <a:sym typeface="Calibri"/>
              </a:rPr>
              <a:t>AlphaEarth E2E: 14.49 PSNR — strong pixel accuracy but low SSIM</a:t>
            </a:r>
            <a:endParaRPr b="0" i="0" sz="9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FFFFFF"/>
              </a:buClr>
              <a:buSzPts val="900"/>
              <a:buFont typeface="Calibri"/>
              <a:buChar char="•"/>
            </a:pPr>
            <a:r>
              <a:rPr b="0" i="0" lang="en-US" sz="900" u="none" cap="none" strike="noStrike">
                <a:solidFill>
                  <a:srgbClr val="FFFFFF"/>
                </a:solidFill>
                <a:latin typeface="Calibri"/>
                <a:ea typeface="Calibri"/>
                <a:cs typeface="Calibri"/>
                <a:sym typeface="Calibri"/>
              </a:rPr>
              <a:t>Refinement U-Net v2: 16.75 PSNR + 0.45 SSIM + 0.41 LPIPS — best overall quality</a:t>
            </a:r>
            <a:endParaRPr b="0" i="0" sz="9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FFFFFF"/>
              </a:buClr>
              <a:buSzPts val="900"/>
              <a:buFont typeface="Calibri"/>
              <a:buChar char="•"/>
            </a:pPr>
            <a:r>
              <a:rPr b="0" i="0" lang="en-US" sz="900" u="none" cap="none" strike="noStrike">
                <a:solidFill>
                  <a:srgbClr val="FFFFFF"/>
                </a:solidFill>
                <a:latin typeface="Calibri"/>
                <a:ea typeface="Calibri"/>
                <a:cs typeface="Calibri"/>
                <a:sym typeface="Calibri"/>
              </a:rPr>
              <a:t>Multi-signal fusion (weather + AlphaEarth + baseline) proves most effective</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827"/>
        </a:solidFill>
      </p:bgPr>
    </p:bg>
    <p:spTree>
      <p:nvGrpSpPr>
        <p:cNvPr id="337" name="Shape 337"/>
        <p:cNvGrpSpPr/>
        <p:nvPr/>
      </p:nvGrpSpPr>
      <p:grpSpPr>
        <a:xfrm>
          <a:off x="0" y="0"/>
          <a:ext cx="0" cy="0"/>
          <a:chOff x="0" y="0"/>
          <a:chExt cx="0" cy="0"/>
        </a:xfrm>
      </p:grpSpPr>
      <p:sp>
        <p:nvSpPr>
          <p:cNvPr id="338" name="Google Shape;338;p19"/>
          <p:cNvSpPr/>
          <p:nvPr/>
        </p:nvSpPr>
        <p:spPr>
          <a:xfrm>
            <a:off x="0" y="0"/>
            <a:ext cx="9144000" cy="5490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9"/>
          <p:cNvSpPr/>
          <p:nvPr/>
        </p:nvSpPr>
        <p:spPr>
          <a:xfrm>
            <a:off x="548640" y="22860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Arial Black"/>
              <a:buNone/>
            </a:pPr>
            <a:r>
              <a:rPr b="1" i="0" lang="en-US" sz="2200" u="none" cap="none" strike="noStrike">
                <a:solidFill>
                  <a:srgbClr val="FFFFFF"/>
                </a:solidFill>
                <a:latin typeface="Arial Black"/>
                <a:ea typeface="Arial Black"/>
                <a:cs typeface="Arial Black"/>
                <a:sym typeface="Arial Black"/>
              </a:rPr>
              <a:t>Limitations &amp; Challenges</a:t>
            </a:r>
            <a:endParaRPr b="0" i="0" sz="2200" u="none" cap="none" strike="noStrike">
              <a:solidFill>
                <a:schemeClr val="dk1"/>
              </a:solidFill>
              <a:latin typeface="Calibri"/>
              <a:ea typeface="Calibri"/>
              <a:cs typeface="Calibri"/>
              <a:sym typeface="Calibri"/>
            </a:endParaRPr>
          </a:p>
        </p:txBody>
      </p:sp>
      <p:sp>
        <p:nvSpPr>
          <p:cNvPr id="340" name="Google Shape;340;p19"/>
          <p:cNvSpPr/>
          <p:nvPr/>
        </p:nvSpPr>
        <p:spPr>
          <a:xfrm>
            <a:off x="457200" y="914400"/>
            <a:ext cx="8229600" cy="1234500"/>
          </a:xfrm>
          <a:prstGeom prst="rect">
            <a:avLst/>
          </a:prstGeom>
          <a:solidFill>
            <a:srgbClr val="1F2937"/>
          </a:solidFill>
          <a:ln cap="flat" cmpd="sng" w="9525">
            <a:solidFill>
              <a:srgbClr val="374151"/>
            </a:solidFill>
            <a:prstDash val="solid"/>
            <a:round/>
            <a:headEnd len="sm" w="sm" type="none"/>
            <a:tailEnd len="sm" w="sm" type="none"/>
          </a:ln>
          <a:effectLst>
            <a:outerShdw blurRad="50800" rotWithShape="0" algn="bl" dir="8100000" dist="12700">
              <a:srgbClr val="000000">
                <a:alpha val="3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9"/>
          <p:cNvSpPr/>
          <p:nvPr/>
        </p:nvSpPr>
        <p:spPr>
          <a:xfrm>
            <a:off x="457200" y="914400"/>
            <a:ext cx="63900" cy="123450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42" name="Google Shape;342;p19"/>
          <p:cNvPicPr preferRelativeResize="0"/>
          <p:nvPr/>
        </p:nvPicPr>
        <p:blipFill rotWithShape="1">
          <a:blip r:embed="rId3">
            <a:alphaModFix/>
          </a:blip>
          <a:srcRect b="0" l="0" r="0" t="0"/>
          <a:stretch/>
        </p:blipFill>
        <p:spPr>
          <a:xfrm>
            <a:off x="731520" y="1051560"/>
            <a:ext cx="365760" cy="365760"/>
          </a:xfrm>
          <a:prstGeom prst="rect">
            <a:avLst/>
          </a:prstGeom>
          <a:noFill/>
          <a:ln>
            <a:noFill/>
          </a:ln>
        </p:spPr>
      </p:pic>
      <p:sp>
        <p:nvSpPr>
          <p:cNvPr id="343" name="Google Shape;343;p19"/>
          <p:cNvSpPr/>
          <p:nvPr/>
        </p:nvSpPr>
        <p:spPr>
          <a:xfrm>
            <a:off x="1234440" y="987552"/>
            <a:ext cx="7132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B923C"/>
              </a:buClr>
              <a:buSzPts val="1500"/>
              <a:buFont typeface="Calibri"/>
              <a:buNone/>
            </a:pPr>
            <a:r>
              <a:rPr b="1" i="0" lang="en-US" sz="1500" u="none" cap="none" strike="noStrike">
                <a:solidFill>
                  <a:srgbClr val="FB923C"/>
                </a:solidFill>
                <a:latin typeface="Calibri"/>
                <a:ea typeface="Calibri"/>
                <a:cs typeface="Calibri"/>
                <a:sym typeface="Calibri"/>
              </a:rPr>
              <a:t>1. Data Loss During Preprocessing</a:t>
            </a:r>
            <a:endParaRPr b="0" i="0" sz="1500" u="none" cap="none" strike="noStrike">
              <a:solidFill>
                <a:schemeClr val="dk1"/>
              </a:solidFill>
              <a:latin typeface="Calibri"/>
              <a:ea typeface="Calibri"/>
              <a:cs typeface="Calibri"/>
              <a:sym typeface="Calibri"/>
            </a:endParaRPr>
          </a:p>
        </p:txBody>
      </p:sp>
      <p:sp>
        <p:nvSpPr>
          <p:cNvPr id="344" name="Google Shape;344;p19"/>
          <p:cNvSpPr/>
          <p:nvPr/>
        </p:nvSpPr>
        <p:spPr>
          <a:xfrm>
            <a:off x="1234440" y="1371600"/>
            <a:ext cx="7132200" cy="7314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9CA3AF"/>
              </a:buClr>
              <a:buSzPts val="1100"/>
              <a:buFont typeface="Calibri"/>
              <a:buNone/>
            </a:pPr>
            <a:r>
              <a:rPr b="0" i="0" lang="en-US" sz="1100" u="none" cap="none" strike="noStrike">
                <a:solidFill>
                  <a:srgbClr val="9CA3AF"/>
                </a:solidFill>
                <a:latin typeface="Calibri"/>
                <a:ea typeface="Calibri"/>
                <a:cs typeface="Calibri"/>
                <a:sym typeface="Calibri"/>
              </a:rPr>
              <a:t>Training samples lost during dataset transfer (zipping/downloading from Drive)</a:t>
            </a:r>
            <a:endParaRPr b="0" i="0" sz="11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9CA3AF"/>
              </a:buClr>
              <a:buSzPts val="1100"/>
              <a:buFont typeface="Calibri"/>
              <a:buNone/>
            </a:pPr>
            <a:r>
              <a:rPr b="0" i="0" lang="en-US" sz="1100" u="none" cap="none" strike="noStrike">
                <a:solidFill>
                  <a:srgbClr val="9CA3AF"/>
                </a:solidFill>
                <a:latin typeface="Calibri"/>
                <a:ea typeface="Calibri"/>
                <a:cs typeface="Calibri"/>
                <a:sym typeface="Calibri"/>
              </a:rPr>
              <a:t>Expected: 468 RGB + 468 Thermal  |  Actual: 418 RGB + 46</a:t>
            </a:r>
            <a:r>
              <a:rPr lang="en-US" sz="1100">
                <a:solidFill>
                  <a:srgbClr val="9CA3AF"/>
                </a:solidFill>
                <a:latin typeface="Calibri"/>
                <a:ea typeface="Calibri"/>
                <a:cs typeface="Calibri"/>
                <a:sym typeface="Calibri"/>
              </a:rPr>
              <a:t>8</a:t>
            </a:r>
            <a:r>
              <a:rPr b="0" i="0" lang="en-US" sz="1100" u="none" cap="none" strike="noStrike">
                <a:solidFill>
                  <a:srgbClr val="9CA3AF"/>
                </a:solidFill>
                <a:latin typeface="Calibri"/>
                <a:ea typeface="Calibri"/>
                <a:cs typeface="Calibri"/>
                <a:sym typeface="Calibri"/>
              </a:rPr>
              <a:t> Thermal — imbalanced dataset</a:t>
            </a:r>
            <a:endParaRPr b="0" i="0" sz="1100" u="none" cap="none" strike="noStrike">
              <a:solidFill>
                <a:schemeClr val="dk1"/>
              </a:solidFill>
              <a:latin typeface="Calibri"/>
              <a:ea typeface="Calibri"/>
              <a:cs typeface="Calibri"/>
              <a:sym typeface="Calibri"/>
            </a:endParaRPr>
          </a:p>
        </p:txBody>
      </p:sp>
      <p:sp>
        <p:nvSpPr>
          <p:cNvPr id="345" name="Google Shape;345;p19"/>
          <p:cNvSpPr/>
          <p:nvPr/>
        </p:nvSpPr>
        <p:spPr>
          <a:xfrm>
            <a:off x="457200" y="2331720"/>
            <a:ext cx="8229600" cy="1234500"/>
          </a:xfrm>
          <a:prstGeom prst="rect">
            <a:avLst/>
          </a:prstGeom>
          <a:solidFill>
            <a:srgbClr val="1F2937"/>
          </a:solidFill>
          <a:ln cap="flat" cmpd="sng" w="9525">
            <a:solidFill>
              <a:srgbClr val="374151"/>
            </a:solidFill>
            <a:prstDash val="solid"/>
            <a:round/>
            <a:headEnd len="sm" w="sm" type="none"/>
            <a:tailEnd len="sm" w="sm" type="none"/>
          </a:ln>
          <a:effectLst>
            <a:outerShdw blurRad="50800" rotWithShape="0" algn="bl" dir="8100000" dist="12700">
              <a:srgbClr val="000000">
                <a:alpha val="3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9"/>
          <p:cNvSpPr/>
          <p:nvPr/>
        </p:nvSpPr>
        <p:spPr>
          <a:xfrm>
            <a:off x="457200" y="2331720"/>
            <a:ext cx="63900" cy="123450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47" name="Google Shape;347;p19"/>
          <p:cNvPicPr preferRelativeResize="0"/>
          <p:nvPr/>
        </p:nvPicPr>
        <p:blipFill rotWithShape="1">
          <a:blip r:embed="rId4">
            <a:alphaModFix/>
          </a:blip>
          <a:srcRect b="0" l="0" r="0" t="0"/>
          <a:stretch/>
        </p:blipFill>
        <p:spPr>
          <a:xfrm>
            <a:off x="731520" y="2468880"/>
            <a:ext cx="365760" cy="365760"/>
          </a:xfrm>
          <a:prstGeom prst="rect">
            <a:avLst/>
          </a:prstGeom>
          <a:noFill/>
          <a:ln>
            <a:noFill/>
          </a:ln>
        </p:spPr>
      </p:pic>
      <p:sp>
        <p:nvSpPr>
          <p:cNvPr id="348" name="Google Shape;348;p19"/>
          <p:cNvSpPr/>
          <p:nvPr/>
        </p:nvSpPr>
        <p:spPr>
          <a:xfrm>
            <a:off x="1234440" y="2404872"/>
            <a:ext cx="7132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B923C"/>
              </a:buClr>
              <a:buSzPts val="1500"/>
              <a:buFont typeface="Calibri"/>
              <a:buNone/>
            </a:pPr>
            <a:r>
              <a:rPr b="1" i="0" lang="en-US" sz="1500" u="none" cap="none" strike="noStrike">
                <a:solidFill>
                  <a:srgbClr val="FB923C"/>
                </a:solidFill>
                <a:latin typeface="Calibri"/>
                <a:ea typeface="Calibri"/>
                <a:cs typeface="Calibri"/>
                <a:sym typeface="Calibri"/>
              </a:rPr>
              <a:t>2. Limited Training Data (Core Problem)</a:t>
            </a:r>
            <a:endParaRPr b="0" i="0" sz="1500" u="none" cap="none" strike="noStrike">
              <a:solidFill>
                <a:schemeClr val="dk1"/>
              </a:solidFill>
              <a:latin typeface="Calibri"/>
              <a:ea typeface="Calibri"/>
              <a:cs typeface="Calibri"/>
              <a:sym typeface="Calibri"/>
            </a:endParaRPr>
          </a:p>
        </p:txBody>
      </p:sp>
      <p:sp>
        <p:nvSpPr>
          <p:cNvPr id="349" name="Google Shape;349;p19"/>
          <p:cNvSpPr/>
          <p:nvPr/>
        </p:nvSpPr>
        <p:spPr>
          <a:xfrm>
            <a:off x="1234440" y="2788920"/>
            <a:ext cx="7132200" cy="7314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9CA3AF"/>
              </a:buClr>
              <a:buSzPts val="1100"/>
              <a:buFont typeface="Calibri"/>
              <a:buNone/>
            </a:pPr>
            <a:r>
              <a:rPr b="0" i="0" lang="en-US" sz="1100" u="none" cap="none" strike="noStrike">
                <a:solidFill>
                  <a:srgbClr val="9CA3AF"/>
                </a:solidFill>
                <a:latin typeface="Calibri"/>
                <a:ea typeface="Calibri"/>
                <a:cs typeface="Calibri"/>
                <a:sym typeface="Calibri"/>
              </a:rPr>
              <a:t>RGB-Thermal paired datasets are inherently scarce and expensive to collect</a:t>
            </a:r>
            <a:endParaRPr b="0" i="0" sz="11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9CA3AF"/>
              </a:buClr>
              <a:buSzPts val="1100"/>
              <a:buFont typeface="Calibri"/>
              <a:buNone/>
            </a:pPr>
            <a:r>
              <a:rPr b="0" i="0" lang="en-US" sz="1100" u="none" cap="none" strike="noStrike">
                <a:solidFill>
                  <a:srgbClr val="9CA3AF"/>
                </a:solidFill>
                <a:latin typeface="Calibri"/>
                <a:ea typeface="Calibri"/>
                <a:cs typeface="Calibri"/>
                <a:sym typeface="Calibri"/>
              </a:rPr>
              <a:t>Smaller dataset → weaker generalization, risk of overfitting, struggles with edge cases</a:t>
            </a:r>
            <a:endParaRPr b="0" i="0" sz="1100" u="none" cap="none" strike="noStrike">
              <a:solidFill>
                <a:schemeClr val="dk1"/>
              </a:solidFill>
              <a:latin typeface="Calibri"/>
              <a:ea typeface="Calibri"/>
              <a:cs typeface="Calibri"/>
              <a:sym typeface="Calibri"/>
            </a:endParaRPr>
          </a:p>
        </p:txBody>
      </p:sp>
      <p:sp>
        <p:nvSpPr>
          <p:cNvPr id="350" name="Google Shape;350;p19"/>
          <p:cNvSpPr/>
          <p:nvPr/>
        </p:nvSpPr>
        <p:spPr>
          <a:xfrm>
            <a:off x="457200" y="3749040"/>
            <a:ext cx="8229600" cy="1234500"/>
          </a:xfrm>
          <a:prstGeom prst="rect">
            <a:avLst/>
          </a:prstGeom>
          <a:solidFill>
            <a:srgbClr val="1F2937"/>
          </a:solidFill>
          <a:ln cap="flat" cmpd="sng" w="9525">
            <a:solidFill>
              <a:srgbClr val="374151"/>
            </a:solidFill>
            <a:prstDash val="solid"/>
            <a:round/>
            <a:headEnd len="sm" w="sm" type="none"/>
            <a:tailEnd len="sm" w="sm" type="none"/>
          </a:ln>
          <a:effectLst>
            <a:outerShdw blurRad="50800" rotWithShape="0" algn="bl" dir="8100000" dist="12700">
              <a:srgbClr val="000000">
                <a:alpha val="3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9"/>
          <p:cNvSpPr/>
          <p:nvPr/>
        </p:nvSpPr>
        <p:spPr>
          <a:xfrm>
            <a:off x="457200" y="3749040"/>
            <a:ext cx="63900" cy="123450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2" name="Google Shape;352;p19"/>
          <p:cNvPicPr preferRelativeResize="0"/>
          <p:nvPr/>
        </p:nvPicPr>
        <p:blipFill rotWithShape="1">
          <a:blip r:embed="rId5">
            <a:alphaModFix/>
          </a:blip>
          <a:srcRect b="0" l="0" r="0" t="0"/>
          <a:stretch/>
        </p:blipFill>
        <p:spPr>
          <a:xfrm>
            <a:off x="731520" y="3886200"/>
            <a:ext cx="365760" cy="365760"/>
          </a:xfrm>
          <a:prstGeom prst="rect">
            <a:avLst/>
          </a:prstGeom>
          <a:noFill/>
          <a:ln>
            <a:noFill/>
          </a:ln>
        </p:spPr>
      </p:pic>
      <p:sp>
        <p:nvSpPr>
          <p:cNvPr id="353" name="Google Shape;353;p19"/>
          <p:cNvSpPr/>
          <p:nvPr/>
        </p:nvSpPr>
        <p:spPr>
          <a:xfrm>
            <a:off x="1234440" y="3822192"/>
            <a:ext cx="7132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B923C"/>
              </a:buClr>
              <a:buSzPts val="1500"/>
              <a:buFont typeface="Calibri"/>
              <a:buNone/>
            </a:pPr>
            <a:r>
              <a:rPr b="1" i="0" lang="en-US" sz="1500" u="none" cap="none" strike="noStrike">
                <a:solidFill>
                  <a:srgbClr val="FB923C"/>
                </a:solidFill>
                <a:latin typeface="Calibri"/>
                <a:ea typeface="Calibri"/>
                <a:cs typeface="Calibri"/>
                <a:sym typeface="Calibri"/>
              </a:rPr>
              <a:t>3. Time Constraints (Hackathon Setting)</a:t>
            </a:r>
            <a:endParaRPr b="0" i="0" sz="1500" u="none" cap="none" strike="noStrike">
              <a:solidFill>
                <a:schemeClr val="dk1"/>
              </a:solidFill>
              <a:latin typeface="Calibri"/>
              <a:ea typeface="Calibri"/>
              <a:cs typeface="Calibri"/>
              <a:sym typeface="Calibri"/>
            </a:endParaRPr>
          </a:p>
        </p:txBody>
      </p:sp>
      <p:sp>
        <p:nvSpPr>
          <p:cNvPr id="354" name="Google Shape;354;p19"/>
          <p:cNvSpPr/>
          <p:nvPr/>
        </p:nvSpPr>
        <p:spPr>
          <a:xfrm>
            <a:off x="1234440" y="4206240"/>
            <a:ext cx="7132200" cy="7314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9CA3AF"/>
              </a:buClr>
              <a:buSzPts val="1100"/>
              <a:buFont typeface="Calibri"/>
              <a:buNone/>
            </a:pPr>
            <a:r>
              <a:rPr b="0" i="0" lang="en-US" sz="1100" u="none" cap="none" strike="noStrike">
                <a:solidFill>
                  <a:srgbClr val="9CA3AF"/>
                </a:solidFill>
                <a:latin typeface="Calibri"/>
                <a:ea typeface="Calibri"/>
                <a:cs typeface="Calibri"/>
                <a:sym typeface="Calibri"/>
              </a:rPr>
              <a:t>Could not train from scratch — relied on fine-tuning pretrained ThermalGen</a:t>
            </a:r>
            <a:endParaRPr b="0" i="0" sz="11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9CA3AF"/>
              </a:buClr>
              <a:buSzPts val="1100"/>
              <a:buFont typeface="Calibri"/>
              <a:buNone/>
            </a:pPr>
            <a:r>
              <a:rPr b="0" i="0" lang="en-US" sz="1100" u="none" cap="none" strike="noStrike">
                <a:solidFill>
                  <a:srgbClr val="9CA3AF"/>
                </a:solidFill>
                <a:latin typeface="Calibri"/>
                <a:ea typeface="Calibri"/>
                <a:cs typeface="Calibri"/>
                <a:sym typeface="Calibri"/>
              </a:rPr>
              <a:t>Limited ability to optimize architecture, tune hyperparameters, or run large-scale experiments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827"/>
        </a:solidFill>
      </p:bgPr>
    </p:bg>
    <p:spTree>
      <p:nvGrpSpPr>
        <p:cNvPr id="359" name="Shape 359"/>
        <p:cNvGrpSpPr/>
        <p:nvPr/>
      </p:nvGrpSpPr>
      <p:grpSpPr>
        <a:xfrm>
          <a:off x="0" y="0"/>
          <a:ext cx="0" cy="0"/>
          <a:chOff x="0" y="0"/>
          <a:chExt cx="0" cy="0"/>
        </a:xfrm>
      </p:grpSpPr>
      <p:sp>
        <p:nvSpPr>
          <p:cNvPr id="360" name="Google Shape;360;p20"/>
          <p:cNvSpPr/>
          <p:nvPr/>
        </p:nvSpPr>
        <p:spPr>
          <a:xfrm>
            <a:off x="0" y="0"/>
            <a:ext cx="9144000" cy="5490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0"/>
          <p:cNvSpPr/>
          <p:nvPr/>
        </p:nvSpPr>
        <p:spPr>
          <a:xfrm>
            <a:off x="548640" y="22860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Arial Black"/>
              <a:buNone/>
            </a:pPr>
            <a:r>
              <a:rPr b="1" i="0" lang="en-US" sz="2200" u="none" cap="none" strike="noStrike">
                <a:solidFill>
                  <a:srgbClr val="FFFFFF"/>
                </a:solidFill>
                <a:latin typeface="Arial Black"/>
                <a:ea typeface="Arial Black"/>
                <a:cs typeface="Arial Black"/>
                <a:sym typeface="Arial Black"/>
              </a:rPr>
              <a:t>Limitations &amp; Challenges</a:t>
            </a:r>
            <a:endParaRPr b="0" i="0" sz="2200" u="none" cap="none" strike="noStrike">
              <a:solidFill>
                <a:schemeClr val="dk1"/>
              </a:solidFill>
              <a:latin typeface="Calibri"/>
              <a:ea typeface="Calibri"/>
              <a:cs typeface="Calibri"/>
              <a:sym typeface="Calibri"/>
            </a:endParaRPr>
          </a:p>
        </p:txBody>
      </p:sp>
      <p:sp>
        <p:nvSpPr>
          <p:cNvPr id="362" name="Google Shape;362;p20"/>
          <p:cNvSpPr/>
          <p:nvPr/>
        </p:nvSpPr>
        <p:spPr>
          <a:xfrm>
            <a:off x="457200" y="914400"/>
            <a:ext cx="8229600" cy="1417200"/>
          </a:xfrm>
          <a:prstGeom prst="rect">
            <a:avLst/>
          </a:prstGeom>
          <a:solidFill>
            <a:srgbClr val="1F2937"/>
          </a:solidFill>
          <a:ln cap="flat" cmpd="sng" w="9525">
            <a:solidFill>
              <a:srgbClr val="374151"/>
            </a:solidFill>
            <a:prstDash val="solid"/>
            <a:round/>
            <a:headEnd len="sm" w="sm" type="none"/>
            <a:tailEnd len="sm" w="sm" type="none"/>
          </a:ln>
          <a:effectLst>
            <a:outerShdw blurRad="50800" rotWithShape="0" algn="bl" dir="8100000" dist="12700">
              <a:srgbClr val="000000">
                <a:alpha val="3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0"/>
          <p:cNvSpPr/>
          <p:nvPr/>
        </p:nvSpPr>
        <p:spPr>
          <a:xfrm>
            <a:off x="457200" y="914400"/>
            <a:ext cx="63900" cy="141720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4" name="Google Shape;364;p20"/>
          <p:cNvPicPr preferRelativeResize="0"/>
          <p:nvPr/>
        </p:nvPicPr>
        <p:blipFill rotWithShape="1">
          <a:blip r:embed="rId3">
            <a:alphaModFix/>
          </a:blip>
          <a:srcRect b="0" l="0" r="0" t="0"/>
          <a:stretch/>
        </p:blipFill>
        <p:spPr>
          <a:xfrm>
            <a:off x="731520" y="1051560"/>
            <a:ext cx="365760" cy="365760"/>
          </a:xfrm>
          <a:prstGeom prst="rect">
            <a:avLst/>
          </a:prstGeom>
          <a:noFill/>
          <a:ln>
            <a:noFill/>
          </a:ln>
        </p:spPr>
      </p:pic>
      <p:sp>
        <p:nvSpPr>
          <p:cNvPr id="365" name="Google Shape;365;p20"/>
          <p:cNvSpPr/>
          <p:nvPr/>
        </p:nvSpPr>
        <p:spPr>
          <a:xfrm>
            <a:off x="1234440" y="987552"/>
            <a:ext cx="7132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B923C"/>
              </a:buClr>
              <a:buSzPts val="1500"/>
              <a:buFont typeface="Calibri"/>
              <a:buNone/>
            </a:pPr>
            <a:r>
              <a:rPr b="1" i="0" lang="en-US" sz="1500" u="none" cap="none" strike="noStrike">
                <a:solidFill>
                  <a:srgbClr val="FB923C"/>
                </a:solidFill>
                <a:latin typeface="Calibri"/>
                <a:ea typeface="Calibri"/>
                <a:cs typeface="Calibri"/>
                <a:sym typeface="Calibri"/>
              </a:rPr>
              <a:t>4. AlphaEarth Embedding Limitation</a:t>
            </a:r>
            <a:endParaRPr b="0" i="0" sz="1500" u="none" cap="none" strike="noStrike">
              <a:solidFill>
                <a:schemeClr val="dk1"/>
              </a:solidFill>
              <a:latin typeface="Calibri"/>
              <a:ea typeface="Calibri"/>
              <a:cs typeface="Calibri"/>
              <a:sym typeface="Calibri"/>
            </a:endParaRPr>
          </a:p>
        </p:txBody>
      </p:sp>
      <p:sp>
        <p:nvSpPr>
          <p:cNvPr id="366" name="Google Shape;366;p20"/>
          <p:cNvSpPr/>
          <p:nvPr/>
        </p:nvSpPr>
        <p:spPr>
          <a:xfrm>
            <a:off x="1234440" y="1371600"/>
            <a:ext cx="7132200" cy="9144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9CA3AF"/>
              </a:buClr>
              <a:buSzPts val="1100"/>
              <a:buFont typeface="Calibri"/>
              <a:buNone/>
            </a:pPr>
            <a:r>
              <a:rPr b="0" i="0" lang="en-US" sz="1100" u="none" cap="none" strike="noStrike">
                <a:solidFill>
                  <a:srgbClr val="9CA3AF"/>
                </a:solidFill>
                <a:latin typeface="Calibri"/>
                <a:ea typeface="Calibri"/>
                <a:cs typeface="Calibri"/>
                <a:sym typeface="Calibri"/>
              </a:rPr>
              <a:t>AlphaEarth embeddings are static (precomputed) — not updated during training</a:t>
            </a:r>
            <a:endParaRPr b="0" i="0" sz="11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9CA3AF"/>
              </a:buClr>
              <a:buSzPts val="1100"/>
              <a:buFont typeface="Calibri"/>
              <a:buNone/>
            </a:pPr>
            <a:r>
              <a:rPr b="0" i="0" lang="en-US" sz="1100" u="none" cap="none" strike="noStrike">
                <a:solidFill>
                  <a:srgbClr val="9CA3AF"/>
                </a:solidFill>
                <a:latin typeface="Calibri"/>
                <a:ea typeface="Calibri"/>
                <a:cs typeface="Calibri"/>
                <a:sym typeface="Calibri"/>
              </a:rPr>
              <a:t>No task-specific adaptation → may not capture local heat variations or building-level thermal behavior</a:t>
            </a:r>
            <a:endParaRPr b="0" i="0" sz="11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9CA3AF"/>
              </a:buClr>
              <a:buSzPts val="1100"/>
              <a:buFont typeface="Calibri"/>
              <a:buNone/>
            </a:pPr>
            <a:r>
              <a:rPr b="0" i="0" lang="en-US" sz="1100" u="none" cap="none" strike="noStrike">
                <a:solidFill>
                  <a:srgbClr val="9CA3AF"/>
                </a:solidFill>
                <a:latin typeface="Calibri"/>
                <a:ea typeface="Calibri"/>
                <a:cs typeface="Calibri"/>
                <a:sym typeface="Calibri"/>
              </a:rPr>
              <a:t>Limits the model’s ability to learn dynamic or context-specific features</a:t>
            </a:r>
            <a:endParaRPr b="0" i="0" sz="1100" u="none" cap="none" strike="noStrike">
              <a:solidFill>
                <a:schemeClr val="dk1"/>
              </a:solidFill>
              <a:latin typeface="Calibri"/>
              <a:ea typeface="Calibri"/>
              <a:cs typeface="Calibri"/>
              <a:sym typeface="Calibri"/>
            </a:endParaRPr>
          </a:p>
        </p:txBody>
      </p:sp>
      <p:sp>
        <p:nvSpPr>
          <p:cNvPr id="367" name="Google Shape;367;p20"/>
          <p:cNvSpPr/>
          <p:nvPr/>
        </p:nvSpPr>
        <p:spPr>
          <a:xfrm>
            <a:off x="457200" y="2560320"/>
            <a:ext cx="8229600" cy="1417200"/>
          </a:xfrm>
          <a:prstGeom prst="rect">
            <a:avLst/>
          </a:prstGeom>
          <a:solidFill>
            <a:srgbClr val="1F2937"/>
          </a:solidFill>
          <a:ln cap="flat" cmpd="sng" w="9525">
            <a:solidFill>
              <a:srgbClr val="374151"/>
            </a:solidFill>
            <a:prstDash val="solid"/>
            <a:round/>
            <a:headEnd len="sm" w="sm" type="none"/>
            <a:tailEnd len="sm" w="sm" type="none"/>
          </a:ln>
          <a:effectLst>
            <a:outerShdw blurRad="50800" rotWithShape="0" algn="bl" dir="8100000" dist="12700">
              <a:srgbClr val="000000">
                <a:alpha val="3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0"/>
          <p:cNvSpPr/>
          <p:nvPr/>
        </p:nvSpPr>
        <p:spPr>
          <a:xfrm>
            <a:off x="457200" y="2560320"/>
            <a:ext cx="63900" cy="141720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9" name="Google Shape;369;p20"/>
          <p:cNvPicPr preferRelativeResize="0"/>
          <p:nvPr/>
        </p:nvPicPr>
        <p:blipFill rotWithShape="1">
          <a:blip r:embed="rId4">
            <a:alphaModFix/>
          </a:blip>
          <a:srcRect b="0" l="0" r="0" t="0"/>
          <a:stretch/>
        </p:blipFill>
        <p:spPr>
          <a:xfrm>
            <a:off x="731520" y="2697480"/>
            <a:ext cx="365760" cy="365760"/>
          </a:xfrm>
          <a:prstGeom prst="rect">
            <a:avLst/>
          </a:prstGeom>
          <a:noFill/>
          <a:ln>
            <a:noFill/>
          </a:ln>
        </p:spPr>
      </p:pic>
      <p:sp>
        <p:nvSpPr>
          <p:cNvPr id="370" name="Google Shape;370;p20"/>
          <p:cNvSpPr/>
          <p:nvPr/>
        </p:nvSpPr>
        <p:spPr>
          <a:xfrm>
            <a:off x="1234440" y="2633472"/>
            <a:ext cx="7132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B923C"/>
              </a:buClr>
              <a:buSzPts val="1500"/>
              <a:buFont typeface="Calibri"/>
              <a:buNone/>
            </a:pPr>
            <a:r>
              <a:rPr b="1" i="0" lang="en-US" sz="1500" u="none" cap="none" strike="noStrike">
                <a:solidFill>
                  <a:srgbClr val="FB923C"/>
                </a:solidFill>
                <a:latin typeface="Calibri"/>
                <a:ea typeface="Calibri"/>
                <a:cs typeface="Calibri"/>
                <a:sym typeface="Calibri"/>
              </a:rPr>
              <a:t>5. Cross-Modal Learning Difficulty</a:t>
            </a:r>
            <a:endParaRPr b="0" i="0" sz="1500" u="none" cap="none" strike="noStrike">
              <a:solidFill>
                <a:schemeClr val="dk1"/>
              </a:solidFill>
              <a:latin typeface="Calibri"/>
              <a:ea typeface="Calibri"/>
              <a:cs typeface="Calibri"/>
              <a:sym typeface="Calibri"/>
            </a:endParaRPr>
          </a:p>
        </p:txBody>
      </p:sp>
      <p:sp>
        <p:nvSpPr>
          <p:cNvPr id="371" name="Google Shape;371;p20"/>
          <p:cNvSpPr/>
          <p:nvPr/>
        </p:nvSpPr>
        <p:spPr>
          <a:xfrm>
            <a:off x="1234440" y="3017520"/>
            <a:ext cx="7132200" cy="9144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9CA3AF"/>
              </a:buClr>
              <a:buSzPts val="1100"/>
              <a:buFont typeface="Calibri"/>
              <a:buNone/>
            </a:pPr>
            <a:r>
              <a:rPr b="0" i="0" lang="en-US" sz="1100" u="none" cap="none" strike="noStrike">
                <a:solidFill>
                  <a:srgbClr val="9CA3AF"/>
                </a:solidFill>
                <a:latin typeface="Calibri"/>
                <a:ea typeface="Calibri"/>
                <a:cs typeface="Calibri"/>
                <a:sym typeface="Calibri"/>
              </a:rPr>
              <a:t>RGB images do not directly contain thermal information — model must infer heat patterns from visual cues</a:t>
            </a:r>
            <a:endParaRPr b="0" i="0" sz="11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9CA3AF"/>
              </a:buClr>
              <a:buSzPts val="1100"/>
              <a:buFont typeface="Calibri"/>
              <a:buNone/>
            </a:pPr>
            <a:r>
              <a:rPr b="0" i="0" lang="en-US" sz="1100" u="none" cap="none" strike="noStrike">
                <a:solidFill>
                  <a:srgbClr val="9CA3AF"/>
                </a:solidFill>
                <a:latin typeface="Calibri"/>
                <a:ea typeface="Calibri"/>
                <a:cs typeface="Calibri"/>
                <a:sym typeface="Calibri"/>
              </a:rPr>
              <a:t>Inherently uncertain, leading to errors in material-based heat differences and hidden heat sources</a:t>
            </a:r>
            <a:endParaRPr b="0" i="0" sz="1100" u="none" cap="none" strike="noStrike">
              <a:solidFill>
                <a:schemeClr val="dk1"/>
              </a:solidFill>
              <a:latin typeface="Calibri"/>
              <a:ea typeface="Calibri"/>
              <a:cs typeface="Calibri"/>
              <a:sym typeface="Calibri"/>
            </a:endParaRPr>
          </a:p>
        </p:txBody>
      </p:sp>
      <p:sp>
        <p:nvSpPr>
          <p:cNvPr id="372" name="Google Shape;372;p20"/>
          <p:cNvSpPr/>
          <p:nvPr/>
        </p:nvSpPr>
        <p:spPr>
          <a:xfrm>
            <a:off x="731520" y="4160520"/>
            <a:ext cx="76809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B923C"/>
              </a:buClr>
              <a:buSzPts val="1200"/>
              <a:buFont typeface="Calibri"/>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